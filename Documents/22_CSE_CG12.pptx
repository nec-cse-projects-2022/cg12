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8" r:id="rId2"/>
    <p:sldId id="259" r:id="rId3"/>
    <p:sldId id="260" r:id="rId4"/>
    <p:sldId id="261" r:id="rId5"/>
    <p:sldId id="263" r:id="rId6"/>
    <p:sldId id="284" r:id="rId7"/>
    <p:sldId id="285" r:id="rId8"/>
    <p:sldId id="265" r:id="rId9"/>
    <p:sldId id="266" r:id="rId10"/>
    <p:sldId id="267" r:id="rId11"/>
    <p:sldId id="286" r:id="rId12"/>
    <p:sldId id="294" r:id="rId13"/>
    <p:sldId id="269" r:id="rId14"/>
    <p:sldId id="273" r:id="rId15"/>
    <p:sldId id="272" r:id="rId16"/>
    <p:sldId id="287" r:id="rId17"/>
    <p:sldId id="275" r:id="rId18"/>
    <p:sldId id="288" r:id="rId19"/>
    <p:sldId id="289" r:id="rId20"/>
    <p:sldId id="290" r:id="rId21"/>
    <p:sldId id="291" r:id="rId22"/>
    <p:sldId id="292" r:id="rId23"/>
    <p:sldId id="293" r:id="rId24"/>
    <p:sldId id="277" r:id="rId25"/>
    <p:sldId id="278" r:id="rId26"/>
    <p:sldId id="279" r:id="rId27"/>
    <p:sldId id="280" r:id="rId28"/>
    <p:sldId id="281"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CA7DF1-3014-7D48-C6D4-7B1FAE9A04C1}" v="3" dt="2025-11-09T16:06:39.9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60"/>
  </p:normalViewPr>
  <p:slideViewPr>
    <p:cSldViewPr snapToGrid="0">
      <p:cViewPr varScale="1">
        <p:scale>
          <a:sx n="78" d="100"/>
          <a:sy n="78" d="100"/>
        </p:scale>
        <p:origin x="629"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80D152-5116-4477-B784-4471F9DE729F}" type="datetimeFigureOut">
              <a:rPr lang="en-US" smtClean="0"/>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238B9E-7321-4CBF-88F3-8A86102C03FA}" type="slidenum">
              <a:rPr lang="en-US" smtClean="0"/>
              <a:t>‹#›</a:t>
            </a:fld>
            <a:endParaRPr lang="en-US"/>
          </a:p>
        </p:txBody>
      </p:sp>
    </p:spTree>
    <p:extLst>
      <p:ext uri="{BB962C8B-B14F-4D97-AF65-F5344CB8AC3E}">
        <p14:creationId xmlns:p14="http://schemas.microsoft.com/office/powerpoint/2010/main" val="2919327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8138035-145A-4A0C-86F0-D285E37A42D0}" type="datetime1">
              <a:rPr lang="en-US" smtClean="0"/>
              <a:t>12/5/2025</a:t>
            </a:fld>
            <a:endParaRPr lang="en-US"/>
          </a:p>
        </p:txBody>
      </p:sp>
      <p:sp>
        <p:nvSpPr>
          <p:cNvPr id="5" name="Footer Placeholder 4"/>
          <p:cNvSpPr>
            <a:spLocks noGrp="1"/>
          </p:cNvSpPr>
          <p:nvPr>
            <p:ph type="ftr" sz="quarter" idx="11"/>
          </p:nvPr>
        </p:nvSpPr>
        <p:spPr/>
        <p:txBody>
          <a:bodyPr/>
          <a:lstStyle/>
          <a:p>
            <a:r>
              <a:rPr lang="en-US"/>
              <a:t>Review No. 1     Batch No.         Department of CSE</a:t>
            </a:r>
          </a:p>
        </p:txBody>
      </p:sp>
      <p:sp>
        <p:nvSpPr>
          <p:cNvPr id="6" name="Slide Number Placeholder 5"/>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4144907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61DA768-724D-4A42-AAE7-4DDECD59825D}" type="datetime1">
              <a:rPr lang="en-US" smtClean="0"/>
              <a:t>12/5/2025</a:t>
            </a:fld>
            <a:endParaRPr lang="en-US"/>
          </a:p>
        </p:txBody>
      </p:sp>
      <p:sp>
        <p:nvSpPr>
          <p:cNvPr id="5" name="Footer Placeholder 4"/>
          <p:cNvSpPr>
            <a:spLocks noGrp="1"/>
          </p:cNvSpPr>
          <p:nvPr>
            <p:ph type="ftr" sz="quarter" idx="11"/>
          </p:nvPr>
        </p:nvSpPr>
        <p:spPr/>
        <p:txBody>
          <a:bodyPr/>
          <a:lstStyle/>
          <a:p>
            <a:r>
              <a:rPr lang="en-US"/>
              <a:t>Review No. 1     Batch No.         Department of CSE</a:t>
            </a:r>
          </a:p>
        </p:txBody>
      </p:sp>
      <p:sp>
        <p:nvSpPr>
          <p:cNvPr id="6" name="Slide Number Placeholder 5"/>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12596632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F41AB55-1BF4-4334-A3A7-A47004C7131F}" type="datetime1">
              <a:rPr lang="en-US" smtClean="0"/>
              <a:t>12/5/2025</a:t>
            </a:fld>
            <a:endParaRPr lang="en-US"/>
          </a:p>
        </p:txBody>
      </p:sp>
      <p:sp>
        <p:nvSpPr>
          <p:cNvPr id="5" name="Footer Placeholder 4"/>
          <p:cNvSpPr>
            <a:spLocks noGrp="1"/>
          </p:cNvSpPr>
          <p:nvPr>
            <p:ph type="ftr" sz="quarter" idx="11"/>
          </p:nvPr>
        </p:nvSpPr>
        <p:spPr/>
        <p:txBody>
          <a:bodyPr/>
          <a:lstStyle/>
          <a:p>
            <a:r>
              <a:rPr lang="en-US"/>
              <a:t>Review No. 1     Batch No.         Department of CSE</a:t>
            </a:r>
          </a:p>
        </p:txBody>
      </p:sp>
      <p:sp>
        <p:nvSpPr>
          <p:cNvPr id="6" name="Slide Number Placeholder 5"/>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23933433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0FA1F35-C0CF-48F1-B9A5-08714AA4C03A}" type="datetime1">
              <a:rPr lang="en-US" smtClean="0"/>
              <a:t>12/5/2025</a:t>
            </a:fld>
            <a:endParaRPr lang="en-US"/>
          </a:p>
        </p:txBody>
      </p:sp>
      <p:sp>
        <p:nvSpPr>
          <p:cNvPr id="6" name="Footer Placeholder 5"/>
          <p:cNvSpPr>
            <a:spLocks noGrp="1"/>
          </p:cNvSpPr>
          <p:nvPr>
            <p:ph type="ftr" sz="quarter" idx="11"/>
          </p:nvPr>
        </p:nvSpPr>
        <p:spPr/>
        <p:txBody>
          <a:bodyPr/>
          <a:lstStyle/>
          <a:p>
            <a:r>
              <a:rPr lang="en-US"/>
              <a:t>Review No. 1     Batch No.         Department of CSE</a:t>
            </a:r>
          </a:p>
        </p:txBody>
      </p:sp>
      <p:sp>
        <p:nvSpPr>
          <p:cNvPr id="7" name="Slide Number Placeholder 6"/>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3163128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FD82CC-33A8-4B44-A52E-AF2F550DAE9D}" type="datetime1">
              <a:rPr lang="en-US" smtClean="0"/>
              <a:t>12/5/2025</a:t>
            </a:fld>
            <a:endParaRPr lang="en-US"/>
          </a:p>
        </p:txBody>
      </p:sp>
      <p:sp>
        <p:nvSpPr>
          <p:cNvPr id="8" name="Footer Placeholder 7"/>
          <p:cNvSpPr>
            <a:spLocks noGrp="1"/>
          </p:cNvSpPr>
          <p:nvPr>
            <p:ph type="ftr" sz="quarter" idx="11"/>
          </p:nvPr>
        </p:nvSpPr>
        <p:spPr/>
        <p:txBody>
          <a:bodyPr/>
          <a:lstStyle/>
          <a:p>
            <a:r>
              <a:rPr lang="en-US"/>
              <a:t>Review No. 1     Batch No.         Department of CSE</a:t>
            </a:r>
          </a:p>
        </p:txBody>
      </p:sp>
      <p:sp>
        <p:nvSpPr>
          <p:cNvPr id="9" name="Slide Number Placeholder 8"/>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3366145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174F96C-05F8-425D-AC3C-8860C2E0854B}" type="datetime1">
              <a:rPr lang="en-US" smtClean="0"/>
              <a:t>12/5/2025</a:t>
            </a:fld>
            <a:endParaRPr lang="en-US"/>
          </a:p>
        </p:txBody>
      </p:sp>
      <p:sp>
        <p:nvSpPr>
          <p:cNvPr id="4" name="Footer Placeholder 3"/>
          <p:cNvSpPr>
            <a:spLocks noGrp="1"/>
          </p:cNvSpPr>
          <p:nvPr>
            <p:ph type="ftr" sz="quarter" idx="11"/>
          </p:nvPr>
        </p:nvSpPr>
        <p:spPr/>
        <p:txBody>
          <a:bodyPr/>
          <a:lstStyle/>
          <a:p>
            <a:r>
              <a:rPr lang="en-US"/>
              <a:t>Review No. 1     Batch No.         Department of CSE</a:t>
            </a:r>
          </a:p>
        </p:txBody>
      </p:sp>
      <p:sp>
        <p:nvSpPr>
          <p:cNvPr id="5" name="Slide Number Placeholder 4"/>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1822093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0816FE-A55E-4754-BFBC-303C94FAE3B3}" type="datetime1">
              <a:rPr lang="en-US" smtClean="0"/>
              <a:t>12/5/2025</a:t>
            </a:fld>
            <a:endParaRPr lang="en-US"/>
          </a:p>
        </p:txBody>
      </p:sp>
      <p:sp>
        <p:nvSpPr>
          <p:cNvPr id="3" name="Footer Placeholder 2"/>
          <p:cNvSpPr>
            <a:spLocks noGrp="1"/>
          </p:cNvSpPr>
          <p:nvPr>
            <p:ph type="ftr" sz="quarter" idx="11"/>
          </p:nvPr>
        </p:nvSpPr>
        <p:spPr/>
        <p:txBody>
          <a:bodyPr/>
          <a:lstStyle/>
          <a:p>
            <a:r>
              <a:rPr lang="en-US"/>
              <a:t>Review No. 1     Batch No.         Department of CSE</a:t>
            </a:r>
          </a:p>
        </p:txBody>
      </p:sp>
      <p:sp>
        <p:nvSpPr>
          <p:cNvPr id="4" name="Slide Number Placeholder 3"/>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3846719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98C7AE8-1ABC-4FB5-B8B6-D8996BE89E2D}" type="datetime1">
              <a:rPr lang="en-US" smtClean="0"/>
              <a:t>12/5/2025</a:t>
            </a:fld>
            <a:endParaRPr lang="en-US"/>
          </a:p>
        </p:txBody>
      </p:sp>
      <p:sp>
        <p:nvSpPr>
          <p:cNvPr id="6" name="Footer Placeholder 5"/>
          <p:cNvSpPr>
            <a:spLocks noGrp="1"/>
          </p:cNvSpPr>
          <p:nvPr>
            <p:ph type="ftr" sz="quarter" idx="11"/>
          </p:nvPr>
        </p:nvSpPr>
        <p:spPr/>
        <p:txBody>
          <a:bodyPr/>
          <a:lstStyle/>
          <a:p>
            <a:r>
              <a:rPr lang="en-US"/>
              <a:t>Review No. 1     Batch No.         Department of CSE</a:t>
            </a:r>
          </a:p>
        </p:txBody>
      </p:sp>
      <p:sp>
        <p:nvSpPr>
          <p:cNvPr id="7" name="Slide Number Placeholder 6"/>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2823023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AD66C21-BDE5-400C-AFB4-57BF5F709868}" type="datetime1">
              <a:rPr lang="en-US" smtClean="0"/>
              <a:t>12/5/2025</a:t>
            </a:fld>
            <a:endParaRPr lang="en-US"/>
          </a:p>
        </p:txBody>
      </p:sp>
      <p:sp>
        <p:nvSpPr>
          <p:cNvPr id="6" name="Footer Placeholder 5"/>
          <p:cNvSpPr>
            <a:spLocks noGrp="1"/>
          </p:cNvSpPr>
          <p:nvPr>
            <p:ph type="ftr" sz="quarter" idx="11"/>
          </p:nvPr>
        </p:nvSpPr>
        <p:spPr/>
        <p:txBody>
          <a:bodyPr/>
          <a:lstStyle/>
          <a:p>
            <a:r>
              <a:rPr lang="en-US"/>
              <a:t>Review No. 1     Batch No.         Department of CSE</a:t>
            </a:r>
          </a:p>
        </p:txBody>
      </p:sp>
      <p:sp>
        <p:nvSpPr>
          <p:cNvPr id="7" name="Slide Number Placeholder 6"/>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419644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1C1D91-F38A-4012-8553-ABD611013E02}" type="datetime1">
              <a:rPr lang="en-US" smtClean="0"/>
              <a:t>12/5/2025</a:t>
            </a:fld>
            <a:endParaRPr lang="en-US"/>
          </a:p>
        </p:txBody>
      </p:sp>
      <p:sp>
        <p:nvSpPr>
          <p:cNvPr id="5" name="Footer Placeholder 4"/>
          <p:cNvSpPr>
            <a:spLocks noGrp="1"/>
          </p:cNvSpPr>
          <p:nvPr>
            <p:ph type="ftr" sz="quarter" idx="11"/>
          </p:nvPr>
        </p:nvSpPr>
        <p:spPr/>
        <p:txBody>
          <a:bodyPr/>
          <a:lstStyle/>
          <a:p>
            <a:r>
              <a:rPr lang="en-US"/>
              <a:t>Review No. 1     Batch No.         Department of CSE</a:t>
            </a:r>
          </a:p>
        </p:txBody>
      </p:sp>
      <p:sp>
        <p:nvSpPr>
          <p:cNvPr id="6" name="Slide Number Placeholder 5"/>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1550195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AF18A7-D4A3-4906-8822-4CFF9BBC1522}" type="datetime1">
              <a:rPr lang="en-US" smtClean="0"/>
              <a:t>12/5/2025</a:t>
            </a:fld>
            <a:endParaRPr lang="en-US"/>
          </a:p>
        </p:txBody>
      </p:sp>
      <p:sp>
        <p:nvSpPr>
          <p:cNvPr id="5" name="Footer Placeholder 4"/>
          <p:cNvSpPr>
            <a:spLocks noGrp="1"/>
          </p:cNvSpPr>
          <p:nvPr>
            <p:ph type="ftr" sz="quarter" idx="11"/>
          </p:nvPr>
        </p:nvSpPr>
        <p:spPr/>
        <p:txBody>
          <a:bodyPr/>
          <a:lstStyle/>
          <a:p>
            <a:r>
              <a:rPr lang="en-US"/>
              <a:t>Review No. 1     Batch No.         Department of CSE</a:t>
            </a:r>
          </a:p>
        </p:txBody>
      </p:sp>
      <p:sp>
        <p:nvSpPr>
          <p:cNvPr id="6" name="Slide Number Placeholder 5"/>
          <p:cNvSpPr>
            <a:spLocks noGrp="1"/>
          </p:cNvSpPr>
          <p:nvPr>
            <p:ph type="sldNum" sz="quarter" idx="12"/>
          </p:nvPr>
        </p:nvSpPr>
        <p:spPr/>
        <p:txBody>
          <a:bodyPr/>
          <a:lstStyle/>
          <a:p>
            <a:fld id="{FFEC67FC-8107-4C00-9415-4D1567E899B9}" type="slidenum">
              <a:rPr lang="en-US" smtClean="0"/>
              <a:t>‹#›</a:t>
            </a:fld>
            <a:endParaRPr lang="en-US"/>
          </a:p>
        </p:txBody>
      </p:sp>
    </p:spTree>
    <p:extLst>
      <p:ext uri="{BB962C8B-B14F-4D97-AF65-F5344CB8AC3E}">
        <p14:creationId xmlns:p14="http://schemas.microsoft.com/office/powerpoint/2010/main" val="1283780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67136F-636C-44FA-88B4-5A5CF3FA0662}" type="datetime1">
              <a:rPr lang="en-US" smtClean="0"/>
              <a:t>12/5/2025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No. 1     Batch No.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EC67FC-8107-4C00-9415-4D1567E899B9}" type="slidenum">
              <a:rPr lang="en-US" smtClean="0"/>
              <a:t>‹#›</a:t>
            </a:fld>
            <a:endParaRPr lang="en-US"/>
          </a:p>
        </p:txBody>
      </p:sp>
    </p:spTree>
    <p:extLst>
      <p:ext uri="{BB962C8B-B14F-4D97-AF65-F5344CB8AC3E}">
        <p14:creationId xmlns:p14="http://schemas.microsoft.com/office/powerpoint/2010/main" val="2719251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6493"/>
            <a:ext cx="10515600" cy="732327"/>
          </a:xfrm>
        </p:spPr>
        <p:txBody>
          <a:bodyPr>
            <a:normAutofit/>
          </a:bodyPr>
          <a:lstStyle/>
          <a:p>
            <a:pPr algn="ctr"/>
            <a:r>
              <a:rPr lang="en-US" sz="2800" b="1">
                <a:solidFill>
                  <a:srgbClr val="00B050"/>
                </a:solidFill>
                <a:latin typeface="Times New Roman" panose="02020603050405020304" pitchFamily="18" charset="0"/>
                <a:cs typeface="Times New Roman" panose="02020603050405020304" pitchFamily="18" charset="0"/>
              </a:rPr>
              <a:t>Department of Computer Science Engineering</a:t>
            </a:r>
          </a:p>
        </p:txBody>
      </p:sp>
      <p:sp>
        <p:nvSpPr>
          <p:cNvPr id="3" name="Content Placeholder 2"/>
          <p:cNvSpPr>
            <a:spLocks noGrp="1"/>
          </p:cNvSpPr>
          <p:nvPr>
            <p:ph idx="1"/>
          </p:nvPr>
        </p:nvSpPr>
        <p:spPr>
          <a:xfrm>
            <a:off x="1005254" y="1509102"/>
            <a:ext cx="10515600" cy="4777398"/>
          </a:xfrm>
        </p:spPr>
        <p:txBody>
          <a:bodyPr vert="horz" lIns="91440" tIns="45720" rIns="91440" bIns="45720" rtlCol="0" anchor="t">
            <a:normAutofit fontScale="85000" lnSpcReduction="20000"/>
          </a:bodyPr>
          <a:lstStyle/>
          <a:p>
            <a:pPr marL="0" indent="0" algn="ctr">
              <a:buNone/>
            </a:pPr>
            <a:r>
              <a:rPr lang="en-US" sz="2000" b="1" dirty="0">
                <a:solidFill>
                  <a:srgbClr val="FF0000"/>
                </a:solidFill>
                <a:latin typeface="Times New Roman" panose="02020603050405020304" pitchFamily="18" charset="0"/>
                <a:ea typeface="Verdana" panose="020B0604030504040204" pitchFamily="34" charset="0"/>
                <a:cs typeface="Times New Roman" panose="02020603050405020304" pitchFamily="18" charset="0"/>
              </a:rPr>
              <a:t>      Title :</a:t>
            </a:r>
            <a:r>
              <a:rPr lang="en-US" dirty="0">
                <a:solidFill>
                  <a:srgbClr val="FF0000"/>
                </a:solidFill>
              </a:rPr>
              <a:t>Cross-Climate Flood Prediction:</a:t>
            </a:r>
            <a:endParaRPr lang="en-IN" dirty="0">
              <a:solidFill>
                <a:srgbClr val="FF0000"/>
              </a:solidFill>
            </a:endParaRPr>
          </a:p>
          <a:p>
            <a:pPr marL="0" indent="0" algn="ctr">
              <a:buNone/>
            </a:pPr>
            <a:r>
              <a:rPr lang="en-US" dirty="0">
                <a:solidFill>
                  <a:srgbClr val="FF0000"/>
                </a:solidFill>
              </a:rPr>
              <a:t>A Multi-Regional Deep Learning Approach to Hydrological Diversity</a:t>
            </a:r>
            <a:endParaRPr lang="en-IN" dirty="0">
              <a:solidFill>
                <a:srgbClr val="FF0000"/>
              </a:solidFill>
            </a:endParaRPr>
          </a:p>
          <a:p>
            <a:pPr marL="0" indent="0" algn="ctr">
              <a:buNone/>
            </a:pPr>
            <a:endParaRPr lang="en-US" sz="2000" dirty="0">
              <a:solidFill>
                <a:srgbClr val="FF0000"/>
              </a:solidFill>
              <a:latin typeface="Times New Roman" panose="02020603050405020304" pitchFamily="18" charset="0"/>
              <a:ea typeface="Verdana" panose="020B0604030504040204" pitchFamily="34" charset="0"/>
              <a:cs typeface="Times New Roman" panose="02020603050405020304" pitchFamily="18" charset="0"/>
            </a:endParaRPr>
          </a:p>
          <a:p>
            <a:pPr marL="0" indent="0" algn="ctr">
              <a:buNone/>
            </a:pPr>
            <a:r>
              <a:rPr lang="en-US" sz="2000" dirty="0">
                <a:latin typeface="Times New Roman" panose="02020603050405020304" pitchFamily="18" charset="0"/>
                <a:ea typeface="Verdana" panose="020B0604030504040204" pitchFamily="34" charset="0"/>
                <a:cs typeface="Times New Roman" panose="02020603050405020304" pitchFamily="18" charset="0"/>
              </a:rPr>
              <a:t>PRESENTED BY</a:t>
            </a:r>
          </a:p>
          <a:p>
            <a:pPr marL="0" indent="0">
              <a:buNone/>
            </a:pPr>
            <a:r>
              <a:rPr lang="en-US" sz="2000" dirty="0">
                <a:solidFill>
                  <a:schemeClr val="tx1">
                    <a:lumMod val="75000"/>
                    <a:lumOff val="25000"/>
                  </a:schemeClr>
                </a:solidFill>
                <a:latin typeface="Times New Roman" panose="02020603050405020304" pitchFamily="18" charset="0"/>
                <a:ea typeface="Verdana" panose="020B0604030504040204" pitchFamily="34" charset="0"/>
                <a:cs typeface="Times New Roman" panose="02020603050405020304" pitchFamily="18" charset="0"/>
              </a:rPr>
              <a:t>                                           </a:t>
            </a:r>
            <a:endParaRPr lang="en-US" sz="1800" dirty="0">
              <a:solidFill>
                <a:schemeClr val="tx1">
                  <a:lumMod val="75000"/>
                  <a:lumOff val="25000"/>
                </a:schemeClr>
              </a:solidFill>
              <a:latin typeface="Times New Roman" panose="02020603050405020304" pitchFamily="18" charset="0"/>
              <a:ea typeface="Verdana" panose="020B0604030504040204" pitchFamily="34" charset="0"/>
              <a:cs typeface="Times New Roman" panose="02020603050405020304" pitchFamily="18" charset="0"/>
            </a:endParaRPr>
          </a:p>
          <a:p>
            <a:pPr marL="0" indent="0">
              <a:buNone/>
            </a:pPr>
            <a:r>
              <a:rPr lang="en-US" sz="1800" dirty="0">
                <a:solidFill>
                  <a:schemeClr val="tx1">
                    <a:lumMod val="75000"/>
                    <a:lumOff val="25000"/>
                  </a:schemeClr>
                </a:solidFill>
                <a:latin typeface="Times New Roman" panose="02020603050405020304" pitchFamily="18" charset="0"/>
                <a:ea typeface="Verdana" panose="020B0604030504040204" pitchFamily="34" charset="0"/>
                <a:cs typeface="Times New Roman" panose="02020603050405020304" pitchFamily="18" charset="0"/>
              </a:rPr>
              <a:t>		                 Amireddy Navya		   (22471A05E4) </a:t>
            </a:r>
          </a:p>
          <a:p>
            <a:pPr marL="0" indent="0">
              <a:buNone/>
            </a:pPr>
            <a:r>
              <a:rPr lang="en-US" sz="1800" dirty="0">
                <a:solidFill>
                  <a:schemeClr val="tx1">
                    <a:lumMod val="75000"/>
                    <a:lumOff val="25000"/>
                  </a:schemeClr>
                </a:solidFill>
                <a:latin typeface="Times New Roman" panose="02020603050405020304" pitchFamily="18" charset="0"/>
                <a:ea typeface="Verdana" panose="020B0604030504040204" pitchFamily="34" charset="0"/>
                <a:cs typeface="Times New Roman" panose="02020603050405020304" pitchFamily="18" charset="0"/>
              </a:rPr>
              <a:t>		                 Attuluri Pavana Prudula Sri                   (22471A05E5)</a:t>
            </a:r>
          </a:p>
          <a:p>
            <a:pPr marL="0" indent="0">
              <a:buNone/>
            </a:pPr>
            <a:r>
              <a:rPr lang="en-US" sz="1800" dirty="0">
                <a:solidFill>
                  <a:schemeClr val="tx1">
                    <a:lumMod val="75000"/>
                    <a:lumOff val="25000"/>
                  </a:schemeClr>
                </a:solidFill>
                <a:latin typeface="Times New Roman" panose="02020603050405020304" pitchFamily="18" charset="0"/>
                <a:cs typeface="Times New Roman" panose="02020603050405020304" pitchFamily="18" charset="0"/>
              </a:rPr>
              <a:t>		                 Kadapa Gandhi Kumari	                       (22471A05G0)</a:t>
            </a:r>
          </a:p>
          <a:p>
            <a:pPr marL="0" indent="0">
              <a:buNone/>
            </a:pPr>
            <a:r>
              <a:rPr lang="en-US" sz="1800" dirty="0">
                <a:solidFill>
                  <a:schemeClr val="tx1">
                    <a:lumMod val="75000"/>
                    <a:lumOff val="25000"/>
                  </a:schemeClr>
                </a:solidFill>
                <a:latin typeface="Times New Roman" panose="02020603050405020304" pitchFamily="18" charset="0"/>
                <a:cs typeface="Times New Roman" panose="02020603050405020304" pitchFamily="18" charset="0"/>
              </a:rPr>
              <a:t> </a:t>
            </a:r>
          </a:p>
          <a:p>
            <a:pPr marL="0" indent="0">
              <a:buNone/>
            </a:pPr>
            <a:r>
              <a:rPr lang="en-US" sz="1800" dirty="0">
                <a:solidFill>
                  <a:schemeClr val="tx1">
                    <a:lumMod val="75000"/>
                    <a:lumOff val="25000"/>
                  </a:schemeClr>
                </a:solidFill>
                <a:latin typeface="Times New Roman" panose="02020603050405020304" pitchFamily="18" charset="0"/>
                <a:cs typeface="Times New Roman" panose="02020603050405020304" pitchFamily="18" charset="0"/>
              </a:rPr>
              <a:t>                                                                               Under the Guidance of,</a:t>
            </a:r>
          </a:p>
          <a:p>
            <a:pPr marL="0" indent="0">
              <a:buNone/>
            </a:pPr>
            <a:r>
              <a:rPr lang="en-US" sz="1800" dirty="0">
                <a:latin typeface="Times New Roman"/>
                <a:cs typeface="Times New Roman"/>
              </a:rPr>
              <a:t>                                                        	                    Dr. </a:t>
            </a:r>
            <a:r>
              <a:rPr lang="en-IN" altLang="en-US" sz="1800" dirty="0"/>
              <a:t>Rama Krishna Eluri</a:t>
            </a:r>
            <a:r>
              <a:rPr lang="en-US" sz="1800" dirty="0">
                <a:latin typeface="Times New Roman"/>
                <a:cs typeface="Times New Roman"/>
              </a:rPr>
              <a:t>,</a:t>
            </a:r>
            <a:r>
              <a:rPr lang="en-US" sz="1200" dirty="0">
                <a:latin typeface="Times New Roman"/>
                <a:cs typeface="Times New Roman"/>
              </a:rPr>
              <a:t>M.Tech.,</a:t>
            </a:r>
            <a:r>
              <a:rPr lang="en-US" sz="1200" dirty="0" err="1">
                <a:latin typeface="Times New Roman"/>
                <a:cs typeface="Times New Roman"/>
              </a:rPr>
              <a:t>Ph.D</a:t>
            </a:r>
            <a:r>
              <a:rPr lang="en-US" sz="1200" dirty="0">
                <a:latin typeface="Times New Roman"/>
                <a:cs typeface="Times New Roman"/>
              </a:rPr>
              <a:t>.</a:t>
            </a:r>
          </a:p>
          <a:p>
            <a:pPr marL="0" indent="0">
              <a:buNone/>
            </a:pPr>
            <a:r>
              <a:rPr lang="en-US" sz="1800" dirty="0">
                <a:latin typeface="Times New Roman" panose="02020603050405020304" pitchFamily="18" charset="0"/>
                <a:cs typeface="Times New Roman" panose="02020603050405020304" pitchFamily="18" charset="0"/>
              </a:rPr>
              <a:t>                                                                                 Associate Professor,</a:t>
            </a:r>
          </a:p>
          <a:p>
            <a:pPr marL="0" indent="0">
              <a:buNone/>
            </a:pPr>
            <a:r>
              <a:rPr lang="en-US" sz="1800" dirty="0"/>
              <a:t>                                                              </a:t>
            </a:r>
            <a:r>
              <a:rPr lang="en-US" sz="1800" dirty="0">
                <a:latin typeface="Times New Roman" panose="02020603050405020304" pitchFamily="18" charset="0"/>
                <a:cs typeface="Times New Roman" panose="02020603050405020304" pitchFamily="18" charset="0"/>
              </a:rPr>
              <a:t>Department of Computer Science and Engineering,</a:t>
            </a:r>
          </a:p>
          <a:p>
            <a:pPr marL="0" indent="0">
              <a:buNone/>
            </a:pPr>
            <a:r>
              <a:rPr lang="en-US" sz="1800" dirty="0">
                <a:latin typeface="Times New Roman" panose="02020603050405020304" pitchFamily="18" charset="0"/>
                <a:cs typeface="Times New Roman" panose="02020603050405020304" pitchFamily="18" charset="0"/>
              </a:rPr>
              <a:t>                                                       Narasaraopeta Engineering College (Autonomous),</a:t>
            </a:r>
          </a:p>
          <a:p>
            <a:pPr marL="0" indent="0">
              <a:buNone/>
            </a:pPr>
            <a:r>
              <a:rPr lang="en-US" sz="1800" dirty="0">
                <a:latin typeface="Times New Roman"/>
                <a:cs typeface="Times New Roman"/>
              </a:rPr>
              <a:t>                                                                                 Narasaraopet- 522601.</a:t>
            </a:r>
          </a:p>
          <a:p>
            <a:pPr marL="0" indent="0">
              <a:buNone/>
            </a:pPr>
            <a:endParaRPr lang="en-US" sz="18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indent="0">
              <a:buNone/>
            </a:pPr>
            <a:endParaRPr lang="en-US" sz="1800" dirty="0">
              <a:solidFill>
                <a:schemeClr val="tx1">
                  <a:lumMod val="75000"/>
                  <a:lumOff val="25000"/>
                </a:schemeClr>
              </a:solidFill>
              <a:latin typeface="Times New Roman" panose="02020603050405020304" pitchFamily="18" charset="0"/>
              <a:cs typeface="Times New Roman" panose="02020603050405020304" pitchFamily="18" charset="0"/>
            </a:endParaRPr>
          </a:p>
          <a:p>
            <a:pPr marL="0" indent="0">
              <a:buNone/>
            </a:pPr>
            <a:endParaRPr lang="en-US" sz="1800" dirty="0">
              <a:latin typeface="Times New Roman" panose="02020603050405020304" pitchFamily="18" charset="0"/>
              <a:ea typeface="Verdana" panose="020B0604030504040204" pitchFamily="34" charset="0"/>
              <a:cs typeface="Times New Roman" panose="02020603050405020304" pitchFamily="18" charset="0"/>
            </a:endParaRPr>
          </a:p>
          <a:p>
            <a:pPr marL="0" indent="0" algn="ctr">
              <a:buNone/>
            </a:pPr>
            <a:endParaRPr lang="en-US" sz="1800" dirty="0">
              <a:solidFill>
                <a:schemeClr val="accent5">
                  <a:lumMod val="60000"/>
                  <a:lumOff val="40000"/>
                </a:schemeClr>
              </a:solidFill>
              <a:latin typeface="Times New Roman" panose="02020603050405020304" pitchFamily="18" charset="0"/>
              <a:ea typeface="Verdana" panose="020B0604030504040204" pitchFamily="34"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4677428" cy="671805"/>
          </a:xfrm>
          <a:prstGeom prst="rect">
            <a:avLst/>
          </a:prstGeom>
        </p:spPr>
      </p:pic>
      <p:sp>
        <p:nvSpPr>
          <p:cNvPr id="5" name="Date Placeholder 4"/>
          <p:cNvSpPr>
            <a:spLocks noGrp="1"/>
          </p:cNvSpPr>
          <p:nvPr>
            <p:ph type="dt" sz="half" idx="10"/>
          </p:nvPr>
        </p:nvSpPr>
        <p:spPr/>
        <p:txBody>
          <a:bodyPr/>
          <a:lstStyle/>
          <a:p>
            <a:r>
              <a:rPr lang="en-US" dirty="0"/>
              <a:t>10/11/25</a:t>
            </a:r>
          </a:p>
        </p:txBody>
      </p:sp>
      <p:sp>
        <p:nvSpPr>
          <p:cNvPr id="6" name="Footer Placeholder 5"/>
          <p:cNvSpPr>
            <a:spLocks noGrp="1"/>
          </p:cNvSpPr>
          <p:nvPr>
            <p:ph type="ftr" sz="quarter" idx="11"/>
          </p:nvPr>
        </p:nvSpPr>
        <p:spPr/>
        <p:txBody>
          <a:bodyPr/>
          <a:lstStyle/>
          <a:p>
            <a:r>
              <a:rPr lang="en-US" dirty="0"/>
              <a:t>Review No. 1     Batch No.CG12         Department of CSE</a:t>
            </a:r>
          </a:p>
        </p:txBody>
      </p:sp>
      <p:sp>
        <p:nvSpPr>
          <p:cNvPr id="7" name="Slide Number Placeholder 6"/>
          <p:cNvSpPr>
            <a:spLocks noGrp="1"/>
          </p:cNvSpPr>
          <p:nvPr>
            <p:ph type="sldNum" sz="quarter" idx="12"/>
          </p:nvPr>
        </p:nvSpPr>
        <p:spPr/>
        <p:txBody>
          <a:bodyPr/>
          <a:lstStyle/>
          <a:p>
            <a:fld id="{FFEC67FC-8107-4C00-9415-4D1567E899B9}" type="slidenum">
              <a:rPr lang="en-US" smtClean="0"/>
              <a:t>1</a:t>
            </a:fld>
            <a:endParaRPr lang="en-US"/>
          </a:p>
        </p:txBody>
      </p:sp>
    </p:spTree>
    <p:extLst>
      <p:ext uri="{BB962C8B-B14F-4D97-AF65-F5344CB8AC3E}">
        <p14:creationId xmlns:p14="http://schemas.microsoft.com/office/powerpoint/2010/main" val="665018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a:latin typeface="Times New Roman" panose="02020603050405020304" pitchFamily="18" charset="0"/>
                <a:cs typeface="Times New Roman" panose="02020603050405020304" pitchFamily="18" charset="0"/>
              </a:rPr>
              <a:t>OUTLINE</a:t>
            </a:r>
          </a:p>
        </p:txBody>
      </p:sp>
      <p:sp>
        <p:nvSpPr>
          <p:cNvPr id="3" name="Content Placeholder 2"/>
          <p:cNvSpPr>
            <a:spLocks noGrp="1"/>
          </p:cNvSpPr>
          <p:nvPr>
            <p:ph idx="1"/>
          </p:nvPr>
        </p:nvSpPr>
        <p:spPr>
          <a:xfrm>
            <a:off x="838200" y="1386010"/>
            <a:ext cx="10515600" cy="4351338"/>
          </a:xfrm>
        </p:spPr>
        <p:txBody>
          <a:bodyPr>
            <a:normAutofit fontScale="92500" lnSpcReduction="20000"/>
          </a:bodyPr>
          <a:lstStyle/>
          <a:p>
            <a:r>
              <a:rPr lang="en-US" sz="1800" dirty="0">
                <a:latin typeface="Times New Roman" panose="02020603050405020304" pitchFamily="18" charset="0"/>
                <a:cs typeface="Times New Roman" panose="02020603050405020304" pitchFamily="18" charset="0"/>
              </a:rPr>
              <a:t>Abstract</a:t>
            </a:r>
          </a:p>
          <a:p>
            <a:r>
              <a:rPr lang="en-US" sz="1800" dirty="0">
                <a:latin typeface="Times New Roman" panose="02020603050405020304" pitchFamily="18" charset="0"/>
                <a:cs typeface="Times New Roman" panose="02020603050405020304" pitchFamily="18" charset="0"/>
              </a:rPr>
              <a:t>Introduction</a:t>
            </a:r>
          </a:p>
          <a:p>
            <a:r>
              <a:rPr lang="en-US" sz="1800" dirty="0">
                <a:latin typeface="Times New Roman" panose="02020603050405020304" pitchFamily="18" charset="0"/>
                <a:cs typeface="Times New Roman" panose="02020603050405020304" pitchFamily="18" charset="0"/>
              </a:rPr>
              <a:t>Literature Survey</a:t>
            </a:r>
          </a:p>
          <a:p>
            <a:r>
              <a:rPr lang="en-US" sz="1800" dirty="0">
                <a:latin typeface="Times New Roman" panose="02020603050405020304" pitchFamily="18" charset="0"/>
                <a:cs typeface="Times New Roman" panose="02020603050405020304" pitchFamily="18" charset="0"/>
              </a:rPr>
              <a:t>Research Gaps</a:t>
            </a:r>
          </a:p>
          <a:p>
            <a:r>
              <a:rPr lang="en-US" sz="1800" dirty="0">
                <a:latin typeface="Times New Roman" panose="02020603050405020304" pitchFamily="18" charset="0"/>
                <a:cs typeface="Times New Roman" panose="02020603050405020304" pitchFamily="18" charset="0"/>
              </a:rPr>
              <a:t>Problem Statement</a:t>
            </a:r>
          </a:p>
          <a:p>
            <a:r>
              <a:rPr lang="en-US" sz="1800" dirty="0">
                <a:latin typeface="Times New Roman" panose="02020603050405020304" pitchFamily="18" charset="0"/>
                <a:cs typeface="Times New Roman" panose="02020603050405020304" pitchFamily="18" charset="0"/>
              </a:rPr>
              <a:t>Objectives </a:t>
            </a:r>
          </a:p>
          <a:p>
            <a:r>
              <a:rPr lang="en-US" sz="1800" dirty="0">
                <a:latin typeface="Times New Roman" panose="02020603050405020304" pitchFamily="18" charset="0"/>
                <a:cs typeface="Times New Roman" panose="02020603050405020304" pitchFamily="18" charset="0"/>
              </a:rPr>
              <a:t>Flow Chart</a:t>
            </a:r>
          </a:p>
          <a:p>
            <a:r>
              <a:rPr lang="en-US" sz="1800" dirty="0">
                <a:latin typeface="Times New Roman" panose="02020603050405020304" pitchFamily="18" charset="0"/>
                <a:cs typeface="Times New Roman" panose="02020603050405020304" pitchFamily="18" charset="0"/>
              </a:rPr>
              <a:t>Methodology</a:t>
            </a:r>
          </a:p>
          <a:p>
            <a:r>
              <a:rPr lang="en-US" sz="1800" dirty="0">
                <a:latin typeface="Times New Roman" panose="02020603050405020304" pitchFamily="18" charset="0"/>
                <a:cs typeface="Times New Roman" panose="02020603050405020304" pitchFamily="18" charset="0"/>
              </a:rPr>
              <a:t>Implementation</a:t>
            </a:r>
          </a:p>
          <a:p>
            <a:r>
              <a:rPr lang="en-US" sz="1800" dirty="0">
                <a:latin typeface="Times New Roman" panose="02020603050405020304" pitchFamily="18" charset="0"/>
                <a:cs typeface="Times New Roman" panose="02020603050405020304" pitchFamily="18" charset="0"/>
              </a:rPr>
              <a:t>Results &amp; Analysis</a:t>
            </a:r>
          </a:p>
          <a:p>
            <a:r>
              <a:rPr lang="en-US" sz="1800" dirty="0">
                <a:latin typeface="Times New Roman" panose="02020603050405020304" pitchFamily="18" charset="0"/>
                <a:cs typeface="Times New Roman" panose="02020603050405020304" pitchFamily="18" charset="0"/>
              </a:rPr>
              <a:t>Conclusion &amp; Future Scope</a:t>
            </a:r>
          </a:p>
          <a:p>
            <a:r>
              <a:rPr lang="en-US" sz="1800" dirty="0">
                <a:latin typeface="Times New Roman" panose="02020603050405020304" pitchFamily="18" charset="0"/>
                <a:cs typeface="Times New Roman" panose="02020603050405020304" pitchFamily="18" charset="0"/>
              </a:rPr>
              <a:t>References</a:t>
            </a:r>
          </a:p>
          <a:p>
            <a:r>
              <a:rPr lang="en-US" sz="1800" dirty="0">
                <a:latin typeface="Times New Roman" panose="02020603050405020304" pitchFamily="18" charset="0"/>
                <a:cs typeface="Times New Roman" panose="02020603050405020304" pitchFamily="18" charset="0"/>
              </a:rPr>
              <a:t>Question and Answers</a:t>
            </a:r>
          </a:p>
          <a:p>
            <a:r>
              <a:rPr lang="en-US" sz="1800" dirty="0">
                <a:latin typeface="Times New Roman" panose="02020603050405020304" pitchFamily="18" charset="0"/>
                <a:cs typeface="Times New Roman" panose="02020603050405020304" pitchFamily="18" charset="0"/>
              </a:rPr>
              <a:t>Acknowledgements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352"/>
            <a:ext cx="4677428" cy="713817"/>
          </a:xfrm>
          <a:prstGeom prst="rect">
            <a:avLst/>
          </a:prstGeom>
        </p:spPr>
      </p:pic>
      <p:sp>
        <p:nvSpPr>
          <p:cNvPr id="5" name="Date Placeholder 4"/>
          <p:cNvSpPr>
            <a:spLocks noGrp="1"/>
          </p:cNvSpPr>
          <p:nvPr>
            <p:ph type="dt" sz="half" idx="10"/>
          </p:nvPr>
        </p:nvSpPr>
        <p:spPr/>
        <p:txBody>
          <a:bodyPr/>
          <a:lstStyle/>
          <a:p>
            <a:r>
              <a:rPr lang="en-US" dirty="0"/>
              <a:t>10/11/25</a:t>
            </a:r>
          </a:p>
        </p:txBody>
      </p:sp>
      <p:sp>
        <p:nvSpPr>
          <p:cNvPr id="6" name="Footer Placeholder 5"/>
          <p:cNvSpPr>
            <a:spLocks noGrp="1"/>
          </p:cNvSpPr>
          <p:nvPr>
            <p:ph type="ftr" sz="quarter" idx="11"/>
          </p:nvPr>
        </p:nvSpPr>
        <p:spPr/>
        <p:txBody>
          <a:bodyPr/>
          <a:lstStyle/>
          <a:p>
            <a:r>
              <a:rPr lang="en-US" dirty="0"/>
              <a:t>Review No. 1     Batch No.CG12         Department of CSE</a:t>
            </a:r>
          </a:p>
        </p:txBody>
      </p:sp>
      <p:sp>
        <p:nvSpPr>
          <p:cNvPr id="7" name="Slide Number Placeholder 6"/>
          <p:cNvSpPr>
            <a:spLocks noGrp="1"/>
          </p:cNvSpPr>
          <p:nvPr>
            <p:ph type="sldNum" sz="quarter" idx="12"/>
          </p:nvPr>
        </p:nvSpPr>
        <p:spPr/>
        <p:txBody>
          <a:bodyPr/>
          <a:lstStyle/>
          <a:p>
            <a:fld id="{FFEC67FC-8107-4C00-9415-4D1567E899B9}" type="slidenum">
              <a:rPr lang="en-US" smtClean="0"/>
              <a:t>2</a:t>
            </a:fld>
            <a:endParaRPr lang="en-US"/>
          </a:p>
        </p:txBody>
      </p:sp>
    </p:spTree>
    <p:extLst>
      <p:ext uri="{BB962C8B-B14F-4D97-AF65-F5344CB8AC3E}">
        <p14:creationId xmlns:p14="http://schemas.microsoft.com/office/powerpoint/2010/main" val="21539399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a:latin typeface="Times New Roman" panose="02020603050405020304" pitchFamily="18" charset="0"/>
                <a:cs typeface="Times New Roman" panose="02020603050405020304" pitchFamily="18" charset="0"/>
              </a:rPr>
              <a:t>Abstract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3352"/>
            <a:ext cx="4677428" cy="743054"/>
          </a:xfrm>
          <a:prstGeom prst="rect">
            <a:avLst/>
          </a:prstGeom>
        </p:spPr>
      </p:pic>
      <p:sp>
        <p:nvSpPr>
          <p:cNvPr id="5" name="Date Placeholder 4"/>
          <p:cNvSpPr>
            <a:spLocks noGrp="1"/>
          </p:cNvSpPr>
          <p:nvPr>
            <p:ph type="dt" sz="half" idx="10"/>
          </p:nvPr>
        </p:nvSpPr>
        <p:spPr/>
        <p:txBody>
          <a:bodyPr/>
          <a:lstStyle/>
          <a:p>
            <a:r>
              <a:rPr lang="en-US" dirty="0"/>
              <a:t>10/11/25</a:t>
            </a:r>
          </a:p>
        </p:txBody>
      </p:sp>
      <p:sp>
        <p:nvSpPr>
          <p:cNvPr id="6" name="Footer Placeholder 5"/>
          <p:cNvSpPr>
            <a:spLocks noGrp="1"/>
          </p:cNvSpPr>
          <p:nvPr>
            <p:ph type="ftr" sz="quarter" idx="11"/>
          </p:nvPr>
        </p:nvSpPr>
        <p:spPr/>
        <p:txBody>
          <a:bodyPr/>
          <a:lstStyle/>
          <a:p>
            <a:r>
              <a:rPr lang="en-US" dirty="0"/>
              <a:t>Review No. 1     Batch No.CG12         Department of CSE</a:t>
            </a:r>
          </a:p>
        </p:txBody>
      </p:sp>
      <p:sp>
        <p:nvSpPr>
          <p:cNvPr id="7" name="Slide Number Placeholder 6"/>
          <p:cNvSpPr>
            <a:spLocks noGrp="1"/>
          </p:cNvSpPr>
          <p:nvPr>
            <p:ph type="sldNum" sz="quarter" idx="12"/>
          </p:nvPr>
        </p:nvSpPr>
        <p:spPr/>
        <p:txBody>
          <a:bodyPr/>
          <a:lstStyle/>
          <a:p>
            <a:fld id="{FFEC67FC-8107-4C00-9415-4D1567E899B9}" type="slidenum">
              <a:rPr lang="en-US" smtClean="0"/>
              <a:t>3</a:t>
            </a:fld>
            <a:endParaRPr lang="en-US"/>
          </a:p>
        </p:txBody>
      </p:sp>
      <p:sp>
        <p:nvSpPr>
          <p:cNvPr id="11" name="Rectangle 4">
            <a:extLst>
              <a:ext uri="{FF2B5EF4-FFF2-40B4-BE49-F238E27FC236}">
                <a16:creationId xmlns:a16="http://schemas.microsoft.com/office/drawing/2014/main" id="{64C0757E-3065-5393-8EEE-EEB91A5D6A6C}"/>
              </a:ext>
            </a:extLst>
          </p:cNvPr>
          <p:cNvSpPr>
            <a:spLocks noGrp="1" noChangeArrowheads="1"/>
          </p:cNvSpPr>
          <p:nvPr>
            <p:ph idx="1"/>
          </p:nvPr>
        </p:nvSpPr>
        <p:spPr bwMode="auto">
          <a:xfrm>
            <a:off x="838200" y="1952976"/>
            <a:ext cx="10636045"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algn="just" eaLnBrk="0" fontAlgn="base" hangingPunct="0">
              <a:lnSpc>
                <a:spcPct val="100000"/>
              </a:lnSpc>
              <a:spcBef>
                <a:spcPct val="0"/>
              </a:spcBef>
              <a:spcAft>
                <a:spcPct val="0"/>
              </a:spcAft>
              <a:buNone/>
            </a:pPr>
            <a:r>
              <a:rPr lang="en-US" sz="2000" dirty="0">
                <a:latin typeface="Times New Roman" panose="02020603050405020304" pitchFamily="18" charset="0"/>
                <a:cs typeface="Times New Roman" panose="02020603050405020304" pitchFamily="18" charset="0"/>
              </a:rPr>
              <a:t>Floods are among the most destructive natural hazards, impacting lives, property, and ecosystems across various climatic regions. This study presents a scalable deep learning–based framework for multi-regional flood prediction using heterogeneous data sources such as rainfall, temperature, soil moisture, and socio-environmental indicators. Data preprocessing ensured consistency through temporal alignment, interpolation, and Min–Max normalization. Five models—Random Forest, XGBoost, CNN, LSTM, and GRU—were developed and evaluated, with deep learning models outperforming traditional machine learning approaches. The GRU model achieved the best results with 99.63% accuracy, R² = 0.8986, RMSE = 0.1555, and MAE = 0.0820, demonstrating strong adaptability across diverse climatic and geographical conditions. This framework offers a robust and transferable solution for flood forecasting and disaster risk reduction.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678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a:latin typeface="Times New Roman" panose="02020603050405020304" pitchFamily="18" charset="0"/>
                <a:cs typeface="Times New Roman" panose="02020603050405020304" pitchFamily="18" charset="0"/>
              </a:rPr>
              <a:t>Introduction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0937"/>
            <a:ext cx="4677428" cy="743054"/>
          </a:xfrm>
          <a:prstGeom prst="rect">
            <a:avLst/>
          </a:prstGeom>
        </p:spPr>
      </p:pic>
      <p:sp>
        <p:nvSpPr>
          <p:cNvPr id="5" name="Date Placeholder 4"/>
          <p:cNvSpPr>
            <a:spLocks noGrp="1"/>
          </p:cNvSpPr>
          <p:nvPr>
            <p:ph type="dt" sz="half" idx="10"/>
          </p:nvPr>
        </p:nvSpPr>
        <p:spPr/>
        <p:txBody>
          <a:bodyPr/>
          <a:lstStyle/>
          <a:p>
            <a:r>
              <a:rPr lang="en-US" dirty="0"/>
              <a:t>10/11/25</a:t>
            </a:r>
          </a:p>
        </p:txBody>
      </p:sp>
      <p:sp>
        <p:nvSpPr>
          <p:cNvPr id="6" name="Footer Placeholder 5"/>
          <p:cNvSpPr>
            <a:spLocks noGrp="1"/>
          </p:cNvSpPr>
          <p:nvPr>
            <p:ph type="ftr" sz="quarter" idx="11"/>
          </p:nvPr>
        </p:nvSpPr>
        <p:spPr/>
        <p:txBody>
          <a:bodyPr/>
          <a:lstStyle/>
          <a:p>
            <a:r>
              <a:rPr lang="en-US" dirty="0"/>
              <a:t>Review No. 1     Batch No.CG12         Department of CSE</a:t>
            </a:r>
          </a:p>
        </p:txBody>
      </p:sp>
      <p:sp>
        <p:nvSpPr>
          <p:cNvPr id="7" name="Slide Number Placeholder 6"/>
          <p:cNvSpPr>
            <a:spLocks noGrp="1"/>
          </p:cNvSpPr>
          <p:nvPr>
            <p:ph type="sldNum" sz="quarter" idx="12"/>
          </p:nvPr>
        </p:nvSpPr>
        <p:spPr/>
        <p:txBody>
          <a:bodyPr/>
          <a:lstStyle/>
          <a:p>
            <a:fld id="{FFEC67FC-8107-4C00-9415-4D1567E899B9}" type="slidenum">
              <a:rPr lang="en-US" smtClean="0"/>
              <a:t>4</a:t>
            </a:fld>
            <a:endParaRPr lang="en-US"/>
          </a:p>
        </p:txBody>
      </p:sp>
      <p:sp>
        <p:nvSpPr>
          <p:cNvPr id="8" name="Rectangle 2">
            <a:extLst>
              <a:ext uri="{FF2B5EF4-FFF2-40B4-BE49-F238E27FC236}">
                <a16:creationId xmlns:a16="http://schemas.microsoft.com/office/drawing/2014/main" id="{917113E7-C7E5-D669-738E-60F2A7FE7BB2}"/>
              </a:ext>
            </a:extLst>
          </p:cNvPr>
          <p:cNvSpPr>
            <a:spLocks noGrp="1" noChangeArrowheads="1"/>
          </p:cNvSpPr>
          <p:nvPr>
            <p:ph idx="1"/>
          </p:nvPr>
        </p:nvSpPr>
        <p:spPr bwMode="auto">
          <a:xfrm>
            <a:off x="838200" y="1640256"/>
            <a:ext cx="10626213"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Floods are highly destructive natural disasters, causing major loss of life, property, and infrastructure.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develops a Cross-Climate Flood Prediction System using machine learning and deep learning models (Random Forest, XGBoost, CNN, LSTM, GRU).</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predicts flood occurrences based on key factors like urbanization, climate change, and dam quality.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uses multi-regional data to improve generalization and adaptability.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motivation is the increasing frequency of floods due to climate change and rapid urban development.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forecasting methods struggle with complex non-linear relationships, reducing accuracy.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deep learning approach improves accuracy and robustness for early flood detection.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supports disaster management and planning by enabling timely decisions.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holds importance for policy makers, researchers, and disaster response agencies.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Overall, the model enhances predictive capability and cross-climate resilience.</a:t>
            </a:r>
          </a:p>
        </p:txBody>
      </p:sp>
    </p:spTree>
    <p:extLst>
      <p:ext uri="{BB962C8B-B14F-4D97-AF65-F5344CB8AC3E}">
        <p14:creationId xmlns:p14="http://schemas.microsoft.com/office/powerpoint/2010/main" val="38944604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4171" y="290646"/>
            <a:ext cx="10515600" cy="878925"/>
          </a:xfrm>
        </p:spPr>
        <p:txBody>
          <a:bodyPr>
            <a:normAutofit/>
          </a:bodyPr>
          <a:lstStyle/>
          <a:p>
            <a:pPr algn="ctr"/>
            <a:r>
              <a:rPr lang="en-US" sz="2800" b="1" dirty="0">
                <a:latin typeface="Times New Roman" panose="02020603050405020304" pitchFamily="18" charset="0"/>
                <a:cs typeface="Times New Roman" panose="02020603050405020304" pitchFamily="18" charset="0"/>
              </a:rPr>
              <a:t>Literature Survey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43054"/>
          </a:xfrm>
          <a:prstGeom prst="rect">
            <a:avLst/>
          </a:prstGeom>
        </p:spPr>
      </p:pic>
      <p:sp>
        <p:nvSpPr>
          <p:cNvPr id="3" name="Date Placeholder 2"/>
          <p:cNvSpPr>
            <a:spLocks noGrp="1"/>
          </p:cNvSpPr>
          <p:nvPr>
            <p:ph type="dt" sz="half" idx="10"/>
          </p:nvPr>
        </p:nvSpPr>
        <p:spPr/>
        <p:txBody>
          <a:bodyPr/>
          <a:lstStyle/>
          <a:p>
            <a:r>
              <a:rPr lang="en-US" dirty="0"/>
              <a:t>10/11/25</a:t>
            </a:r>
          </a:p>
        </p:txBody>
      </p:sp>
      <p:sp>
        <p:nvSpPr>
          <p:cNvPr id="6" name="Footer Placeholder 5"/>
          <p:cNvSpPr>
            <a:spLocks noGrp="1"/>
          </p:cNvSpPr>
          <p:nvPr>
            <p:ph type="ftr" sz="quarter" idx="11"/>
          </p:nvPr>
        </p:nvSpPr>
        <p:spPr/>
        <p:txBody>
          <a:bodyPr/>
          <a:lstStyle/>
          <a:p>
            <a:r>
              <a:rPr lang="en-US" dirty="0"/>
              <a:t>Review No. 1     Batch No.CG12         Department of CSE</a:t>
            </a:r>
          </a:p>
        </p:txBody>
      </p:sp>
      <p:sp>
        <p:nvSpPr>
          <p:cNvPr id="7" name="Slide Number Placeholder 6"/>
          <p:cNvSpPr>
            <a:spLocks noGrp="1"/>
          </p:cNvSpPr>
          <p:nvPr>
            <p:ph type="sldNum" sz="quarter" idx="12"/>
          </p:nvPr>
        </p:nvSpPr>
        <p:spPr/>
        <p:txBody>
          <a:bodyPr/>
          <a:lstStyle/>
          <a:p>
            <a:fld id="{FFEC67FC-8107-4C00-9415-4D1567E899B9}" type="slidenum">
              <a:rPr lang="en-US" smtClean="0"/>
              <a:t>5</a:t>
            </a:fld>
            <a:endParaRPr lang="en-US"/>
          </a:p>
        </p:txBody>
      </p:sp>
      <p:graphicFrame>
        <p:nvGraphicFramePr>
          <p:cNvPr id="5" name="Content Placeholder 4">
            <a:extLst>
              <a:ext uri="{FF2B5EF4-FFF2-40B4-BE49-F238E27FC236}">
                <a16:creationId xmlns:a16="http://schemas.microsoft.com/office/drawing/2014/main" id="{8E81C9E0-F522-5BFD-D31A-F30D696E80BB}"/>
              </a:ext>
            </a:extLst>
          </p:cNvPr>
          <p:cNvGraphicFramePr>
            <a:graphicFrameLocks noGrp="1"/>
          </p:cNvGraphicFramePr>
          <p:nvPr>
            <p:ph idx="1"/>
            <p:extLst>
              <p:ext uri="{D42A27DB-BD31-4B8C-83A1-F6EECF244321}">
                <p14:modId xmlns:p14="http://schemas.microsoft.com/office/powerpoint/2010/main" val="3028543871"/>
              </p:ext>
            </p:extLst>
          </p:nvPr>
        </p:nvGraphicFramePr>
        <p:xfrm>
          <a:off x="1071716" y="1169571"/>
          <a:ext cx="10518055" cy="4937760"/>
        </p:xfrm>
        <a:graphic>
          <a:graphicData uri="http://schemas.openxmlformats.org/drawingml/2006/table">
            <a:tbl>
              <a:tblPr firstRow="1" bandRow="1">
                <a:tableStyleId>{5C22544A-7EE6-4342-B048-85BDC9FD1C3A}</a:tableStyleId>
              </a:tblPr>
              <a:tblGrid>
                <a:gridCol w="540774">
                  <a:extLst>
                    <a:ext uri="{9D8B030D-6E8A-4147-A177-3AD203B41FA5}">
                      <a16:colId xmlns:a16="http://schemas.microsoft.com/office/drawing/2014/main" val="1837316479"/>
                    </a:ext>
                  </a:extLst>
                </a:gridCol>
                <a:gridCol w="2466141">
                  <a:extLst>
                    <a:ext uri="{9D8B030D-6E8A-4147-A177-3AD203B41FA5}">
                      <a16:colId xmlns:a16="http://schemas.microsoft.com/office/drawing/2014/main" val="2849891431"/>
                    </a:ext>
                  </a:extLst>
                </a:gridCol>
                <a:gridCol w="1502228">
                  <a:extLst>
                    <a:ext uri="{9D8B030D-6E8A-4147-A177-3AD203B41FA5}">
                      <a16:colId xmlns:a16="http://schemas.microsoft.com/office/drawing/2014/main" val="3179133457"/>
                    </a:ext>
                  </a:extLst>
                </a:gridCol>
                <a:gridCol w="1502228">
                  <a:extLst>
                    <a:ext uri="{9D8B030D-6E8A-4147-A177-3AD203B41FA5}">
                      <a16:colId xmlns:a16="http://schemas.microsoft.com/office/drawing/2014/main" val="4092503758"/>
                    </a:ext>
                  </a:extLst>
                </a:gridCol>
                <a:gridCol w="1502228">
                  <a:extLst>
                    <a:ext uri="{9D8B030D-6E8A-4147-A177-3AD203B41FA5}">
                      <a16:colId xmlns:a16="http://schemas.microsoft.com/office/drawing/2014/main" val="1830570318"/>
                    </a:ext>
                  </a:extLst>
                </a:gridCol>
                <a:gridCol w="1502228">
                  <a:extLst>
                    <a:ext uri="{9D8B030D-6E8A-4147-A177-3AD203B41FA5}">
                      <a16:colId xmlns:a16="http://schemas.microsoft.com/office/drawing/2014/main" val="3064696450"/>
                    </a:ext>
                  </a:extLst>
                </a:gridCol>
                <a:gridCol w="1502228">
                  <a:extLst>
                    <a:ext uri="{9D8B030D-6E8A-4147-A177-3AD203B41FA5}">
                      <a16:colId xmlns:a16="http://schemas.microsoft.com/office/drawing/2014/main" val="3731949175"/>
                    </a:ext>
                  </a:extLst>
                </a:gridCol>
              </a:tblGrid>
              <a:tr h="851364">
                <a:tc>
                  <a:txBody>
                    <a:bodyPr/>
                    <a:lstStyle/>
                    <a:p>
                      <a:r>
                        <a:rPr lang="en-IN" dirty="0">
                          <a:latin typeface="Times New Roman" panose="02020603050405020304" pitchFamily="18" charset="0"/>
                          <a:cs typeface="Times New Roman" panose="02020603050405020304" pitchFamily="18" charset="0"/>
                        </a:rPr>
                        <a:t>NO</a:t>
                      </a:r>
                    </a:p>
                  </a:txBody>
                  <a:tcPr anchor="ctr">
                    <a:lnB w="12700" cap="flat" cmpd="sng" algn="ctr">
                      <a:solidFill>
                        <a:schemeClr val="tx1"/>
                      </a:solidFill>
                      <a:prstDash val="solid"/>
                      <a:round/>
                      <a:headEnd type="none" w="med" len="med"/>
                      <a:tailEnd type="none" w="med" len="med"/>
                    </a:lnB>
                    <a:solidFill>
                      <a:srgbClr val="FFC000"/>
                    </a:solidFill>
                  </a:tcPr>
                </a:tc>
                <a:tc>
                  <a:txBody>
                    <a:bodyPr/>
                    <a:lstStyle/>
                    <a:p>
                      <a:r>
                        <a:rPr lang="en-IN" dirty="0">
                          <a:latin typeface="Times New Roman" panose="02020603050405020304" pitchFamily="18" charset="0"/>
                          <a:cs typeface="Times New Roman" panose="02020603050405020304" pitchFamily="18" charset="0"/>
                        </a:rPr>
                        <a:t>Title</a:t>
                      </a:r>
                    </a:p>
                  </a:txBody>
                  <a:tcPr anchor="ctr">
                    <a:lnB w="12700" cap="flat" cmpd="sng" algn="ctr">
                      <a:solidFill>
                        <a:schemeClr val="tx1"/>
                      </a:solidFill>
                      <a:prstDash val="solid"/>
                      <a:round/>
                      <a:headEnd type="none" w="med" len="med"/>
                      <a:tailEnd type="none" w="med" len="med"/>
                    </a:lnB>
                    <a:solidFill>
                      <a:srgbClr val="FFC000"/>
                    </a:solidFill>
                  </a:tcPr>
                </a:tc>
                <a:tc>
                  <a:txBody>
                    <a:bodyPr/>
                    <a:lstStyle/>
                    <a:p>
                      <a:r>
                        <a:rPr lang="en-IN" dirty="0">
                          <a:latin typeface="Times New Roman" panose="02020603050405020304" pitchFamily="18" charset="0"/>
                          <a:cs typeface="Times New Roman" panose="02020603050405020304" pitchFamily="18" charset="0"/>
                        </a:rPr>
                        <a:t>Author</a:t>
                      </a:r>
                    </a:p>
                  </a:txBody>
                  <a:tcPr anchor="ctr">
                    <a:lnB w="12700" cap="flat" cmpd="sng" algn="ctr">
                      <a:solidFill>
                        <a:schemeClr val="tx1"/>
                      </a:solidFill>
                      <a:prstDash val="solid"/>
                      <a:round/>
                      <a:headEnd type="none" w="med" len="med"/>
                      <a:tailEnd type="none" w="med" len="med"/>
                    </a:lnB>
                    <a:solidFill>
                      <a:srgbClr val="FFC000"/>
                    </a:solidFill>
                  </a:tcPr>
                </a:tc>
                <a:tc>
                  <a:txBody>
                    <a:bodyPr/>
                    <a:lstStyle/>
                    <a:p>
                      <a:r>
                        <a:rPr lang="en-IN" dirty="0">
                          <a:latin typeface="Times New Roman" panose="02020603050405020304" pitchFamily="18" charset="0"/>
                          <a:cs typeface="Times New Roman" panose="02020603050405020304" pitchFamily="18" charset="0"/>
                        </a:rPr>
                        <a:t>Journal Name &amp; Year</a:t>
                      </a:r>
                    </a:p>
                  </a:txBody>
                  <a:tcPr anchor="ctr">
                    <a:lnB w="12700" cap="flat" cmpd="sng" algn="ctr">
                      <a:solidFill>
                        <a:schemeClr val="tx1"/>
                      </a:solidFill>
                      <a:prstDash val="solid"/>
                      <a:round/>
                      <a:headEnd type="none" w="med" len="med"/>
                      <a:tailEnd type="none" w="med" len="med"/>
                    </a:lnB>
                    <a:solidFill>
                      <a:srgbClr val="FFC000"/>
                    </a:solidFill>
                  </a:tcPr>
                </a:tc>
                <a:tc>
                  <a:txBody>
                    <a:bodyPr/>
                    <a:lstStyle/>
                    <a:p>
                      <a:r>
                        <a:rPr lang="en-IN" dirty="0">
                          <a:latin typeface="Times New Roman" panose="02020603050405020304" pitchFamily="18" charset="0"/>
                          <a:cs typeface="Times New Roman" panose="02020603050405020304" pitchFamily="18" charset="0"/>
                        </a:rPr>
                        <a:t>Methodology     Adopted</a:t>
                      </a:r>
                    </a:p>
                  </a:txBody>
                  <a:tcPr anchor="ctr">
                    <a:lnB w="12700" cap="flat" cmpd="sng" algn="ctr">
                      <a:solidFill>
                        <a:schemeClr val="tx1"/>
                      </a:solidFill>
                      <a:prstDash val="solid"/>
                      <a:round/>
                      <a:headEnd type="none" w="med" len="med"/>
                      <a:tailEnd type="none" w="med" len="med"/>
                    </a:lnB>
                    <a:solidFill>
                      <a:srgbClr val="FFC000"/>
                    </a:solidFill>
                  </a:tcPr>
                </a:tc>
                <a:tc>
                  <a:txBody>
                    <a:bodyPr/>
                    <a:lstStyle/>
                    <a:p>
                      <a:r>
                        <a:rPr lang="en-IN" dirty="0">
                          <a:latin typeface="Times New Roman" panose="02020603050405020304" pitchFamily="18" charset="0"/>
                          <a:cs typeface="Times New Roman" panose="02020603050405020304" pitchFamily="18" charset="0"/>
                        </a:rPr>
                        <a:t>Key Findings</a:t>
                      </a:r>
                    </a:p>
                  </a:txBody>
                  <a:tcPr anchor="ctr">
                    <a:lnB w="12700" cap="flat" cmpd="sng" algn="ctr">
                      <a:solidFill>
                        <a:schemeClr val="tx1"/>
                      </a:solidFill>
                      <a:prstDash val="solid"/>
                      <a:round/>
                      <a:headEnd type="none" w="med" len="med"/>
                      <a:tailEnd type="none" w="med" len="med"/>
                    </a:lnB>
                    <a:solidFill>
                      <a:srgbClr val="FFC000"/>
                    </a:solidFill>
                  </a:tcPr>
                </a:tc>
                <a:tc>
                  <a:txBody>
                    <a:bodyPr/>
                    <a:lstStyle/>
                    <a:p>
                      <a:r>
                        <a:rPr lang="en-IN" dirty="0">
                          <a:latin typeface="Times New Roman" panose="02020603050405020304" pitchFamily="18" charset="0"/>
                          <a:cs typeface="Times New Roman" panose="02020603050405020304" pitchFamily="18" charset="0"/>
                        </a:rPr>
                        <a:t>Gaps</a:t>
                      </a:r>
                    </a:p>
                  </a:txBody>
                  <a:tcPr anchor="ctr">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155165561"/>
                  </a:ext>
                </a:extLst>
              </a:tr>
              <a:tr h="851364">
                <a:tc>
                  <a:txBody>
                    <a:bodyPr/>
                    <a:lstStyle/>
                    <a:p>
                      <a:r>
                        <a:rPr lang="en-IN" dirty="0">
                          <a:latin typeface="Times New Roman" panose="02020603050405020304" pitchFamily="18" charset="0"/>
                          <a:cs typeface="Times New Roman" panose="02020603050405020304" pitchFamily="18"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kern="1200" dirty="0">
                          <a:solidFill>
                            <a:schemeClr val="dk1"/>
                          </a:solidFill>
                          <a:effectLst/>
                          <a:latin typeface="Times New Roman" panose="02020603050405020304" pitchFamily="18" charset="0"/>
                          <a:ea typeface="+mn-ea"/>
                          <a:cs typeface="Times New Roman" panose="02020603050405020304" pitchFamily="18" charset="0"/>
                        </a:rPr>
                        <a:t>A Comprehensive Survey on Deep Learning Solutions for 3D Flood Mapping</a:t>
                      </a:r>
                    </a:p>
                    <a:p>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err="1">
                          <a:latin typeface="Times New Roman" panose="02020603050405020304" pitchFamily="18" charset="0"/>
                          <a:cs typeface="Times New Roman" panose="02020603050405020304" pitchFamily="18" charset="0"/>
                        </a:rPr>
                        <a:t>Wenfeng</a:t>
                      </a:r>
                      <a:r>
                        <a:rPr lang="en-IN" dirty="0">
                          <a:latin typeface="Times New Roman" panose="02020603050405020304" pitchFamily="18" charset="0"/>
                          <a:cs typeface="Times New Roman" panose="02020603050405020304" pitchFamily="18" charset="0"/>
                        </a:rPr>
                        <a:t> Jia, Bin Liang, Yuxi Lu, Muhammad Arif Khan, Lihong Zheng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latin typeface="Times New Roman" panose="02020603050405020304" pitchFamily="18" charset="0"/>
                          <a:cs typeface="Times New Roman" panose="02020603050405020304" pitchFamily="18" charset="0"/>
                        </a:rPr>
                        <a:t>https://arxiv.org/abs/2506.13201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anose="02020603050405020304" pitchFamily="18" charset="0"/>
                          <a:cs typeface="Times New Roman" panose="02020603050405020304" pitchFamily="18" charset="0"/>
                        </a:rPr>
                        <a:t>Reviewed deep learning models and data used in 3D flood mapping</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anose="02020603050405020304" pitchFamily="18" charset="0"/>
                          <a:cs typeface="Times New Roman" panose="02020603050405020304" pitchFamily="18" charset="0"/>
                        </a:rPr>
                        <a:t>3D mapping is more accurate than 2D; end-to-end models perform better</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anose="02020603050405020304" pitchFamily="18" charset="0"/>
                          <a:cs typeface="Times New Roman" panose="02020603050405020304" pitchFamily="18" charset="0"/>
                        </a:rPr>
                        <a:t>Limited datasets, hard to explain model output, data fusion challenges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52147038"/>
                  </a:ext>
                </a:extLst>
              </a:tr>
              <a:tr h="815562">
                <a:tc>
                  <a:txBody>
                    <a:bodyPr/>
                    <a:lstStyle/>
                    <a:p>
                      <a:r>
                        <a:rPr lang="en-IN" dirty="0">
                          <a:latin typeface="Times New Roman" panose="02020603050405020304" pitchFamily="18" charset="0"/>
                          <a:cs typeface="Times New Roman" panose="02020603050405020304" pitchFamily="18" charset="0"/>
                        </a:rPr>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anose="02020603050405020304" pitchFamily="18" charset="0"/>
                          <a:cs typeface="Times New Roman" panose="02020603050405020304" pitchFamily="18" charset="0"/>
                        </a:rPr>
                        <a:t>FFM: Flood Forecasting Model Using Federated Learning</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latin typeface="Times New Roman" panose="02020603050405020304" pitchFamily="18" charset="0"/>
                          <a:cs typeface="Times New Roman" panose="02020603050405020304" pitchFamily="18" charset="0"/>
                        </a:rPr>
                        <a:t>Muhammad Shoaib Farooq et 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latin typeface="Times New Roman" panose="02020603050405020304" pitchFamily="18" charset="0"/>
                          <a:cs typeface="Times New Roman" panose="02020603050405020304" pitchFamily="18" charset="0"/>
                        </a:rPr>
                        <a:t>https://doi.org/10.1109/ACCESS.2023.3252896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anose="02020603050405020304" pitchFamily="18" charset="0"/>
                          <a:cs typeface="Times New Roman" panose="02020603050405020304" pitchFamily="18" charset="0"/>
                        </a:rPr>
                        <a:t>Used federated learning so data stays at local stations and only models are shared</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anose="02020603050405020304" pitchFamily="18" charset="0"/>
                          <a:cs typeface="Times New Roman" panose="02020603050405020304" pitchFamily="18" charset="0"/>
                        </a:rPr>
                        <a:t>Predicts floods 5 days early with 84% accuracy; protects data privacy</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anose="02020603050405020304" pitchFamily="18" charset="0"/>
                          <a:cs typeface="Times New Roman" panose="02020603050405020304" pitchFamily="18" charset="0"/>
                        </a:rPr>
                        <a:t>Not tested in many areas, high communication cost, model is less complex</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82034481"/>
                  </a:ext>
                </a:extLst>
              </a:tr>
            </a:tbl>
          </a:graphicData>
        </a:graphic>
      </p:graphicFrame>
    </p:spTree>
    <p:extLst>
      <p:ext uri="{BB962C8B-B14F-4D97-AF65-F5344CB8AC3E}">
        <p14:creationId xmlns:p14="http://schemas.microsoft.com/office/powerpoint/2010/main" val="3405099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C7798-A55C-C92B-7E10-80EB73E702D1}"/>
              </a:ext>
            </a:extLst>
          </p:cNvPr>
          <p:cNvSpPr>
            <a:spLocks noGrp="1"/>
          </p:cNvSpPr>
          <p:nvPr>
            <p:ph type="title"/>
          </p:nvPr>
        </p:nvSpPr>
        <p:spPr>
          <a:xfrm>
            <a:off x="838200" y="365126"/>
            <a:ext cx="10515600" cy="743054"/>
          </a:xfrm>
        </p:spPr>
        <p:txBody>
          <a:bodyPr>
            <a:normAutofit/>
          </a:bodyPr>
          <a:lstStyle/>
          <a:p>
            <a:r>
              <a:rPr lang="en-US" sz="2400" b="1" dirty="0">
                <a:latin typeface="Times New Roman" panose="02020603050405020304" pitchFamily="18" charset="0"/>
                <a:cs typeface="Times New Roman" panose="02020603050405020304" pitchFamily="18" charset="0"/>
              </a:rPr>
              <a:t>                                                    Literature Survey</a:t>
            </a:r>
            <a:endParaRPr lang="en-IN" sz="2400" dirty="0"/>
          </a:p>
        </p:txBody>
      </p:sp>
      <p:graphicFrame>
        <p:nvGraphicFramePr>
          <p:cNvPr id="8" name="Content Placeholder 7">
            <a:extLst>
              <a:ext uri="{FF2B5EF4-FFF2-40B4-BE49-F238E27FC236}">
                <a16:creationId xmlns:a16="http://schemas.microsoft.com/office/drawing/2014/main" id="{A9BBB8CD-32CE-4E2D-F5D0-629C587601C6}"/>
              </a:ext>
            </a:extLst>
          </p:cNvPr>
          <p:cNvGraphicFramePr>
            <a:graphicFrameLocks noGrp="1"/>
          </p:cNvGraphicFramePr>
          <p:nvPr>
            <p:ph idx="1"/>
            <p:extLst>
              <p:ext uri="{D42A27DB-BD31-4B8C-83A1-F6EECF244321}">
                <p14:modId xmlns:p14="http://schemas.microsoft.com/office/powerpoint/2010/main" val="2348378990"/>
              </p:ext>
            </p:extLst>
          </p:nvPr>
        </p:nvGraphicFramePr>
        <p:xfrm>
          <a:off x="1064341" y="1108180"/>
          <a:ext cx="10515596" cy="5486400"/>
        </p:xfrm>
        <a:graphic>
          <a:graphicData uri="http://schemas.openxmlformats.org/drawingml/2006/table">
            <a:tbl>
              <a:tblPr firstRow="1" bandRow="1">
                <a:tableStyleId>{5C22544A-7EE6-4342-B048-85BDC9FD1C3A}</a:tableStyleId>
              </a:tblPr>
              <a:tblGrid>
                <a:gridCol w="1502228">
                  <a:extLst>
                    <a:ext uri="{9D8B030D-6E8A-4147-A177-3AD203B41FA5}">
                      <a16:colId xmlns:a16="http://schemas.microsoft.com/office/drawing/2014/main" val="2315396613"/>
                    </a:ext>
                  </a:extLst>
                </a:gridCol>
                <a:gridCol w="1502228">
                  <a:extLst>
                    <a:ext uri="{9D8B030D-6E8A-4147-A177-3AD203B41FA5}">
                      <a16:colId xmlns:a16="http://schemas.microsoft.com/office/drawing/2014/main" val="2556439541"/>
                    </a:ext>
                  </a:extLst>
                </a:gridCol>
                <a:gridCol w="1502228">
                  <a:extLst>
                    <a:ext uri="{9D8B030D-6E8A-4147-A177-3AD203B41FA5}">
                      <a16:colId xmlns:a16="http://schemas.microsoft.com/office/drawing/2014/main" val="3418805558"/>
                    </a:ext>
                  </a:extLst>
                </a:gridCol>
                <a:gridCol w="1502228">
                  <a:extLst>
                    <a:ext uri="{9D8B030D-6E8A-4147-A177-3AD203B41FA5}">
                      <a16:colId xmlns:a16="http://schemas.microsoft.com/office/drawing/2014/main" val="636776445"/>
                    </a:ext>
                  </a:extLst>
                </a:gridCol>
                <a:gridCol w="1502228">
                  <a:extLst>
                    <a:ext uri="{9D8B030D-6E8A-4147-A177-3AD203B41FA5}">
                      <a16:colId xmlns:a16="http://schemas.microsoft.com/office/drawing/2014/main" val="2945035460"/>
                    </a:ext>
                  </a:extLst>
                </a:gridCol>
                <a:gridCol w="1502228">
                  <a:extLst>
                    <a:ext uri="{9D8B030D-6E8A-4147-A177-3AD203B41FA5}">
                      <a16:colId xmlns:a16="http://schemas.microsoft.com/office/drawing/2014/main" val="1136230524"/>
                    </a:ext>
                  </a:extLst>
                </a:gridCol>
                <a:gridCol w="1502228">
                  <a:extLst>
                    <a:ext uri="{9D8B030D-6E8A-4147-A177-3AD203B41FA5}">
                      <a16:colId xmlns:a16="http://schemas.microsoft.com/office/drawing/2014/main" val="3897262910"/>
                    </a:ext>
                  </a:extLst>
                </a:gridCol>
              </a:tblGrid>
              <a:tr h="370840">
                <a:tc>
                  <a:txBody>
                    <a:bodyPr/>
                    <a:lstStyle/>
                    <a:p>
                      <a:pPr>
                        <a:buNone/>
                      </a:pPr>
                      <a:r>
                        <a:rPr lang="en-IN" dirty="0">
                          <a:latin typeface="Times New Roman" panose="02020603050405020304" pitchFamily="18" charset="0"/>
                          <a:cs typeface="Times New Roman" panose="02020603050405020304" pitchFamily="18" charset="0"/>
                        </a:rPr>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IN" dirty="0">
                          <a:latin typeface="Times New Roman" panose="02020603050405020304" pitchFamily="18" charset="0"/>
                          <a:cs typeface="Times New Roman" panose="02020603050405020304" pitchFamily="18" charset="0"/>
                        </a:rPr>
                        <a:t>Title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IN" dirty="0">
                          <a:latin typeface="Times New Roman" panose="02020603050405020304" pitchFamily="18" charset="0"/>
                          <a:cs typeface="Times New Roman" panose="02020603050405020304" pitchFamily="18" charset="0"/>
                        </a:rPr>
                        <a:t>Author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Journal Name &amp; Year</a:t>
                      </a:r>
                    </a:p>
                    <a:p>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Methodology     Adopted</a:t>
                      </a:r>
                    </a:p>
                    <a:p>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Key Findings</a:t>
                      </a:r>
                    </a:p>
                    <a:p>
                      <a:endParaRPr lang="en-IN"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IN" dirty="0">
                          <a:latin typeface="Times New Roman" panose="02020603050405020304" pitchFamily="18" charset="0"/>
                          <a:cs typeface="Times New Roman" panose="02020603050405020304" pitchFamily="18" charset="0"/>
                        </a:rPr>
                        <a:t>Gaps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836658569"/>
                  </a:ext>
                </a:extLst>
              </a:tr>
              <a:tr h="370840">
                <a:tc>
                  <a:txBody>
                    <a:bodyPr/>
                    <a:lstStyle/>
                    <a:p>
                      <a:r>
                        <a:rPr lang="en-IN" dirty="0">
                          <a:latin typeface="Times New Roman" panose="02020603050405020304" pitchFamily="18" charset="0"/>
                          <a:cs typeface="Times New Roman" panose="02020603050405020304" pitchFamily="18" charset="0"/>
                        </a:rPr>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Enhanced Flood Prediction using LSTM and Climate Parameters</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s-ES" dirty="0">
                          <a:latin typeface="Times New Roman" panose="02020603050405020304" pitchFamily="18" charset="0"/>
                          <a:cs typeface="Times New Roman" panose="02020603050405020304" pitchFamily="18" charset="0"/>
                        </a:rPr>
                        <a:t>Vida </a:t>
                      </a:r>
                      <a:r>
                        <a:rPr lang="es-ES" dirty="0" err="1">
                          <a:latin typeface="Times New Roman" panose="02020603050405020304" pitchFamily="18" charset="0"/>
                          <a:cs typeface="Times New Roman" panose="02020603050405020304" pitchFamily="18" charset="0"/>
                        </a:rPr>
                        <a:t>Atashi</a:t>
                      </a:r>
                      <a:r>
                        <a:rPr lang="es-ES" dirty="0">
                          <a:latin typeface="Times New Roman" panose="02020603050405020304" pitchFamily="18" charset="0"/>
                          <a:cs typeface="Times New Roman" panose="02020603050405020304" pitchFamily="18" charset="0"/>
                        </a:rPr>
                        <a:t> &amp; </a:t>
                      </a:r>
                      <a:r>
                        <a:rPr lang="es-ES" dirty="0" err="1">
                          <a:latin typeface="Times New Roman" panose="02020603050405020304" pitchFamily="18" charset="0"/>
                          <a:cs typeface="Times New Roman" panose="02020603050405020304" pitchFamily="18" charset="0"/>
                        </a:rPr>
                        <a:t>Hamed</a:t>
                      </a:r>
                      <a:r>
                        <a:rPr lang="es-ES" dirty="0">
                          <a:latin typeface="Times New Roman" panose="02020603050405020304" pitchFamily="18" charset="0"/>
                          <a:cs typeface="Times New Roman" panose="02020603050405020304" pitchFamily="18" charset="0"/>
                        </a:rPr>
                        <a:t> </a:t>
                      </a:r>
                      <a:r>
                        <a:rPr lang="es-ES" dirty="0" err="1">
                          <a:latin typeface="Times New Roman" panose="02020603050405020304" pitchFamily="18" charset="0"/>
                          <a:cs typeface="Times New Roman" panose="02020603050405020304" pitchFamily="18" charset="0"/>
                        </a:rPr>
                        <a:t>Taheri</a:t>
                      </a:r>
                      <a:r>
                        <a:rPr lang="es-ES" dirty="0">
                          <a:latin typeface="Times New Roman" panose="02020603050405020304" pitchFamily="18" charset="0"/>
                          <a:cs typeface="Times New Roman" panose="02020603050405020304" pitchFamily="18" charset="0"/>
                        </a:rPr>
                        <a:t> </a:t>
                      </a:r>
                      <a:r>
                        <a:rPr lang="es-ES" dirty="0" err="1">
                          <a:latin typeface="Times New Roman" panose="02020603050405020304" pitchFamily="18" charset="0"/>
                          <a:cs typeface="Times New Roman" panose="02020603050405020304" pitchFamily="18" charset="0"/>
                        </a:rPr>
                        <a:t>Gorji</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latin typeface="Times New Roman" panose="02020603050405020304" pitchFamily="18" charset="0"/>
                          <a:cs typeface="Times New Roman" panose="02020603050405020304" pitchFamily="18" charset="0"/>
                        </a:rPr>
                        <a:t>https://doi.org/10.2166/hydro.2025.236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anose="02020603050405020304" pitchFamily="18" charset="0"/>
                          <a:cs typeface="Times New Roman" panose="02020603050405020304" pitchFamily="18" charset="0"/>
                        </a:rPr>
                        <a:t>Used LSTM with climate data like temperature, humidity, wind, radiation</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anose="02020603050405020304" pitchFamily="18" charset="0"/>
                          <a:cs typeface="Times New Roman" panose="02020603050405020304" pitchFamily="18" charset="0"/>
                        </a:rPr>
                        <a:t>Very accurate short-term prediction (R² = 0.999 for 6 hours)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anose="02020603050405020304" pitchFamily="18" charset="0"/>
                          <a:cs typeface="Times New Roman" panose="02020603050405020304" pitchFamily="18" charset="0"/>
                        </a:rPr>
                        <a:t>Long-term accuracy is lower, only tested in cold region</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02055571"/>
                  </a:ext>
                </a:extLst>
              </a:tr>
              <a:tr h="370840">
                <a:tc>
                  <a:txBody>
                    <a:bodyPr/>
                    <a:lstStyle/>
                    <a:p>
                      <a:r>
                        <a:rPr lang="en-IN" dirty="0">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Intelligent Prediction of Flood Disaster Risk Levels using Knowledge Graph + GNN</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err="1">
                          <a:latin typeface="Times New Roman" panose="02020603050405020304" pitchFamily="18" charset="0"/>
                          <a:cs typeface="Times New Roman" panose="02020603050405020304" pitchFamily="18" charset="0"/>
                        </a:rPr>
                        <a:t>Peisheng</a:t>
                      </a:r>
                      <a:r>
                        <a:rPr lang="en-IN" dirty="0">
                          <a:latin typeface="Times New Roman" panose="02020603050405020304" pitchFamily="18" charset="0"/>
                          <a:cs typeface="Times New Roman" panose="02020603050405020304" pitchFamily="18" charset="0"/>
                        </a:rPr>
                        <a:t> Yang, Xiaohua Xu, Meilan Shao, Yewei Liu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latin typeface="Times New Roman" panose="02020603050405020304" pitchFamily="18" charset="0"/>
                          <a:cs typeface="Times New Roman" panose="02020603050405020304" pitchFamily="18" charset="0"/>
                        </a:rPr>
                        <a:t>https://doi.org/10.1109/ACCESS.2025.3525757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anose="02020603050405020304" pitchFamily="18" charset="0"/>
                          <a:cs typeface="Times New Roman" panose="02020603050405020304" pitchFamily="18" charset="0"/>
                        </a:rPr>
                        <a:t>Built knowledge graph and applied graph neural network to predict flood risk</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anose="02020603050405020304" pitchFamily="18" charset="0"/>
                          <a:cs typeface="Times New Roman" panose="02020603050405020304" pitchFamily="18" charset="0"/>
                        </a:rPr>
                        <a:t>Higher accuracy than SVM, RF, ANN; AUC = 0.84</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anose="02020603050405020304" pitchFamily="18" charset="0"/>
                          <a:cs typeface="Times New Roman" panose="02020603050405020304" pitchFamily="18" charset="0"/>
                        </a:rPr>
                        <a:t>Needs high-quality structured data, tested only in one province</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50389158"/>
                  </a:ext>
                </a:extLst>
              </a:tr>
            </a:tbl>
          </a:graphicData>
        </a:graphic>
      </p:graphicFrame>
      <p:sp>
        <p:nvSpPr>
          <p:cNvPr id="4" name="Date Placeholder 3">
            <a:extLst>
              <a:ext uri="{FF2B5EF4-FFF2-40B4-BE49-F238E27FC236}">
                <a16:creationId xmlns:a16="http://schemas.microsoft.com/office/drawing/2014/main" id="{8F950CB2-CE40-A5FF-02B2-1942B2B1656A}"/>
              </a:ext>
            </a:extLst>
          </p:cNvPr>
          <p:cNvSpPr>
            <a:spLocks noGrp="1"/>
          </p:cNvSpPr>
          <p:nvPr>
            <p:ph type="dt" sz="half" idx="10"/>
          </p:nvPr>
        </p:nvSpPr>
        <p:spPr/>
        <p:txBody>
          <a:bodyPr/>
          <a:lstStyle/>
          <a:p>
            <a:r>
              <a:rPr lang="en-US" dirty="0"/>
              <a:t>10/11/25</a:t>
            </a:r>
          </a:p>
        </p:txBody>
      </p:sp>
      <p:sp>
        <p:nvSpPr>
          <p:cNvPr id="5" name="Footer Placeholder 4">
            <a:extLst>
              <a:ext uri="{FF2B5EF4-FFF2-40B4-BE49-F238E27FC236}">
                <a16:creationId xmlns:a16="http://schemas.microsoft.com/office/drawing/2014/main" id="{2091C378-89D0-2CB6-3D3C-0C4A5C62D059}"/>
              </a:ext>
            </a:extLst>
          </p:cNvPr>
          <p:cNvSpPr>
            <a:spLocks noGrp="1"/>
          </p:cNvSpPr>
          <p:nvPr>
            <p:ph type="ftr" sz="quarter" idx="11"/>
          </p:nvPr>
        </p:nvSpPr>
        <p:spPr/>
        <p:txBody>
          <a:bodyPr/>
          <a:lstStyle/>
          <a:p>
            <a:r>
              <a:rPr lang="en-US" dirty="0"/>
              <a:t>Review No. 1     Batch No.CG12         Department of CSE</a:t>
            </a:r>
          </a:p>
        </p:txBody>
      </p:sp>
      <p:sp>
        <p:nvSpPr>
          <p:cNvPr id="6" name="Slide Number Placeholder 5">
            <a:extLst>
              <a:ext uri="{FF2B5EF4-FFF2-40B4-BE49-F238E27FC236}">
                <a16:creationId xmlns:a16="http://schemas.microsoft.com/office/drawing/2014/main" id="{BF1B2109-0477-BE4F-4017-1267A663B932}"/>
              </a:ext>
            </a:extLst>
          </p:cNvPr>
          <p:cNvSpPr>
            <a:spLocks noGrp="1"/>
          </p:cNvSpPr>
          <p:nvPr>
            <p:ph type="sldNum" sz="quarter" idx="12"/>
          </p:nvPr>
        </p:nvSpPr>
        <p:spPr/>
        <p:txBody>
          <a:bodyPr/>
          <a:lstStyle/>
          <a:p>
            <a:fld id="{FFEC67FC-8107-4C00-9415-4D1567E899B9}" type="slidenum">
              <a:rPr lang="en-US" smtClean="0"/>
              <a:t>6</a:t>
            </a:fld>
            <a:endParaRPr lang="en-US"/>
          </a:p>
        </p:txBody>
      </p:sp>
      <p:pic>
        <p:nvPicPr>
          <p:cNvPr id="7" name="Picture 6">
            <a:extLst>
              <a:ext uri="{FF2B5EF4-FFF2-40B4-BE49-F238E27FC236}">
                <a16:creationId xmlns:a16="http://schemas.microsoft.com/office/drawing/2014/main" id="{F1D91217-AD6F-D233-D59A-1B0FF34355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43054"/>
          </a:xfrm>
          <a:prstGeom prst="rect">
            <a:avLst/>
          </a:prstGeom>
        </p:spPr>
      </p:pic>
    </p:spTree>
    <p:extLst>
      <p:ext uri="{BB962C8B-B14F-4D97-AF65-F5344CB8AC3E}">
        <p14:creationId xmlns:p14="http://schemas.microsoft.com/office/powerpoint/2010/main" val="1390854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87237-0CF5-8C1C-9A66-2BA85CE60434}"/>
              </a:ext>
            </a:extLst>
          </p:cNvPr>
          <p:cNvSpPr>
            <a:spLocks noGrp="1"/>
          </p:cNvSpPr>
          <p:nvPr>
            <p:ph type="title"/>
          </p:nvPr>
        </p:nvSpPr>
        <p:spPr>
          <a:xfrm>
            <a:off x="838200" y="365125"/>
            <a:ext cx="10515600" cy="922901"/>
          </a:xfrm>
        </p:spPr>
        <p:txBody>
          <a:bodyPr>
            <a:normAutofit/>
          </a:bodyPr>
          <a:lstStyle/>
          <a:p>
            <a:r>
              <a:rPr lang="en-IN" sz="2400" dirty="0"/>
              <a:t>                                                       </a:t>
            </a:r>
            <a:r>
              <a:rPr lang="en-US" sz="2400" b="1" dirty="0">
                <a:latin typeface="Times New Roman" panose="02020603050405020304" pitchFamily="18" charset="0"/>
                <a:cs typeface="Times New Roman" panose="02020603050405020304" pitchFamily="18" charset="0"/>
              </a:rPr>
              <a:t>Literature Survey</a:t>
            </a:r>
            <a:endParaRPr lang="en-IN" sz="2400" dirty="0"/>
          </a:p>
        </p:txBody>
      </p:sp>
      <p:graphicFrame>
        <p:nvGraphicFramePr>
          <p:cNvPr id="9" name="Content Placeholder 8">
            <a:extLst>
              <a:ext uri="{FF2B5EF4-FFF2-40B4-BE49-F238E27FC236}">
                <a16:creationId xmlns:a16="http://schemas.microsoft.com/office/drawing/2014/main" id="{DAED5A96-7149-479E-A326-CABA6A8C4C04}"/>
              </a:ext>
            </a:extLst>
          </p:cNvPr>
          <p:cNvGraphicFramePr>
            <a:graphicFrameLocks noGrp="1"/>
          </p:cNvGraphicFramePr>
          <p:nvPr>
            <p:ph idx="1"/>
            <p:extLst>
              <p:ext uri="{D42A27DB-BD31-4B8C-83A1-F6EECF244321}">
                <p14:modId xmlns:p14="http://schemas.microsoft.com/office/powerpoint/2010/main" val="4280499835"/>
              </p:ext>
            </p:extLst>
          </p:nvPr>
        </p:nvGraphicFramePr>
        <p:xfrm>
          <a:off x="838200" y="1825625"/>
          <a:ext cx="10515596" cy="2651760"/>
        </p:xfrm>
        <a:graphic>
          <a:graphicData uri="http://schemas.openxmlformats.org/drawingml/2006/table">
            <a:tbl>
              <a:tblPr firstRow="1" bandRow="1">
                <a:tableStyleId>{5C22544A-7EE6-4342-B048-85BDC9FD1C3A}</a:tableStyleId>
              </a:tblPr>
              <a:tblGrid>
                <a:gridCol w="1502228">
                  <a:extLst>
                    <a:ext uri="{9D8B030D-6E8A-4147-A177-3AD203B41FA5}">
                      <a16:colId xmlns:a16="http://schemas.microsoft.com/office/drawing/2014/main" val="4186138785"/>
                    </a:ext>
                  </a:extLst>
                </a:gridCol>
                <a:gridCol w="1502228">
                  <a:extLst>
                    <a:ext uri="{9D8B030D-6E8A-4147-A177-3AD203B41FA5}">
                      <a16:colId xmlns:a16="http://schemas.microsoft.com/office/drawing/2014/main" val="2207540681"/>
                    </a:ext>
                  </a:extLst>
                </a:gridCol>
                <a:gridCol w="1502228">
                  <a:extLst>
                    <a:ext uri="{9D8B030D-6E8A-4147-A177-3AD203B41FA5}">
                      <a16:colId xmlns:a16="http://schemas.microsoft.com/office/drawing/2014/main" val="3035079800"/>
                    </a:ext>
                  </a:extLst>
                </a:gridCol>
                <a:gridCol w="1502228">
                  <a:extLst>
                    <a:ext uri="{9D8B030D-6E8A-4147-A177-3AD203B41FA5}">
                      <a16:colId xmlns:a16="http://schemas.microsoft.com/office/drawing/2014/main" val="3155829692"/>
                    </a:ext>
                  </a:extLst>
                </a:gridCol>
                <a:gridCol w="1502228">
                  <a:extLst>
                    <a:ext uri="{9D8B030D-6E8A-4147-A177-3AD203B41FA5}">
                      <a16:colId xmlns:a16="http://schemas.microsoft.com/office/drawing/2014/main" val="1567210105"/>
                    </a:ext>
                  </a:extLst>
                </a:gridCol>
                <a:gridCol w="1502228">
                  <a:extLst>
                    <a:ext uri="{9D8B030D-6E8A-4147-A177-3AD203B41FA5}">
                      <a16:colId xmlns:a16="http://schemas.microsoft.com/office/drawing/2014/main" val="3798405143"/>
                    </a:ext>
                  </a:extLst>
                </a:gridCol>
                <a:gridCol w="1502228">
                  <a:extLst>
                    <a:ext uri="{9D8B030D-6E8A-4147-A177-3AD203B41FA5}">
                      <a16:colId xmlns:a16="http://schemas.microsoft.com/office/drawing/2014/main" val="2005567570"/>
                    </a:ext>
                  </a:extLst>
                </a:gridCol>
              </a:tblGrid>
              <a:tr h="370840">
                <a:tc>
                  <a:txBody>
                    <a:bodyPr/>
                    <a:lstStyle/>
                    <a:p>
                      <a:r>
                        <a:rPr lang="en-IN" dirty="0">
                          <a:latin typeface="Times New Roman" panose="02020603050405020304" pitchFamily="18" charset="0"/>
                          <a:cs typeface="Times New Roman" panose="02020603050405020304" pitchFamily="18" charset="0"/>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IN" dirty="0">
                          <a:latin typeface="Times New Roman" panose="02020603050405020304" pitchFamily="18" charset="0"/>
                          <a:cs typeface="Times New Roman" panose="02020603050405020304" pitchFamily="18" charset="0"/>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IN" dirty="0">
                          <a:latin typeface="Times New Roman" panose="02020603050405020304" pitchFamily="18" charset="0"/>
                          <a:cs typeface="Times New Roman" panose="02020603050405020304" pitchFamily="18" charset="0"/>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Journal Name &amp;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IN" dirty="0">
                          <a:latin typeface="Times New Roman" panose="02020603050405020304" pitchFamily="18" charset="0"/>
                          <a:cs typeface="Times New Roman" panose="02020603050405020304" pitchFamily="18" charset="0"/>
                        </a:rPr>
                        <a:t>Methodology Adopted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IN" dirty="0">
                          <a:latin typeface="Times New Roman" panose="02020603050405020304" pitchFamily="18" charset="0"/>
                          <a:cs typeface="Times New Roman" panose="02020603050405020304" pitchFamily="18" charset="0"/>
                        </a:rPr>
                        <a:t>Key Findings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IN" dirty="0">
                          <a:latin typeface="Times New Roman" panose="02020603050405020304" pitchFamily="18" charset="0"/>
                          <a:cs typeface="Times New Roman" panose="02020603050405020304" pitchFamily="18" charset="0"/>
                        </a:rPr>
                        <a:t>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4242297367"/>
                  </a:ext>
                </a:extLst>
              </a:tr>
              <a:tr h="370840">
                <a:tc>
                  <a:txBody>
                    <a:bodyPr/>
                    <a:lstStyle/>
                    <a:p>
                      <a:r>
                        <a:rPr lang="en-IN" dirty="0">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anose="02020603050405020304" pitchFamily="18" charset="0"/>
                          <a:cs typeface="Times New Roman" panose="02020603050405020304" pitchFamily="18" charset="0"/>
                        </a:rPr>
                        <a:t>Flood Detection using Spatiotemporal Fusion + Digital Twin</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sv-SE" dirty="0">
                          <a:latin typeface="Times New Roman" panose="02020603050405020304" pitchFamily="18" charset="0"/>
                          <a:cs typeface="Times New Roman" panose="02020603050405020304" pitchFamily="18" charset="0"/>
                        </a:rPr>
                        <a:t>Se-Jung Lim, K. S. Sankaran, A. Haldorai</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https://doi.org/10.1109/JSTARS.2025.3559205</a:t>
                      </a:r>
                    </a:p>
                    <a:p>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anose="02020603050405020304" pitchFamily="18" charset="0"/>
                          <a:cs typeface="Times New Roman" panose="02020603050405020304" pitchFamily="18" charset="0"/>
                        </a:rPr>
                        <a:t>VGG16 for features → fusion → deep RNN + cloud alerting</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anose="02020603050405020304" pitchFamily="18" charset="0"/>
                          <a:cs typeface="Times New Roman" panose="02020603050405020304" pitchFamily="18" charset="0"/>
                        </a:rPr>
                        <a:t>99.89% accuracy and real-time alerts</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anose="02020603050405020304" pitchFamily="18" charset="0"/>
                          <a:cs typeface="Times New Roman" panose="02020603050405020304" pitchFamily="18" charset="0"/>
                        </a:rPr>
                        <a:t>High computation, limited regional testing</a:t>
                      </a:r>
                      <a:endParaRPr lang="en-IN"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0128493"/>
                  </a:ext>
                </a:extLst>
              </a:tr>
            </a:tbl>
          </a:graphicData>
        </a:graphic>
      </p:graphicFrame>
      <p:sp>
        <p:nvSpPr>
          <p:cNvPr id="4" name="Date Placeholder 3">
            <a:extLst>
              <a:ext uri="{FF2B5EF4-FFF2-40B4-BE49-F238E27FC236}">
                <a16:creationId xmlns:a16="http://schemas.microsoft.com/office/drawing/2014/main" id="{843C8196-E96F-7CF6-4DAD-B3A2FE99ACB5}"/>
              </a:ext>
            </a:extLst>
          </p:cNvPr>
          <p:cNvSpPr>
            <a:spLocks noGrp="1"/>
          </p:cNvSpPr>
          <p:nvPr>
            <p:ph type="dt" sz="half" idx="10"/>
          </p:nvPr>
        </p:nvSpPr>
        <p:spPr/>
        <p:txBody>
          <a:bodyPr/>
          <a:lstStyle/>
          <a:p>
            <a:r>
              <a:rPr lang="en-US" dirty="0"/>
              <a:t>10/11/25</a:t>
            </a:r>
          </a:p>
        </p:txBody>
      </p:sp>
      <p:sp>
        <p:nvSpPr>
          <p:cNvPr id="5" name="Footer Placeholder 4">
            <a:extLst>
              <a:ext uri="{FF2B5EF4-FFF2-40B4-BE49-F238E27FC236}">
                <a16:creationId xmlns:a16="http://schemas.microsoft.com/office/drawing/2014/main" id="{928D2B80-9A9D-4925-62AC-1F5F5ACA504C}"/>
              </a:ext>
            </a:extLst>
          </p:cNvPr>
          <p:cNvSpPr>
            <a:spLocks noGrp="1"/>
          </p:cNvSpPr>
          <p:nvPr>
            <p:ph type="ftr" sz="quarter" idx="11"/>
          </p:nvPr>
        </p:nvSpPr>
        <p:spPr/>
        <p:txBody>
          <a:bodyPr/>
          <a:lstStyle/>
          <a:p>
            <a:r>
              <a:rPr lang="en-US" dirty="0"/>
              <a:t>Review No. 1     Batch No.  CG12       Department of CSE</a:t>
            </a:r>
          </a:p>
        </p:txBody>
      </p:sp>
      <p:sp>
        <p:nvSpPr>
          <p:cNvPr id="6" name="Slide Number Placeholder 5">
            <a:extLst>
              <a:ext uri="{FF2B5EF4-FFF2-40B4-BE49-F238E27FC236}">
                <a16:creationId xmlns:a16="http://schemas.microsoft.com/office/drawing/2014/main" id="{F4D60453-DC48-6583-68EB-0E97BA4B2731}"/>
              </a:ext>
            </a:extLst>
          </p:cNvPr>
          <p:cNvSpPr>
            <a:spLocks noGrp="1"/>
          </p:cNvSpPr>
          <p:nvPr>
            <p:ph type="sldNum" sz="quarter" idx="12"/>
          </p:nvPr>
        </p:nvSpPr>
        <p:spPr/>
        <p:txBody>
          <a:bodyPr/>
          <a:lstStyle/>
          <a:p>
            <a:fld id="{FFEC67FC-8107-4C00-9415-4D1567E899B9}" type="slidenum">
              <a:rPr lang="en-US" smtClean="0"/>
              <a:t>7</a:t>
            </a:fld>
            <a:endParaRPr lang="en-US"/>
          </a:p>
        </p:txBody>
      </p:sp>
      <p:pic>
        <p:nvPicPr>
          <p:cNvPr id="7" name="Picture 6">
            <a:extLst>
              <a:ext uri="{FF2B5EF4-FFF2-40B4-BE49-F238E27FC236}">
                <a16:creationId xmlns:a16="http://schemas.microsoft.com/office/drawing/2014/main" id="{E500E4CD-CD88-3380-D469-EDD6BC9841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43054"/>
          </a:xfrm>
          <a:prstGeom prst="rect">
            <a:avLst/>
          </a:prstGeom>
        </p:spPr>
      </p:pic>
    </p:spTree>
    <p:extLst>
      <p:ext uri="{BB962C8B-B14F-4D97-AF65-F5344CB8AC3E}">
        <p14:creationId xmlns:p14="http://schemas.microsoft.com/office/powerpoint/2010/main" val="2505545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5523" y="535893"/>
            <a:ext cx="10515600" cy="878925"/>
          </a:xfrm>
        </p:spPr>
        <p:txBody>
          <a:bodyPr>
            <a:normAutofit/>
          </a:bodyPr>
          <a:lstStyle/>
          <a:p>
            <a:pPr algn="ctr"/>
            <a:r>
              <a:rPr lang="en-US" sz="2800" b="1">
                <a:latin typeface="Times New Roman" panose="02020603050405020304" pitchFamily="18" charset="0"/>
                <a:cs typeface="Times New Roman" panose="02020603050405020304" pitchFamily="18" charset="0"/>
              </a:rPr>
              <a:t>Research Gaps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43054"/>
          </a:xfrm>
          <a:prstGeom prst="rect">
            <a:avLst/>
          </a:prstGeom>
        </p:spPr>
      </p:pic>
      <p:sp>
        <p:nvSpPr>
          <p:cNvPr id="3" name="Content Placeholder 2"/>
          <p:cNvSpPr>
            <a:spLocks noGrp="1"/>
          </p:cNvSpPr>
          <p:nvPr>
            <p:ph idx="1"/>
          </p:nvPr>
        </p:nvSpPr>
        <p:spPr>
          <a:xfrm>
            <a:off x="875523" y="1414818"/>
            <a:ext cx="10515600" cy="4351338"/>
          </a:xfrm>
        </p:spPr>
        <p:txBody>
          <a:bodyPr>
            <a:normAutofit/>
          </a:bodyPr>
          <a:lstStyle/>
          <a:p>
            <a:r>
              <a:rPr lang="en-US" sz="2000" dirty="0">
                <a:latin typeface="Times New Roman" panose="02020603050405020304" pitchFamily="18" charset="0"/>
                <a:cs typeface="Times New Roman" panose="02020603050405020304" pitchFamily="18" charset="0"/>
              </a:rPr>
              <a:t>Earlier models </a:t>
            </a:r>
            <a:r>
              <a:rPr lang="en-US" sz="2000" b="1" dirty="0">
                <a:latin typeface="Times New Roman" panose="02020603050405020304" pitchFamily="18" charset="0"/>
                <a:cs typeface="Times New Roman" panose="02020603050405020304" pitchFamily="18" charset="0"/>
              </a:rPr>
              <a:t>did not capture the full meaning of user reviews</a:t>
            </a:r>
            <a:r>
              <a:rPr lang="en-US" sz="2000" dirty="0">
                <a:latin typeface="Times New Roman" panose="02020603050405020304" pitchFamily="18" charset="0"/>
                <a:cs typeface="Times New Roman" panose="02020603050405020304" pitchFamily="18" charset="0"/>
              </a:rPr>
              <a:t>, leading to weak semantic understanding.</a:t>
            </a:r>
          </a:p>
          <a:p>
            <a:r>
              <a:rPr lang="en-US" sz="2000" dirty="0">
                <a:latin typeface="Times New Roman" panose="02020603050405020304" pitchFamily="18" charset="0"/>
                <a:cs typeface="Times New Roman" panose="02020603050405020304" pitchFamily="18" charset="0"/>
              </a:rPr>
              <a:t>They </a:t>
            </a:r>
            <a:r>
              <a:rPr lang="en-US" sz="2000" b="1" dirty="0">
                <a:latin typeface="Times New Roman" panose="02020603050405020304" pitchFamily="18" charset="0"/>
                <a:cs typeface="Times New Roman" panose="02020603050405020304" pitchFamily="18" charset="0"/>
              </a:rPr>
              <a:t>struggled with noisy and irrelevant data</a:t>
            </a:r>
            <a:r>
              <a:rPr lang="en-US" sz="2000" dirty="0">
                <a:latin typeface="Times New Roman" panose="02020603050405020304" pitchFamily="18" charset="0"/>
                <a:cs typeface="Times New Roman" panose="02020603050405020304" pitchFamily="18" charset="0"/>
              </a:rPr>
              <a:t> in knowledge graphs.</a:t>
            </a:r>
          </a:p>
          <a:p>
            <a:r>
              <a:rPr lang="en-US" sz="2000" dirty="0">
                <a:latin typeface="Times New Roman" panose="02020603050405020304" pitchFamily="18" charset="0"/>
                <a:cs typeface="Times New Roman" panose="02020603050405020304" pitchFamily="18" charset="0"/>
              </a:rPr>
              <a:t>Most systems </a:t>
            </a:r>
            <a:r>
              <a:rPr lang="en-US" sz="2000" b="1" dirty="0">
                <a:latin typeface="Times New Roman" panose="02020603050405020304" pitchFamily="18" charset="0"/>
                <a:cs typeface="Times New Roman" panose="02020603050405020304" pitchFamily="18" charset="0"/>
              </a:rPr>
              <a:t>over-relied on graph structure</a:t>
            </a:r>
            <a:r>
              <a:rPr lang="en-US" sz="2000" dirty="0">
                <a:latin typeface="Times New Roman" panose="02020603050405020304" pitchFamily="18" charset="0"/>
                <a:cs typeface="Times New Roman" panose="02020603050405020304" pitchFamily="18" charset="0"/>
              </a:rPr>
              <a:t> and ignored review content.</a:t>
            </a:r>
          </a:p>
          <a:p>
            <a:r>
              <a:rPr lang="en-US" sz="2000" b="1" dirty="0">
                <a:latin typeface="Times New Roman" panose="02020603050405020304" pitchFamily="18" charset="0"/>
                <a:cs typeface="Times New Roman" panose="02020603050405020304" pitchFamily="18" charset="0"/>
              </a:rPr>
              <a:t>Scalability and real-time performance</a:t>
            </a:r>
            <a:r>
              <a:rPr lang="en-US" sz="2000" dirty="0">
                <a:latin typeface="Times New Roman" panose="02020603050405020304" pitchFamily="18" charset="0"/>
                <a:cs typeface="Times New Roman" panose="02020603050405020304" pitchFamily="18" charset="0"/>
              </a:rPr>
              <a:t> were not well handled in past studies.</a:t>
            </a:r>
          </a:p>
          <a:p>
            <a:r>
              <a:rPr lang="en-US" sz="2000" dirty="0">
                <a:latin typeface="Times New Roman" panose="02020603050405020304" pitchFamily="18" charset="0"/>
                <a:cs typeface="Times New Roman" panose="02020603050405020304" pitchFamily="18" charset="0"/>
              </a:rPr>
              <a:t>There was </a:t>
            </a:r>
            <a:r>
              <a:rPr lang="en-US" sz="2000" b="1" dirty="0">
                <a:latin typeface="Times New Roman" panose="02020603050405020304" pitchFamily="18" charset="0"/>
                <a:cs typeface="Times New Roman" panose="02020603050405020304" pitchFamily="18" charset="0"/>
              </a:rPr>
              <a:t>limited interpretability</a:t>
            </a:r>
            <a:r>
              <a:rPr lang="en-US" sz="2000" dirty="0">
                <a:latin typeface="Times New Roman" panose="02020603050405020304" pitchFamily="18" charset="0"/>
                <a:cs typeface="Times New Roman" panose="02020603050405020304" pitchFamily="18" charset="0"/>
              </a:rPr>
              <a:t> and lack of </a:t>
            </a:r>
            <a:r>
              <a:rPr lang="en-US" sz="2000" b="1" dirty="0">
                <a:latin typeface="Times New Roman" panose="02020603050405020304" pitchFamily="18" charset="0"/>
                <a:cs typeface="Times New Roman" panose="02020603050405020304" pitchFamily="18" charset="0"/>
              </a:rPr>
              <a:t>user-centered evaluation</a:t>
            </a:r>
            <a:r>
              <a:rPr lang="en-US" sz="2000" dirty="0">
                <a:latin typeface="Times New Roman" panose="02020603050405020304" pitchFamily="18" charset="0"/>
                <a:cs typeface="Times New Roman" panose="02020603050405020304" pitchFamily="18" charset="0"/>
              </a:rPr>
              <a:t> in older approaches.</a:t>
            </a:r>
          </a:p>
          <a:p>
            <a:pPr marL="0" lvl="0" indent="0" eaLnBrk="0" fontAlgn="base" hangingPunct="0">
              <a:lnSpc>
                <a:spcPct val="10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Most existing models are region-specific and struggle to generalize across diverse geographic and climatic      conditions.</a:t>
            </a:r>
          </a:p>
          <a:p>
            <a:pPr marL="0" lvl="0" indent="0" eaLnBrk="0" fontAlgn="base" hangingPunct="0">
              <a:lnSpc>
                <a:spcPct val="100000"/>
              </a:lnSpc>
              <a:spcBef>
                <a:spcPct val="0"/>
              </a:spcBef>
              <a:spcAft>
                <a:spcPct val="0"/>
              </a:spcAft>
              <a:buFontTx/>
              <a:buChar char="•"/>
            </a:pPr>
            <a:r>
              <a:rPr lang="en-US" altLang="en-US" sz="2000" dirty="0">
                <a:latin typeface="Times New Roman" panose="02020603050405020304" pitchFamily="18" charset="0"/>
                <a:cs typeface="Times New Roman" panose="02020603050405020304" pitchFamily="18" charset="0"/>
              </a:rPr>
              <a:t>   Many studies rely on single-source data, limiting accuracy when multiple hydrological, climatic, and socio-environmental factors are involved.</a:t>
            </a:r>
          </a:p>
          <a:p>
            <a:endParaRPr lang="en-US" sz="1800" dirty="0">
              <a:latin typeface="Times New Roman" panose="02020603050405020304" pitchFamily="18" charset="0"/>
              <a:cs typeface="Times New Roman" panose="02020603050405020304" pitchFamily="18" charset="0"/>
            </a:endParaRPr>
          </a:p>
          <a:p>
            <a:pPr marL="0" indent="0">
              <a:buNone/>
            </a:pPr>
            <a:endParaRPr lang="en-US" sz="10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r>
              <a:rPr lang="en-US" dirty="0"/>
              <a:t>10/11/25</a:t>
            </a:r>
          </a:p>
        </p:txBody>
      </p:sp>
      <p:sp>
        <p:nvSpPr>
          <p:cNvPr id="6" name="Footer Placeholder 5"/>
          <p:cNvSpPr>
            <a:spLocks noGrp="1"/>
          </p:cNvSpPr>
          <p:nvPr>
            <p:ph type="ftr" sz="quarter" idx="11"/>
          </p:nvPr>
        </p:nvSpPr>
        <p:spPr/>
        <p:txBody>
          <a:bodyPr/>
          <a:lstStyle/>
          <a:p>
            <a:r>
              <a:rPr lang="en-US" dirty="0"/>
              <a:t>Review No. 1     Batch No.CG12         Department of CSE</a:t>
            </a:r>
          </a:p>
        </p:txBody>
      </p:sp>
      <p:sp>
        <p:nvSpPr>
          <p:cNvPr id="7" name="Slide Number Placeholder 6"/>
          <p:cNvSpPr>
            <a:spLocks noGrp="1"/>
          </p:cNvSpPr>
          <p:nvPr>
            <p:ph type="sldNum" sz="quarter" idx="12"/>
          </p:nvPr>
        </p:nvSpPr>
        <p:spPr/>
        <p:txBody>
          <a:bodyPr/>
          <a:lstStyle/>
          <a:p>
            <a:fld id="{FFEC67FC-8107-4C00-9415-4D1567E899B9}" type="slidenum">
              <a:rPr lang="en-US" smtClean="0"/>
              <a:t>8</a:t>
            </a:fld>
            <a:endParaRPr lang="en-US"/>
          </a:p>
        </p:txBody>
      </p:sp>
    </p:spTree>
    <p:extLst>
      <p:ext uri="{BB962C8B-B14F-4D97-AF65-F5344CB8AC3E}">
        <p14:creationId xmlns:p14="http://schemas.microsoft.com/office/powerpoint/2010/main" val="644158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5523" y="535893"/>
            <a:ext cx="10515600" cy="878925"/>
          </a:xfrm>
        </p:spPr>
        <p:txBody>
          <a:bodyPr>
            <a:normAutofit/>
          </a:bodyPr>
          <a:lstStyle/>
          <a:p>
            <a:pPr algn="ctr"/>
            <a:r>
              <a:rPr lang="en-US" sz="2800" b="1">
                <a:latin typeface="Times New Roman" panose="02020603050405020304" pitchFamily="18" charset="0"/>
                <a:cs typeface="Times New Roman" panose="02020603050405020304" pitchFamily="18" charset="0"/>
              </a:rPr>
              <a:t>Problem Statements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43054"/>
          </a:xfrm>
          <a:prstGeom prst="rect">
            <a:avLst/>
          </a:prstGeom>
        </p:spPr>
      </p:pic>
      <p:sp>
        <p:nvSpPr>
          <p:cNvPr id="3" name="Content Placeholder 2"/>
          <p:cNvSpPr>
            <a:spLocks noGrp="1"/>
          </p:cNvSpPr>
          <p:nvPr>
            <p:ph idx="1"/>
          </p:nvPr>
        </p:nvSpPr>
        <p:spPr>
          <a:xfrm>
            <a:off x="875523" y="1414818"/>
            <a:ext cx="10515600" cy="4351338"/>
          </a:xfrm>
        </p:spPr>
        <p:txBody>
          <a:bodyPr>
            <a:normAutofit/>
          </a:bodyPr>
          <a:lstStyle/>
          <a:p>
            <a:pPr marL="114300" indent="0">
              <a:buNone/>
              <a:defRPr/>
            </a:pPr>
            <a:r>
              <a:rPr lang="en-IN" sz="2000" b="1" dirty="0">
                <a:cs typeface="Times New Roman" panose="02020603050405020304" pitchFamily="18" charset="0"/>
              </a:rPr>
              <a:t>-&gt; </a:t>
            </a:r>
            <a:r>
              <a:rPr lang="en-IN" sz="2000" b="1" dirty="0">
                <a:latin typeface="Times New Roman" panose="02020603050405020304" pitchFamily="18" charset="0"/>
                <a:cs typeface="Times New Roman" panose="02020603050405020304" pitchFamily="18" charset="0"/>
              </a:rPr>
              <a:t>Data inconsistency:</a:t>
            </a:r>
          </a:p>
          <a:p>
            <a:pPr marL="114300" indent="0">
              <a:buNone/>
              <a:defRPr/>
            </a:pP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 Missing, noisy, or misaligned data.</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-&gt; </a:t>
            </a:r>
            <a:r>
              <a:rPr lang="en-IN" sz="2000" b="1" dirty="0">
                <a:latin typeface="Times New Roman" panose="02020603050405020304" pitchFamily="18" charset="0"/>
                <a:cs typeface="Times New Roman" panose="02020603050405020304" pitchFamily="18" charset="0"/>
              </a:rPr>
              <a:t>Poor scalability:</a:t>
            </a:r>
            <a:r>
              <a:rPr lang="en-IN" sz="2000" dirty="0">
                <a:latin typeface="Times New Roman" panose="02020603050405020304" pitchFamily="18" charset="0"/>
                <a:cs typeface="Times New Roman" panose="02020603050405020304" pitchFamily="18" charset="0"/>
              </a:rPr>
              <a:t> </a:t>
            </a:r>
          </a:p>
          <a:p>
            <a:pPr marL="114300" indent="0">
              <a:buNone/>
              <a:defRPr/>
            </a:pPr>
            <a:r>
              <a:rPr lang="en-IN" sz="2000" dirty="0">
                <a:latin typeface="Times New Roman" panose="02020603050405020304" pitchFamily="18" charset="0"/>
                <a:cs typeface="Times New Roman" panose="02020603050405020304" pitchFamily="18" charset="0"/>
              </a:rPr>
              <a:t>            Models fail across regions and climates.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-&gt; </a:t>
            </a:r>
            <a:r>
              <a:rPr lang="en-IN" sz="2000" b="1" dirty="0">
                <a:latin typeface="Times New Roman" panose="02020603050405020304" pitchFamily="18" charset="0"/>
                <a:cs typeface="Times New Roman" panose="02020603050405020304" pitchFamily="18" charset="0"/>
              </a:rPr>
              <a:t>Nonlinear patterns:</a:t>
            </a:r>
            <a:r>
              <a:rPr lang="en-IN" sz="2000" dirty="0">
                <a:latin typeface="Times New Roman" panose="02020603050405020304" pitchFamily="18" charset="0"/>
                <a:cs typeface="Times New Roman" panose="02020603050405020304" pitchFamily="18" charset="0"/>
              </a:rPr>
              <a:t> </a:t>
            </a:r>
          </a:p>
          <a:p>
            <a:pPr marL="114300" indent="0">
              <a:buNone/>
              <a:defRPr/>
            </a:pPr>
            <a:r>
              <a:rPr lang="en-IN" sz="2000" dirty="0">
                <a:latin typeface="Times New Roman" panose="02020603050405020304" pitchFamily="18" charset="0"/>
                <a:cs typeface="Times New Roman" panose="02020603050405020304" pitchFamily="18" charset="0"/>
              </a:rPr>
              <a:t>             Hard to capture complex hydrological links.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-&gt; </a:t>
            </a:r>
            <a:r>
              <a:rPr lang="en-IN" sz="2000" b="1" dirty="0">
                <a:latin typeface="Times New Roman" panose="02020603050405020304" pitchFamily="18" charset="0"/>
                <a:cs typeface="Times New Roman" panose="02020603050405020304" pitchFamily="18" charset="0"/>
              </a:rPr>
              <a:t>Generalization gap:</a:t>
            </a:r>
          </a:p>
          <a:p>
            <a:pPr marL="114300" indent="0">
              <a:buNone/>
              <a:defRPr/>
            </a:pPr>
            <a:r>
              <a:rPr lang="en-IN" sz="2000" b="1"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 Models lack cross-climate adaptability.</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-&gt; </a:t>
            </a:r>
            <a:r>
              <a:rPr lang="en-IN" sz="2000" b="1" dirty="0">
                <a:latin typeface="Times New Roman" panose="02020603050405020304" pitchFamily="18" charset="0"/>
                <a:cs typeface="Times New Roman" panose="02020603050405020304" pitchFamily="18" charset="0"/>
              </a:rPr>
              <a:t>Need for improvement:</a:t>
            </a:r>
            <a:r>
              <a:rPr lang="en-IN" sz="2000" dirty="0">
                <a:latin typeface="Times New Roman" panose="02020603050405020304" pitchFamily="18" charset="0"/>
                <a:cs typeface="Times New Roman" panose="02020603050405020304" pitchFamily="18" charset="0"/>
              </a:rPr>
              <a:t> </a:t>
            </a:r>
          </a:p>
          <a:p>
            <a:pPr marL="114300" indent="0">
              <a:buNone/>
              <a:defRPr/>
            </a:pPr>
            <a:r>
              <a:rPr lang="en-IN" sz="2000" dirty="0">
                <a:latin typeface="Times New Roman" panose="02020603050405020304" pitchFamily="18" charset="0"/>
                <a:cs typeface="Times New Roman" panose="02020603050405020304" pitchFamily="18" charset="0"/>
              </a:rPr>
              <a:t>            Require a robust deep learning framework.</a:t>
            </a:r>
          </a:p>
          <a:p>
            <a:endParaRPr lang="en-US" sz="18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r>
              <a:rPr lang="en-US" dirty="0"/>
              <a:t>10/11/25</a:t>
            </a:r>
          </a:p>
        </p:txBody>
      </p:sp>
      <p:sp>
        <p:nvSpPr>
          <p:cNvPr id="6" name="Footer Placeholder 5"/>
          <p:cNvSpPr>
            <a:spLocks noGrp="1"/>
          </p:cNvSpPr>
          <p:nvPr>
            <p:ph type="ftr" sz="quarter" idx="11"/>
          </p:nvPr>
        </p:nvSpPr>
        <p:spPr/>
        <p:txBody>
          <a:bodyPr/>
          <a:lstStyle/>
          <a:p>
            <a:r>
              <a:rPr lang="en-US" dirty="0"/>
              <a:t>Review No. 1     Batch No. CG12        Department of CSE</a:t>
            </a:r>
          </a:p>
        </p:txBody>
      </p:sp>
      <p:sp>
        <p:nvSpPr>
          <p:cNvPr id="7" name="Slide Number Placeholder 6"/>
          <p:cNvSpPr>
            <a:spLocks noGrp="1"/>
          </p:cNvSpPr>
          <p:nvPr>
            <p:ph type="sldNum" sz="quarter" idx="12"/>
          </p:nvPr>
        </p:nvSpPr>
        <p:spPr/>
        <p:txBody>
          <a:bodyPr/>
          <a:lstStyle/>
          <a:p>
            <a:fld id="{FFEC67FC-8107-4C00-9415-4D1567E899B9}" type="slidenum">
              <a:rPr lang="en-US" smtClean="0"/>
              <a:t>9</a:t>
            </a:fld>
            <a:endParaRPr lang="en-US"/>
          </a:p>
        </p:txBody>
      </p:sp>
    </p:spTree>
    <p:extLst>
      <p:ext uri="{BB962C8B-B14F-4D97-AF65-F5344CB8AC3E}">
        <p14:creationId xmlns:p14="http://schemas.microsoft.com/office/powerpoint/2010/main" val="1124860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5523" y="535893"/>
            <a:ext cx="10515600" cy="878925"/>
          </a:xfrm>
        </p:spPr>
        <p:txBody>
          <a:bodyPr>
            <a:normAutofit/>
          </a:bodyPr>
          <a:lstStyle/>
          <a:p>
            <a:pPr algn="ctr"/>
            <a:r>
              <a:rPr lang="en-US" sz="2800" b="1">
                <a:latin typeface="Times New Roman" panose="02020603050405020304" pitchFamily="18" charset="0"/>
                <a:cs typeface="Times New Roman" panose="02020603050405020304" pitchFamily="18" charset="0"/>
              </a:rPr>
              <a:t>Objectives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43054"/>
          </a:xfrm>
          <a:prstGeom prst="rect">
            <a:avLst/>
          </a:prstGeom>
        </p:spPr>
      </p:pic>
      <p:sp>
        <p:nvSpPr>
          <p:cNvPr id="3" name="Content Placeholder 2"/>
          <p:cNvSpPr>
            <a:spLocks noGrp="1"/>
          </p:cNvSpPr>
          <p:nvPr>
            <p:ph idx="1"/>
          </p:nvPr>
        </p:nvSpPr>
        <p:spPr>
          <a:xfrm>
            <a:off x="1032840" y="1522076"/>
            <a:ext cx="10515600" cy="4351338"/>
          </a:xfrm>
        </p:spPr>
        <p:txBody>
          <a:bodyPr>
            <a:normAutofit/>
          </a:bodyPr>
          <a:lstStyle/>
          <a:p>
            <a:pPr marL="0" indent="0">
              <a:buNone/>
            </a:pPr>
            <a:endParaRPr lang="en-IN" sz="1800" b="1" dirty="0"/>
          </a:p>
          <a:p>
            <a:r>
              <a:rPr lang="en-IN" sz="2000" dirty="0">
                <a:latin typeface="Times New Roman" panose="02020603050405020304" pitchFamily="18" charset="0"/>
                <a:cs typeface="Times New Roman" panose="02020603050405020304" pitchFamily="18" charset="0"/>
              </a:rPr>
              <a:t>To develop a multi-regional, data-driven flood forecasting framework using diverse climatic, hydrological, and socio-environmental data.</a:t>
            </a:r>
            <a:endParaRPr lang="en-IN" sz="2000" b="1"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Develop a multi-regional flood forecasting framework using diverse climatic and environmental data.</a:t>
            </a:r>
          </a:p>
          <a:p>
            <a:r>
              <a:rPr lang="en-IN" sz="2000" dirty="0">
                <a:latin typeface="Times New Roman" panose="02020603050405020304" pitchFamily="18" charset="0"/>
                <a:cs typeface="Times New Roman" panose="02020603050405020304" pitchFamily="18" charset="0"/>
              </a:rPr>
              <a:t>Handle data inconsistencies such as missing, noisy, and misaligned data using preprocessing techniques.</a:t>
            </a:r>
          </a:p>
          <a:p>
            <a:r>
              <a:rPr lang="en-IN" sz="2000" dirty="0">
                <a:latin typeface="Times New Roman" panose="02020603050405020304" pitchFamily="18" charset="0"/>
                <a:cs typeface="Times New Roman" panose="02020603050405020304" pitchFamily="18" charset="0"/>
              </a:rPr>
              <a:t>Evaluate and compare classical ML models (Random Forest, XGBoost) and deep learning models (CNN, LSTM, GRU).</a:t>
            </a:r>
          </a:p>
          <a:p>
            <a:r>
              <a:rPr lang="en-IN" sz="2000" dirty="0">
                <a:latin typeface="Times New Roman" panose="02020603050405020304" pitchFamily="18" charset="0"/>
                <a:cs typeface="Times New Roman" panose="02020603050405020304" pitchFamily="18" charset="0"/>
              </a:rPr>
              <a:t>Identify a generalizable model effective across multiple climatic zones.</a:t>
            </a:r>
          </a:p>
          <a:p>
            <a:r>
              <a:rPr lang="en-IN" sz="2000" dirty="0">
                <a:latin typeface="Times New Roman" panose="02020603050405020304" pitchFamily="18" charset="0"/>
                <a:cs typeface="Times New Roman" panose="02020603050405020304" pitchFamily="18" charset="0"/>
              </a:rPr>
              <a:t>Provide a scalable deep learning approach for real-time flood early warning and disaster mitigation.</a:t>
            </a:r>
          </a:p>
          <a:p>
            <a:endParaRPr lang="en-US" sz="1800"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r>
              <a:rPr lang="en-US" dirty="0"/>
              <a:t>10/11/25</a:t>
            </a:r>
          </a:p>
        </p:txBody>
      </p:sp>
      <p:sp>
        <p:nvSpPr>
          <p:cNvPr id="6" name="Footer Placeholder 5"/>
          <p:cNvSpPr>
            <a:spLocks noGrp="1"/>
          </p:cNvSpPr>
          <p:nvPr>
            <p:ph type="ftr" sz="quarter" idx="11"/>
          </p:nvPr>
        </p:nvSpPr>
        <p:spPr/>
        <p:txBody>
          <a:bodyPr/>
          <a:lstStyle/>
          <a:p>
            <a:r>
              <a:rPr lang="en-US" dirty="0"/>
              <a:t>Review No. 1     Batch No. CG12        Department of CSE</a:t>
            </a:r>
          </a:p>
        </p:txBody>
      </p:sp>
      <p:sp>
        <p:nvSpPr>
          <p:cNvPr id="7" name="Slide Number Placeholder 6"/>
          <p:cNvSpPr>
            <a:spLocks noGrp="1"/>
          </p:cNvSpPr>
          <p:nvPr>
            <p:ph type="sldNum" sz="quarter" idx="12"/>
          </p:nvPr>
        </p:nvSpPr>
        <p:spPr/>
        <p:txBody>
          <a:bodyPr/>
          <a:lstStyle/>
          <a:p>
            <a:fld id="{FFEC67FC-8107-4C00-9415-4D1567E899B9}" type="slidenum">
              <a:rPr lang="en-US" smtClean="0"/>
              <a:t>10</a:t>
            </a:fld>
            <a:endParaRPr lang="en-US"/>
          </a:p>
        </p:txBody>
      </p:sp>
    </p:spTree>
    <p:extLst>
      <p:ext uri="{BB962C8B-B14F-4D97-AF65-F5344CB8AC3E}">
        <p14:creationId xmlns:p14="http://schemas.microsoft.com/office/powerpoint/2010/main" val="2442387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58D51-69F9-FDC1-6303-5C0BF1FF3C12}"/>
              </a:ext>
            </a:extLst>
          </p:cNvPr>
          <p:cNvSpPr>
            <a:spLocks noGrp="1"/>
          </p:cNvSpPr>
          <p:nvPr>
            <p:ph type="title"/>
          </p:nvPr>
        </p:nvSpPr>
        <p:spPr>
          <a:xfrm>
            <a:off x="1103671" y="157021"/>
            <a:ext cx="10515600" cy="1325563"/>
          </a:xfrm>
        </p:spPr>
        <p:txBody>
          <a:bodyPr>
            <a:normAutofit/>
          </a:bodyPr>
          <a:lstStyle/>
          <a:p>
            <a:r>
              <a:rPr lang="en-IN" sz="2400" b="1" dirty="0"/>
              <a:t>                                                              </a:t>
            </a:r>
            <a:r>
              <a:rPr lang="en-IN" sz="3600" b="1" dirty="0"/>
              <a:t>Flow Chart</a:t>
            </a:r>
            <a:br>
              <a:rPr lang="en-IN" dirty="0"/>
            </a:br>
            <a:endParaRPr lang="en-IN" dirty="0"/>
          </a:p>
        </p:txBody>
      </p:sp>
      <p:sp>
        <p:nvSpPr>
          <p:cNvPr id="8" name="Content Placeholder 7">
            <a:extLst>
              <a:ext uri="{FF2B5EF4-FFF2-40B4-BE49-F238E27FC236}">
                <a16:creationId xmlns:a16="http://schemas.microsoft.com/office/drawing/2014/main" id="{6ABB4179-A107-6937-3B83-0A70D8C96812}"/>
              </a:ext>
            </a:extLst>
          </p:cNvPr>
          <p:cNvSpPr>
            <a:spLocks noGrp="1"/>
          </p:cNvSpPr>
          <p:nvPr>
            <p:ph idx="1"/>
          </p:nvPr>
        </p:nvSpPr>
        <p:spPr>
          <a:xfrm>
            <a:off x="838200" y="1825624"/>
            <a:ext cx="10515600" cy="4530725"/>
          </a:xfrm>
        </p:spPr>
        <p:txBody>
          <a:bodyPr>
            <a:normAutofit fontScale="92500"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pPr marL="0" indent="0">
              <a:buNone/>
            </a:pPr>
            <a:r>
              <a:rPr lang="en-US" dirty="0"/>
              <a:t>                   </a:t>
            </a:r>
          </a:p>
          <a:p>
            <a:pPr marL="0" indent="0">
              <a:buNone/>
            </a:pPr>
            <a:r>
              <a:rPr lang="en-US" dirty="0"/>
              <a:t>                       </a:t>
            </a:r>
          </a:p>
          <a:p>
            <a:pPr marL="0" indent="0">
              <a:buNone/>
            </a:pPr>
            <a:r>
              <a:rPr lang="en-US" dirty="0"/>
              <a:t>                                 </a:t>
            </a:r>
            <a:r>
              <a:rPr lang="en-US" sz="2600" dirty="0"/>
              <a:t>Fig 1:Architecture for GRU-based Flood Prediction</a:t>
            </a:r>
            <a:endParaRPr lang="en-IN" sz="2600" dirty="0"/>
          </a:p>
          <a:p>
            <a:endParaRPr lang="en-IN" dirty="0"/>
          </a:p>
        </p:txBody>
      </p:sp>
      <p:sp>
        <p:nvSpPr>
          <p:cNvPr id="3" name="Date Placeholder 2">
            <a:extLst>
              <a:ext uri="{FF2B5EF4-FFF2-40B4-BE49-F238E27FC236}">
                <a16:creationId xmlns:a16="http://schemas.microsoft.com/office/drawing/2014/main" id="{4228CB76-BDD2-7202-A2D4-58592FDA81B1}"/>
              </a:ext>
            </a:extLst>
          </p:cNvPr>
          <p:cNvSpPr>
            <a:spLocks noGrp="1"/>
          </p:cNvSpPr>
          <p:nvPr>
            <p:ph type="dt" sz="half" idx="10"/>
          </p:nvPr>
        </p:nvSpPr>
        <p:spPr/>
        <p:txBody>
          <a:bodyPr/>
          <a:lstStyle/>
          <a:p>
            <a:r>
              <a:rPr lang="en-US" dirty="0"/>
              <a:t>10/11/25</a:t>
            </a:r>
          </a:p>
        </p:txBody>
      </p:sp>
      <p:sp>
        <p:nvSpPr>
          <p:cNvPr id="4" name="Footer Placeholder 3">
            <a:extLst>
              <a:ext uri="{FF2B5EF4-FFF2-40B4-BE49-F238E27FC236}">
                <a16:creationId xmlns:a16="http://schemas.microsoft.com/office/drawing/2014/main" id="{A1AC9CF1-51BC-7B60-3E09-69C5FB383F23}"/>
              </a:ext>
            </a:extLst>
          </p:cNvPr>
          <p:cNvSpPr>
            <a:spLocks noGrp="1"/>
          </p:cNvSpPr>
          <p:nvPr>
            <p:ph type="ftr" sz="quarter" idx="11"/>
          </p:nvPr>
        </p:nvSpPr>
        <p:spPr/>
        <p:txBody>
          <a:bodyPr/>
          <a:lstStyle/>
          <a:p>
            <a:r>
              <a:rPr lang="en-US" dirty="0"/>
              <a:t>Review No. 1     Batch No.  CG12       Department of CSE</a:t>
            </a:r>
          </a:p>
        </p:txBody>
      </p:sp>
      <p:sp>
        <p:nvSpPr>
          <p:cNvPr id="5" name="Slide Number Placeholder 4">
            <a:extLst>
              <a:ext uri="{FF2B5EF4-FFF2-40B4-BE49-F238E27FC236}">
                <a16:creationId xmlns:a16="http://schemas.microsoft.com/office/drawing/2014/main" id="{A60DBB1A-8F48-A0F2-65A8-E3925F17D10E}"/>
              </a:ext>
            </a:extLst>
          </p:cNvPr>
          <p:cNvSpPr>
            <a:spLocks noGrp="1"/>
          </p:cNvSpPr>
          <p:nvPr>
            <p:ph type="sldNum" sz="quarter" idx="12"/>
          </p:nvPr>
        </p:nvSpPr>
        <p:spPr/>
        <p:txBody>
          <a:bodyPr/>
          <a:lstStyle/>
          <a:p>
            <a:fld id="{FFEC67FC-8107-4C00-9415-4D1567E899B9}" type="slidenum">
              <a:rPr lang="en-US" smtClean="0"/>
              <a:t>11</a:t>
            </a:fld>
            <a:endParaRPr lang="en-US"/>
          </a:p>
        </p:txBody>
      </p:sp>
      <p:pic>
        <p:nvPicPr>
          <p:cNvPr id="6" name="Picture 5">
            <a:extLst>
              <a:ext uri="{FF2B5EF4-FFF2-40B4-BE49-F238E27FC236}">
                <a16:creationId xmlns:a16="http://schemas.microsoft.com/office/drawing/2014/main" id="{247C4BF8-0DC4-B854-37C2-BD55402E66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43054"/>
          </a:xfrm>
          <a:prstGeom prst="rect">
            <a:avLst/>
          </a:prstGeom>
        </p:spPr>
      </p:pic>
      <p:pic>
        <p:nvPicPr>
          <p:cNvPr id="7" name="Image 2">
            <a:extLst>
              <a:ext uri="{FF2B5EF4-FFF2-40B4-BE49-F238E27FC236}">
                <a16:creationId xmlns:a16="http://schemas.microsoft.com/office/drawing/2014/main" id="{971DA803-B7EB-1141-4E0F-0E65F1EA5768}"/>
              </a:ext>
            </a:extLst>
          </p:cNvPr>
          <p:cNvPicPr>
            <a:picLocks/>
          </p:cNvPicPr>
          <p:nvPr/>
        </p:nvPicPr>
        <p:blipFill>
          <a:blip r:embed="rId3" cstate="print"/>
          <a:stretch>
            <a:fillRect/>
          </a:stretch>
        </p:blipFill>
        <p:spPr>
          <a:xfrm>
            <a:off x="2492478" y="1220461"/>
            <a:ext cx="7207044" cy="4417078"/>
          </a:xfrm>
          <a:prstGeom prst="rect">
            <a:avLst/>
          </a:prstGeom>
        </p:spPr>
      </p:pic>
    </p:spTree>
    <p:extLst>
      <p:ext uri="{BB962C8B-B14F-4D97-AF65-F5344CB8AC3E}">
        <p14:creationId xmlns:p14="http://schemas.microsoft.com/office/powerpoint/2010/main" val="1913802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0184909-FDE4-B970-4313-98BE2E09282E}"/>
              </a:ext>
            </a:extLst>
          </p:cNvPr>
          <p:cNvSpPr>
            <a:spLocks noGrp="1"/>
          </p:cNvSpPr>
          <p:nvPr>
            <p:ph type="title"/>
          </p:nvPr>
        </p:nvSpPr>
        <p:spPr>
          <a:xfrm>
            <a:off x="1759973" y="316198"/>
            <a:ext cx="10515600" cy="1325563"/>
          </a:xfrm>
        </p:spPr>
        <p:txBody>
          <a:bodyPr>
            <a:normAutofit/>
          </a:bodyPr>
          <a:lstStyle/>
          <a:p>
            <a:r>
              <a:rPr lang="en-IN" sz="2000" b="1" dirty="0"/>
              <a:t>                                                    Table 1:Dataset Description</a:t>
            </a:r>
          </a:p>
        </p:txBody>
      </p:sp>
      <p:sp>
        <p:nvSpPr>
          <p:cNvPr id="2" name="Date Placeholder 1">
            <a:extLst>
              <a:ext uri="{FF2B5EF4-FFF2-40B4-BE49-F238E27FC236}">
                <a16:creationId xmlns:a16="http://schemas.microsoft.com/office/drawing/2014/main" id="{92A225C3-AC9A-8E94-20FC-3E2AA6CC0925}"/>
              </a:ext>
            </a:extLst>
          </p:cNvPr>
          <p:cNvSpPr>
            <a:spLocks noGrp="1"/>
          </p:cNvSpPr>
          <p:nvPr>
            <p:ph type="dt" sz="half" idx="10"/>
          </p:nvPr>
        </p:nvSpPr>
        <p:spPr/>
        <p:txBody>
          <a:bodyPr/>
          <a:lstStyle/>
          <a:p>
            <a:fld id="{B60816FE-A55E-4754-BFBC-303C94FAE3B3}" type="datetime1">
              <a:rPr lang="en-US" smtClean="0"/>
              <a:t>12/5/2025</a:t>
            </a:fld>
            <a:endParaRPr lang="en-US"/>
          </a:p>
        </p:txBody>
      </p:sp>
      <p:sp>
        <p:nvSpPr>
          <p:cNvPr id="3" name="Footer Placeholder 2">
            <a:extLst>
              <a:ext uri="{FF2B5EF4-FFF2-40B4-BE49-F238E27FC236}">
                <a16:creationId xmlns:a16="http://schemas.microsoft.com/office/drawing/2014/main" id="{CA1E7B5C-BE55-3759-517E-88171369004A}"/>
              </a:ext>
            </a:extLst>
          </p:cNvPr>
          <p:cNvSpPr>
            <a:spLocks noGrp="1"/>
          </p:cNvSpPr>
          <p:nvPr>
            <p:ph type="ftr" sz="quarter" idx="11"/>
          </p:nvPr>
        </p:nvSpPr>
        <p:spPr/>
        <p:txBody>
          <a:bodyPr/>
          <a:lstStyle/>
          <a:p>
            <a:r>
              <a:rPr lang="en-US"/>
              <a:t>Review No. 1     Batch No.         Department of CSE</a:t>
            </a:r>
          </a:p>
        </p:txBody>
      </p:sp>
      <p:sp>
        <p:nvSpPr>
          <p:cNvPr id="4" name="Slide Number Placeholder 3">
            <a:extLst>
              <a:ext uri="{FF2B5EF4-FFF2-40B4-BE49-F238E27FC236}">
                <a16:creationId xmlns:a16="http://schemas.microsoft.com/office/drawing/2014/main" id="{D71DA223-9E26-CF4A-E60B-B11A9E07801D}"/>
              </a:ext>
            </a:extLst>
          </p:cNvPr>
          <p:cNvSpPr>
            <a:spLocks noGrp="1"/>
          </p:cNvSpPr>
          <p:nvPr>
            <p:ph type="sldNum" sz="quarter" idx="12"/>
          </p:nvPr>
        </p:nvSpPr>
        <p:spPr/>
        <p:txBody>
          <a:bodyPr/>
          <a:lstStyle/>
          <a:p>
            <a:fld id="{FFEC67FC-8107-4C00-9415-4D1567E899B9}" type="slidenum">
              <a:rPr lang="en-US" smtClean="0"/>
              <a:t>12</a:t>
            </a:fld>
            <a:endParaRPr lang="en-US"/>
          </a:p>
        </p:txBody>
      </p:sp>
      <p:pic>
        <p:nvPicPr>
          <p:cNvPr id="5" name="Picture 4">
            <a:extLst>
              <a:ext uri="{FF2B5EF4-FFF2-40B4-BE49-F238E27FC236}">
                <a16:creationId xmlns:a16="http://schemas.microsoft.com/office/drawing/2014/main" id="{DA7F501D-0C7A-779D-B7B8-F6B1D3E29E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43054"/>
          </a:xfrm>
          <a:prstGeom prst="rect">
            <a:avLst/>
          </a:prstGeom>
        </p:spPr>
      </p:pic>
      <p:graphicFrame>
        <p:nvGraphicFramePr>
          <p:cNvPr id="6" name="Table 5">
            <a:extLst>
              <a:ext uri="{FF2B5EF4-FFF2-40B4-BE49-F238E27FC236}">
                <a16:creationId xmlns:a16="http://schemas.microsoft.com/office/drawing/2014/main" id="{66D65218-90C4-1807-FFEC-EF69766C3E28}"/>
              </a:ext>
            </a:extLst>
          </p:cNvPr>
          <p:cNvGraphicFramePr>
            <a:graphicFrameLocks noGrp="1"/>
          </p:cNvGraphicFramePr>
          <p:nvPr>
            <p:extLst>
              <p:ext uri="{D42A27DB-BD31-4B8C-83A1-F6EECF244321}">
                <p14:modId xmlns:p14="http://schemas.microsoft.com/office/powerpoint/2010/main" val="2314372860"/>
              </p:ext>
            </p:extLst>
          </p:nvPr>
        </p:nvGraphicFramePr>
        <p:xfrm>
          <a:off x="2209800" y="1397293"/>
          <a:ext cx="8406581" cy="3818946"/>
        </p:xfrm>
        <a:graphic>
          <a:graphicData uri="http://schemas.openxmlformats.org/drawingml/2006/table">
            <a:tbl>
              <a:tblPr firstRow="1" firstCol="1" lastRow="1" lastCol="1" bandRow="1" bandCol="1">
                <a:tableStyleId>{5C22544A-7EE6-4342-B048-85BDC9FD1C3A}</a:tableStyleId>
              </a:tblPr>
              <a:tblGrid>
                <a:gridCol w="1986116">
                  <a:extLst>
                    <a:ext uri="{9D8B030D-6E8A-4147-A177-3AD203B41FA5}">
                      <a16:colId xmlns:a16="http://schemas.microsoft.com/office/drawing/2014/main" val="2450194851"/>
                    </a:ext>
                  </a:extLst>
                </a:gridCol>
                <a:gridCol w="2071002">
                  <a:extLst>
                    <a:ext uri="{9D8B030D-6E8A-4147-A177-3AD203B41FA5}">
                      <a16:colId xmlns:a16="http://schemas.microsoft.com/office/drawing/2014/main" val="2173924972"/>
                    </a:ext>
                  </a:extLst>
                </a:gridCol>
                <a:gridCol w="2324017">
                  <a:extLst>
                    <a:ext uri="{9D8B030D-6E8A-4147-A177-3AD203B41FA5}">
                      <a16:colId xmlns:a16="http://schemas.microsoft.com/office/drawing/2014/main" val="4117462083"/>
                    </a:ext>
                  </a:extLst>
                </a:gridCol>
                <a:gridCol w="2025446">
                  <a:extLst>
                    <a:ext uri="{9D8B030D-6E8A-4147-A177-3AD203B41FA5}">
                      <a16:colId xmlns:a16="http://schemas.microsoft.com/office/drawing/2014/main" val="1090640939"/>
                    </a:ext>
                  </a:extLst>
                </a:gridCol>
              </a:tblGrid>
              <a:tr h="650010">
                <a:tc>
                  <a:txBody>
                    <a:bodyPr/>
                    <a:lstStyle/>
                    <a:p>
                      <a:pPr algn="ctr">
                        <a:spcBef>
                          <a:spcPts val="145"/>
                        </a:spcBef>
                        <a:buNone/>
                      </a:pPr>
                      <a:r>
                        <a:rPr lang="en-US" sz="1600" b="1" spc="-10" dirty="0">
                          <a:solidFill>
                            <a:schemeClr val="tx1"/>
                          </a:solidFill>
                          <a:effectLst/>
                          <a:latin typeface="Times New Roman" panose="02020603050405020304" pitchFamily="18" charset="0"/>
                          <a:cs typeface="Times New Roman" panose="02020603050405020304" pitchFamily="18" charset="0"/>
                        </a:rPr>
                        <a:t>Source</a:t>
                      </a:r>
                      <a:endParaRPr lang="en-IN" sz="16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spcBef>
                          <a:spcPts val="145"/>
                        </a:spcBef>
                        <a:buNone/>
                      </a:pPr>
                      <a:r>
                        <a:rPr lang="en-US" sz="1600" b="1" spc="-20" dirty="0">
                          <a:solidFill>
                            <a:schemeClr val="tx1"/>
                          </a:solidFill>
                          <a:effectLst/>
                          <a:latin typeface="Times New Roman" panose="02020603050405020304" pitchFamily="18" charset="0"/>
                          <a:cs typeface="Times New Roman" panose="02020603050405020304" pitchFamily="18" charset="0"/>
                        </a:rPr>
                        <a:t>Type</a:t>
                      </a:r>
                      <a:endParaRPr lang="en-IN" sz="16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spcBef>
                          <a:spcPts val="145"/>
                        </a:spcBef>
                        <a:buNone/>
                      </a:pPr>
                      <a:r>
                        <a:rPr lang="en-US" sz="1600" b="1" dirty="0">
                          <a:solidFill>
                            <a:schemeClr val="tx1"/>
                          </a:solidFill>
                          <a:effectLst/>
                          <a:latin typeface="Times New Roman" panose="02020603050405020304" pitchFamily="18" charset="0"/>
                          <a:cs typeface="Times New Roman" panose="02020603050405020304" pitchFamily="18" charset="0"/>
                        </a:rPr>
                        <a:t>Features</a:t>
                      </a:r>
                      <a:r>
                        <a:rPr lang="en-US" sz="1600" b="1" spc="50" dirty="0">
                          <a:solidFill>
                            <a:schemeClr val="tx1"/>
                          </a:solidFill>
                          <a:effectLst/>
                          <a:latin typeface="Times New Roman" panose="02020603050405020304" pitchFamily="18" charset="0"/>
                          <a:cs typeface="Times New Roman" panose="02020603050405020304" pitchFamily="18" charset="0"/>
                        </a:rPr>
                        <a:t> </a:t>
                      </a:r>
                      <a:r>
                        <a:rPr lang="en-US" sz="1600" b="1" spc="-20" dirty="0">
                          <a:solidFill>
                            <a:schemeClr val="tx1"/>
                          </a:solidFill>
                          <a:effectLst/>
                          <a:latin typeface="Times New Roman" panose="02020603050405020304" pitchFamily="18" charset="0"/>
                          <a:cs typeface="Times New Roman" panose="02020603050405020304" pitchFamily="18" charset="0"/>
                        </a:rPr>
                        <a:t>Used</a:t>
                      </a:r>
                      <a:endParaRPr lang="en-IN" sz="16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algn="ctr">
                        <a:spcBef>
                          <a:spcPts val="145"/>
                        </a:spcBef>
                        <a:buNone/>
                      </a:pPr>
                      <a:r>
                        <a:rPr lang="en-US" sz="1600" b="1" spc="-10" dirty="0">
                          <a:solidFill>
                            <a:schemeClr val="tx1"/>
                          </a:solidFill>
                          <a:effectLst/>
                          <a:latin typeface="Times New Roman" panose="02020603050405020304" pitchFamily="18" charset="0"/>
                          <a:cs typeface="Times New Roman" panose="02020603050405020304" pitchFamily="18" charset="0"/>
                        </a:rPr>
                        <a:t>Frequency</a:t>
                      </a:r>
                      <a:endParaRPr lang="en-IN" sz="16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794731583"/>
                  </a:ext>
                </a:extLst>
              </a:tr>
              <a:tr h="454272">
                <a:tc>
                  <a:txBody>
                    <a:bodyPr/>
                    <a:lstStyle/>
                    <a:p>
                      <a:pPr algn="ctr">
                        <a:spcBef>
                          <a:spcPts val="145"/>
                        </a:spcBef>
                        <a:buNone/>
                      </a:pPr>
                      <a:r>
                        <a:rPr lang="en-US" sz="1600" dirty="0">
                          <a:solidFill>
                            <a:schemeClr val="tx1"/>
                          </a:solidFill>
                          <a:effectLst/>
                          <a:latin typeface="Times New Roman" panose="02020603050405020304" pitchFamily="18" charset="0"/>
                          <a:cs typeface="Times New Roman" panose="02020603050405020304" pitchFamily="18" charset="0"/>
                        </a:rPr>
                        <a:t>      NASA</a:t>
                      </a:r>
                      <a:r>
                        <a:rPr lang="en-US" sz="1600" spc="40" dirty="0">
                          <a:solidFill>
                            <a:schemeClr val="tx1"/>
                          </a:solidFill>
                          <a:effectLst/>
                          <a:latin typeface="Times New Roman" panose="02020603050405020304" pitchFamily="18" charset="0"/>
                          <a:cs typeface="Times New Roman" panose="02020603050405020304" pitchFamily="18" charset="0"/>
                        </a:rPr>
                        <a:t> </a:t>
                      </a:r>
                      <a:r>
                        <a:rPr lang="en-US" sz="1600" spc="-10" dirty="0">
                          <a:solidFill>
                            <a:schemeClr val="tx1"/>
                          </a:solidFill>
                          <a:effectLst/>
                          <a:latin typeface="Times New Roman" panose="02020603050405020304" pitchFamily="18" charset="0"/>
                          <a:cs typeface="Times New Roman" panose="02020603050405020304" pitchFamily="18" charset="0"/>
                        </a:rPr>
                        <a:t>POWER</a:t>
                      </a:r>
                      <a:endParaRPr lang="en-IN"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Bef>
                          <a:spcPts val="145"/>
                        </a:spcBef>
                        <a:buNone/>
                      </a:pPr>
                      <a:r>
                        <a:rPr lang="en-US" sz="1600" b="0" dirty="0">
                          <a:solidFill>
                            <a:schemeClr val="tx1"/>
                          </a:solidFill>
                          <a:effectLst/>
                          <a:latin typeface="Times New Roman" panose="02020603050405020304" pitchFamily="18" charset="0"/>
                          <a:cs typeface="Times New Roman" panose="02020603050405020304" pitchFamily="18" charset="0"/>
                        </a:rPr>
                        <a:t> Climate</a:t>
                      </a:r>
                      <a:r>
                        <a:rPr lang="en-US" sz="1600" b="0" spc="60" dirty="0">
                          <a:solidFill>
                            <a:schemeClr val="tx1"/>
                          </a:solidFill>
                          <a:effectLst/>
                          <a:latin typeface="Times New Roman" panose="02020603050405020304" pitchFamily="18" charset="0"/>
                          <a:cs typeface="Times New Roman" panose="02020603050405020304" pitchFamily="18" charset="0"/>
                        </a:rPr>
                        <a:t> </a:t>
                      </a:r>
                      <a:r>
                        <a:rPr lang="en-US" sz="1600" b="0" dirty="0">
                          <a:solidFill>
                            <a:schemeClr val="tx1"/>
                          </a:solidFill>
                          <a:effectLst/>
                          <a:latin typeface="Times New Roman" panose="02020603050405020304" pitchFamily="18" charset="0"/>
                          <a:cs typeface="Times New Roman" panose="02020603050405020304" pitchFamily="18" charset="0"/>
                        </a:rPr>
                        <a:t>(rainfall,</a:t>
                      </a:r>
                      <a:r>
                        <a:rPr lang="en-US" sz="1600" b="0" spc="60" dirty="0">
                          <a:solidFill>
                            <a:schemeClr val="tx1"/>
                          </a:solidFill>
                          <a:effectLst/>
                          <a:latin typeface="Times New Roman" panose="02020603050405020304" pitchFamily="18" charset="0"/>
                          <a:cs typeface="Times New Roman" panose="02020603050405020304" pitchFamily="18" charset="0"/>
                        </a:rPr>
                        <a:t> </a:t>
                      </a:r>
                      <a:r>
                        <a:rPr lang="en-US" sz="1600" b="0" spc="-10" dirty="0">
                          <a:solidFill>
                            <a:schemeClr val="tx1"/>
                          </a:solidFill>
                          <a:effectLst/>
                          <a:latin typeface="Times New Roman" panose="02020603050405020304" pitchFamily="18" charset="0"/>
                          <a:cs typeface="Times New Roman" panose="02020603050405020304" pitchFamily="18" charset="0"/>
                        </a:rPr>
                        <a:t>temp)</a:t>
                      </a:r>
                      <a:endParaRPr lang="en-IN" sz="16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Bef>
                          <a:spcPts val="145"/>
                        </a:spcBef>
                        <a:buNone/>
                      </a:pPr>
                      <a:r>
                        <a:rPr lang="en-US" sz="1600" b="0" dirty="0">
                          <a:solidFill>
                            <a:schemeClr val="tx1"/>
                          </a:solidFill>
                          <a:effectLst/>
                          <a:latin typeface="Times New Roman" panose="02020603050405020304" pitchFamily="18" charset="0"/>
                          <a:cs typeface="Times New Roman" panose="02020603050405020304" pitchFamily="18" charset="0"/>
                        </a:rPr>
                        <a:t>Rainfall,</a:t>
                      </a:r>
                      <a:r>
                        <a:rPr lang="en-US" sz="1600" b="0" spc="50" dirty="0">
                          <a:solidFill>
                            <a:schemeClr val="tx1"/>
                          </a:solidFill>
                          <a:effectLst/>
                          <a:latin typeface="Times New Roman" panose="02020603050405020304" pitchFamily="18" charset="0"/>
                          <a:cs typeface="Times New Roman" panose="02020603050405020304" pitchFamily="18" charset="0"/>
                        </a:rPr>
                        <a:t> </a:t>
                      </a:r>
                      <a:r>
                        <a:rPr lang="en-US" sz="1600" b="0" spc="-10" dirty="0">
                          <a:solidFill>
                            <a:schemeClr val="tx1"/>
                          </a:solidFill>
                          <a:effectLst/>
                          <a:latin typeface="Times New Roman" panose="02020603050405020304" pitchFamily="18" charset="0"/>
                          <a:cs typeface="Times New Roman" panose="02020603050405020304" pitchFamily="18" charset="0"/>
                        </a:rPr>
                        <a:t>Temperature</a:t>
                      </a:r>
                      <a:endParaRPr lang="en-IN" sz="16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Bef>
                          <a:spcPts val="145"/>
                        </a:spcBef>
                        <a:buNone/>
                      </a:pPr>
                      <a:r>
                        <a:rPr lang="en-US" sz="1600" b="0" spc="-10" dirty="0">
                          <a:solidFill>
                            <a:schemeClr val="tx1"/>
                          </a:solidFill>
                          <a:effectLst/>
                          <a:latin typeface="Times New Roman" panose="02020603050405020304" pitchFamily="18" charset="0"/>
                          <a:cs typeface="Times New Roman" panose="02020603050405020304" pitchFamily="18" charset="0"/>
                        </a:rPr>
                        <a:t>Daily</a:t>
                      </a:r>
                      <a:endParaRPr lang="en-IN" sz="16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84203105"/>
                  </a:ext>
                </a:extLst>
              </a:tr>
              <a:tr h="540774">
                <a:tc>
                  <a:txBody>
                    <a:bodyPr/>
                    <a:lstStyle/>
                    <a:p>
                      <a:pPr algn="ctr">
                        <a:spcBef>
                          <a:spcPts val="145"/>
                        </a:spcBef>
                        <a:buNone/>
                      </a:pPr>
                      <a:r>
                        <a:rPr lang="en-US" sz="1600" spc="-20" dirty="0">
                          <a:solidFill>
                            <a:schemeClr val="tx1"/>
                          </a:solidFill>
                          <a:effectLst/>
                          <a:latin typeface="Times New Roman" panose="02020603050405020304" pitchFamily="18" charset="0"/>
                          <a:cs typeface="Times New Roman" panose="02020603050405020304" pitchFamily="18" charset="0"/>
                        </a:rPr>
                        <a:t>             SMAP</a:t>
                      </a:r>
                      <a:endParaRPr lang="en-IN"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Bef>
                          <a:spcPts val="145"/>
                        </a:spcBef>
                        <a:buNone/>
                      </a:pPr>
                      <a:r>
                        <a:rPr lang="en-US" sz="1600" b="0" spc="-10" dirty="0">
                          <a:solidFill>
                            <a:schemeClr val="tx1"/>
                          </a:solidFill>
                          <a:effectLst/>
                          <a:latin typeface="Times New Roman" panose="02020603050405020304" pitchFamily="18" charset="0"/>
                          <a:cs typeface="Times New Roman" panose="02020603050405020304" pitchFamily="18" charset="0"/>
                        </a:rPr>
                        <a:t>          Hydrological</a:t>
                      </a:r>
                      <a:endParaRPr lang="en-IN" sz="16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Bef>
                          <a:spcPts val="145"/>
                        </a:spcBef>
                        <a:buNone/>
                      </a:pPr>
                      <a:r>
                        <a:rPr lang="en-US" sz="1600" b="0">
                          <a:solidFill>
                            <a:schemeClr val="tx1"/>
                          </a:solidFill>
                          <a:effectLst/>
                          <a:latin typeface="Times New Roman" panose="02020603050405020304" pitchFamily="18" charset="0"/>
                          <a:cs typeface="Times New Roman" panose="02020603050405020304" pitchFamily="18" charset="0"/>
                        </a:rPr>
                        <a:t>Soil</a:t>
                      </a:r>
                      <a:r>
                        <a:rPr lang="en-US" sz="1600" b="0" spc="55">
                          <a:solidFill>
                            <a:schemeClr val="tx1"/>
                          </a:solidFill>
                          <a:effectLst/>
                          <a:latin typeface="Times New Roman" panose="02020603050405020304" pitchFamily="18" charset="0"/>
                          <a:cs typeface="Times New Roman" panose="02020603050405020304" pitchFamily="18" charset="0"/>
                        </a:rPr>
                        <a:t> </a:t>
                      </a:r>
                      <a:r>
                        <a:rPr lang="en-US" sz="1600" b="0" spc="-10">
                          <a:solidFill>
                            <a:schemeClr val="tx1"/>
                          </a:solidFill>
                          <a:effectLst/>
                          <a:latin typeface="Times New Roman" panose="02020603050405020304" pitchFamily="18" charset="0"/>
                          <a:cs typeface="Times New Roman" panose="02020603050405020304" pitchFamily="18" charset="0"/>
                        </a:rPr>
                        <a:t>Moisture</a:t>
                      </a:r>
                      <a:endParaRPr lang="en-IN" sz="1600" b="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Bef>
                          <a:spcPts val="145"/>
                        </a:spcBef>
                        <a:buNone/>
                      </a:pPr>
                      <a:r>
                        <a:rPr lang="en-US" sz="1600" b="0" spc="-10">
                          <a:solidFill>
                            <a:schemeClr val="tx1"/>
                          </a:solidFill>
                          <a:effectLst/>
                          <a:latin typeface="Times New Roman" panose="02020603050405020304" pitchFamily="18" charset="0"/>
                          <a:cs typeface="Times New Roman" panose="02020603050405020304" pitchFamily="18" charset="0"/>
                        </a:rPr>
                        <a:t>Daily</a:t>
                      </a:r>
                      <a:endParaRPr lang="en-IN" sz="1600" b="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80590563"/>
                  </a:ext>
                </a:extLst>
              </a:tr>
              <a:tr h="424733">
                <a:tc>
                  <a:txBody>
                    <a:bodyPr/>
                    <a:lstStyle/>
                    <a:p>
                      <a:pPr algn="ctr">
                        <a:spcBef>
                          <a:spcPts val="145"/>
                        </a:spcBef>
                        <a:buNone/>
                      </a:pPr>
                      <a:r>
                        <a:rPr lang="en-US" sz="1600" spc="-10" dirty="0">
                          <a:solidFill>
                            <a:schemeClr val="tx1"/>
                          </a:solidFill>
                          <a:effectLst/>
                          <a:latin typeface="Times New Roman" panose="02020603050405020304" pitchFamily="18" charset="0"/>
                          <a:cs typeface="Times New Roman" panose="02020603050405020304" pitchFamily="18" charset="0"/>
                        </a:rPr>
                        <a:t>           MODIS</a:t>
                      </a:r>
                      <a:endParaRPr lang="en-IN"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Bef>
                          <a:spcPts val="145"/>
                        </a:spcBef>
                        <a:buNone/>
                      </a:pPr>
                      <a:r>
                        <a:rPr lang="en-US" sz="1600" b="0" dirty="0">
                          <a:solidFill>
                            <a:schemeClr val="tx1"/>
                          </a:solidFill>
                          <a:effectLst/>
                          <a:latin typeface="Times New Roman" panose="02020603050405020304" pitchFamily="18" charset="0"/>
                          <a:cs typeface="Times New Roman" panose="02020603050405020304" pitchFamily="18" charset="0"/>
                        </a:rPr>
                        <a:t>      Land</a:t>
                      </a:r>
                      <a:r>
                        <a:rPr lang="en-US" sz="1600" b="0" spc="55" dirty="0">
                          <a:solidFill>
                            <a:schemeClr val="tx1"/>
                          </a:solidFill>
                          <a:effectLst/>
                          <a:latin typeface="Times New Roman" panose="02020603050405020304" pitchFamily="18" charset="0"/>
                          <a:cs typeface="Times New Roman" panose="02020603050405020304" pitchFamily="18" charset="0"/>
                        </a:rPr>
                        <a:t> </a:t>
                      </a:r>
                      <a:r>
                        <a:rPr lang="en-US" sz="1600" b="0" spc="-10" dirty="0">
                          <a:solidFill>
                            <a:schemeClr val="tx1"/>
                          </a:solidFill>
                          <a:effectLst/>
                          <a:latin typeface="Times New Roman" panose="02020603050405020304" pitchFamily="18" charset="0"/>
                          <a:cs typeface="Times New Roman" panose="02020603050405020304" pitchFamily="18" charset="0"/>
                        </a:rPr>
                        <a:t>Cover</a:t>
                      </a:r>
                      <a:endParaRPr lang="en-IN" sz="16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Bef>
                          <a:spcPts val="145"/>
                        </a:spcBef>
                        <a:buNone/>
                      </a:pPr>
                      <a:r>
                        <a:rPr lang="en-US" sz="1600" b="0" dirty="0">
                          <a:solidFill>
                            <a:schemeClr val="tx1"/>
                          </a:solidFill>
                          <a:effectLst/>
                          <a:latin typeface="Times New Roman" panose="02020603050405020304" pitchFamily="18" charset="0"/>
                          <a:cs typeface="Times New Roman" panose="02020603050405020304" pitchFamily="18" charset="0"/>
                        </a:rPr>
                        <a:t>Vegetation</a:t>
                      </a:r>
                      <a:r>
                        <a:rPr lang="en-US" sz="1600" b="0" spc="25" dirty="0">
                          <a:solidFill>
                            <a:schemeClr val="tx1"/>
                          </a:solidFill>
                          <a:effectLst/>
                          <a:latin typeface="Times New Roman" panose="02020603050405020304" pitchFamily="18" charset="0"/>
                          <a:cs typeface="Times New Roman" panose="02020603050405020304" pitchFamily="18" charset="0"/>
                        </a:rPr>
                        <a:t> </a:t>
                      </a:r>
                      <a:r>
                        <a:rPr lang="en-US" sz="1600" b="0" dirty="0">
                          <a:solidFill>
                            <a:schemeClr val="tx1"/>
                          </a:solidFill>
                          <a:effectLst/>
                          <a:latin typeface="Times New Roman" panose="02020603050405020304" pitchFamily="18" charset="0"/>
                          <a:cs typeface="Times New Roman" panose="02020603050405020304" pitchFamily="18" charset="0"/>
                        </a:rPr>
                        <a:t>Type,</a:t>
                      </a:r>
                      <a:r>
                        <a:rPr lang="en-US" sz="1600" b="0" spc="30" dirty="0">
                          <a:solidFill>
                            <a:schemeClr val="tx1"/>
                          </a:solidFill>
                          <a:effectLst/>
                          <a:latin typeface="Times New Roman" panose="02020603050405020304" pitchFamily="18" charset="0"/>
                          <a:cs typeface="Times New Roman" panose="02020603050405020304" pitchFamily="18" charset="0"/>
                        </a:rPr>
                        <a:t> </a:t>
                      </a:r>
                      <a:r>
                        <a:rPr lang="en-US" sz="1600" b="0" dirty="0">
                          <a:solidFill>
                            <a:schemeClr val="tx1"/>
                          </a:solidFill>
                          <a:effectLst/>
                          <a:latin typeface="Times New Roman" panose="02020603050405020304" pitchFamily="18" charset="0"/>
                          <a:cs typeface="Times New Roman" panose="02020603050405020304" pitchFamily="18" charset="0"/>
                        </a:rPr>
                        <a:t>Urban</a:t>
                      </a:r>
                      <a:r>
                        <a:rPr lang="en-US" sz="1600" b="0" spc="25" dirty="0">
                          <a:solidFill>
                            <a:schemeClr val="tx1"/>
                          </a:solidFill>
                          <a:effectLst/>
                          <a:latin typeface="Times New Roman" panose="02020603050405020304" pitchFamily="18" charset="0"/>
                          <a:cs typeface="Times New Roman" panose="02020603050405020304" pitchFamily="18" charset="0"/>
                        </a:rPr>
                        <a:t> </a:t>
                      </a:r>
                      <a:r>
                        <a:rPr lang="en-US" sz="1600" b="0" spc="-10" dirty="0">
                          <a:solidFill>
                            <a:schemeClr val="tx1"/>
                          </a:solidFill>
                          <a:effectLst/>
                          <a:latin typeface="Times New Roman" panose="02020603050405020304" pitchFamily="18" charset="0"/>
                          <a:cs typeface="Times New Roman" panose="02020603050405020304" pitchFamily="18" charset="0"/>
                        </a:rPr>
                        <a:t>Cover</a:t>
                      </a:r>
                      <a:endParaRPr lang="en-IN" sz="16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Bef>
                          <a:spcPts val="145"/>
                        </a:spcBef>
                        <a:buNone/>
                      </a:pPr>
                      <a:r>
                        <a:rPr lang="en-US" sz="1600" b="0" spc="-10">
                          <a:solidFill>
                            <a:schemeClr val="tx1"/>
                          </a:solidFill>
                          <a:effectLst/>
                          <a:latin typeface="Times New Roman" panose="02020603050405020304" pitchFamily="18" charset="0"/>
                          <a:cs typeface="Times New Roman" panose="02020603050405020304" pitchFamily="18" charset="0"/>
                        </a:rPr>
                        <a:t>Yearly</a:t>
                      </a:r>
                      <a:endParaRPr lang="en-IN" sz="1600" b="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85684148"/>
                  </a:ext>
                </a:extLst>
              </a:tr>
              <a:tr h="1065815">
                <a:tc>
                  <a:txBody>
                    <a:bodyPr/>
                    <a:lstStyle/>
                    <a:p>
                      <a:pPr algn="ctr">
                        <a:spcBef>
                          <a:spcPts val="145"/>
                        </a:spcBef>
                        <a:buNone/>
                      </a:pPr>
                      <a:r>
                        <a:rPr lang="en-US" sz="1600" dirty="0">
                          <a:solidFill>
                            <a:schemeClr val="tx1"/>
                          </a:solidFill>
                          <a:effectLst/>
                          <a:latin typeface="Times New Roman" panose="02020603050405020304" pitchFamily="18" charset="0"/>
                          <a:cs typeface="Times New Roman" panose="02020603050405020304" pitchFamily="18" charset="0"/>
                        </a:rPr>
                        <a:t>  Socio-</a:t>
                      </a:r>
                      <a:r>
                        <a:rPr lang="en-US" sz="1600" spc="-10" dirty="0">
                          <a:solidFill>
                            <a:schemeClr val="tx1"/>
                          </a:solidFill>
                          <a:effectLst/>
                          <a:latin typeface="Times New Roman" panose="02020603050405020304" pitchFamily="18" charset="0"/>
                          <a:cs typeface="Times New Roman" panose="02020603050405020304" pitchFamily="18" charset="0"/>
                        </a:rPr>
                        <a:t>Environmental</a:t>
                      </a:r>
                      <a:endParaRPr lang="en-IN"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Bef>
                          <a:spcPts val="145"/>
                        </a:spcBef>
                        <a:buNone/>
                      </a:pPr>
                      <a:r>
                        <a:rPr lang="en-US" sz="1600" b="0" dirty="0">
                          <a:solidFill>
                            <a:schemeClr val="tx1"/>
                          </a:solidFill>
                          <a:effectLst/>
                          <a:latin typeface="Times New Roman" panose="02020603050405020304" pitchFamily="18" charset="0"/>
                          <a:cs typeface="Times New Roman" panose="02020603050405020304" pitchFamily="18" charset="0"/>
                        </a:rPr>
                        <a:t>  Infrastructure,</a:t>
                      </a:r>
                      <a:r>
                        <a:rPr lang="en-US" sz="1600" b="0" spc="65" dirty="0">
                          <a:solidFill>
                            <a:schemeClr val="tx1"/>
                          </a:solidFill>
                          <a:effectLst/>
                          <a:latin typeface="Times New Roman" panose="02020603050405020304" pitchFamily="18" charset="0"/>
                          <a:cs typeface="Times New Roman" panose="02020603050405020304" pitchFamily="18" charset="0"/>
                        </a:rPr>
                        <a:t> </a:t>
                      </a:r>
                      <a:r>
                        <a:rPr lang="en-US" sz="1600" b="0" dirty="0">
                          <a:solidFill>
                            <a:schemeClr val="tx1"/>
                          </a:solidFill>
                          <a:effectLst/>
                          <a:latin typeface="Times New Roman" panose="02020603050405020304" pitchFamily="18" charset="0"/>
                          <a:cs typeface="Times New Roman" panose="02020603050405020304" pitchFamily="18" charset="0"/>
                        </a:rPr>
                        <a:t>Human</a:t>
                      </a:r>
                      <a:r>
                        <a:rPr lang="en-US" sz="1600" b="0" spc="70" dirty="0">
                          <a:solidFill>
                            <a:schemeClr val="tx1"/>
                          </a:solidFill>
                          <a:effectLst/>
                          <a:latin typeface="Times New Roman" panose="02020603050405020304" pitchFamily="18" charset="0"/>
                          <a:cs typeface="Times New Roman" panose="02020603050405020304" pitchFamily="18" charset="0"/>
                        </a:rPr>
                        <a:t>        </a:t>
                      </a:r>
                      <a:r>
                        <a:rPr lang="en-US" sz="1600" b="0" spc="-10" dirty="0">
                          <a:solidFill>
                            <a:schemeClr val="tx1"/>
                          </a:solidFill>
                          <a:effectLst/>
                          <a:latin typeface="Times New Roman" panose="02020603050405020304" pitchFamily="18" charset="0"/>
                          <a:cs typeface="Times New Roman" panose="02020603050405020304" pitchFamily="18" charset="0"/>
                        </a:rPr>
                        <a:t>Factors</a:t>
                      </a:r>
                      <a:endParaRPr lang="en-IN" sz="16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Bef>
                          <a:spcPts val="145"/>
                        </a:spcBef>
                        <a:buNone/>
                      </a:pPr>
                      <a:r>
                        <a:rPr lang="en-US" sz="1600" b="0" dirty="0">
                          <a:solidFill>
                            <a:schemeClr val="tx1"/>
                          </a:solidFill>
                          <a:effectLst/>
                          <a:latin typeface="Times New Roman" panose="02020603050405020304" pitchFamily="18" charset="0"/>
                          <a:cs typeface="Times New Roman" panose="02020603050405020304" pitchFamily="18" charset="0"/>
                        </a:rPr>
                        <a:t>20+</a:t>
                      </a:r>
                      <a:r>
                        <a:rPr lang="en-US" sz="1600" b="0" spc="60" dirty="0">
                          <a:solidFill>
                            <a:schemeClr val="tx1"/>
                          </a:solidFill>
                          <a:effectLst/>
                          <a:latin typeface="Times New Roman" panose="02020603050405020304" pitchFamily="18" charset="0"/>
                          <a:cs typeface="Times New Roman" panose="02020603050405020304" pitchFamily="18" charset="0"/>
                        </a:rPr>
                        <a:t> </a:t>
                      </a:r>
                      <a:r>
                        <a:rPr lang="en-US" sz="1600" b="0" dirty="0">
                          <a:solidFill>
                            <a:schemeClr val="tx1"/>
                          </a:solidFill>
                          <a:effectLst/>
                          <a:latin typeface="Times New Roman" panose="02020603050405020304" pitchFamily="18" charset="0"/>
                          <a:cs typeface="Times New Roman" panose="02020603050405020304" pitchFamily="18" charset="0"/>
                        </a:rPr>
                        <a:t>indicators</a:t>
                      </a:r>
                      <a:r>
                        <a:rPr lang="en-US" sz="1600" b="0" spc="65" dirty="0">
                          <a:solidFill>
                            <a:schemeClr val="tx1"/>
                          </a:solidFill>
                          <a:effectLst/>
                          <a:latin typeface="Times New Roman" panose="02020603050405020304" pitchFamily="18" charset="0"/>
                          <a:cs typeface="Times New Roman" panose="02020603050405020304" pitchFamily="18" charset="0"/>
                        </a:rPr>
                        <a:t> </a:t>
                      </a:r>
                      <a:r>
                        <a:rPr lang="en-US" sz="1600" b="0" dirty="0">
                          <a:solidFill>
                            <a:schemeClr val="tx1"/>
                          </a:solidFill>
                          <a:effectLst/>
                          <a:latin typeface="Times New Roman" panose="02020603050405020304" pitchFamily="18" charset="0"/>
                          <a:cs typeface="Times New Roman" panose="02020603050405020304" pitchFamily="18" charset="0"/>
                        </a:rPr>
                        <a:t>(e.g.,</a:t>
                      </a:r>
                      <a:r>
                        <a:rPr lang="en-US" sz="1600" b="0" spc="65" dirty="0">
                          <a:solidFill>
                            <a:schemeClr val="tx1"/>
                          </a:solidFill>
                          <a:effectLst/>
                          <a:latin typeface="Times New Roman" panose="02020603050405020304" pitchFamily="18" charset="0"/>
                          <a:cs typeface="Times New Roman" panose="02020603050405020304" pitchFamily="18" charset="0"/>
                        </a:rPr>
                        <a:t> </a:t>
                      </a:r>
                      <a:r>
                        <a:rPr lang="en-US" sz="1600" b="0" dirty="0">
                          <a:solidFill>
                            <a:schemeClr val="tx1"/>
                          </a:solidFill>
                          <a:effectLst/>
                          <a:latin typeface="Times New Roman" panose="02020603050405020304" pitchFamily="18" charset="0"/>
                          <a:cs typeface="Times New Roman" panose="02020603050405020304" pitchFamily="18" charset="0"/>
                        </a:rPr>
                        <a:t>Urbanization,</a:t>
                      </a:r>
                      <a:r>
                        <a:rPr lang="en-US" sz="1600" b="0" spc="65" dirty="0">
                          <a:solidFill>
                            <a:schemeClr val="tx1"/>
                          </a:solidFill>
                          <a:effectLst/>
                          <a:latin typeface="Times New Roman" panose="02020603050405020304" pitchFamily="18" charset="0"/>
                          <a:cs typeface="Times New Roman" panose="02020603050405020304" pitchFamily="18" charset="0"/>
                        </a:rPr>
                        <a:t> </a:t>
                      </a:r>
                      <a:r>
                        <a:rPr lang="en-US" sz="1600" b="0" spc="-10" dirty="0">
                          <a:solidFill>
                            <a:schemeClr val="tx1"/>
                          </a:solidFill>
                          <a:effectLst/>
                          <a:latin typeface="Times New Roman" panose="02020603050405020304" pitchFamily="18" charset="0"/>
                          <a:cs typeface="Times New Roman" panose="02020603050405020304" pitchFamily="18" charset="0"/>
                        </a:rPr>
                        <a:t>Deforestation)</a:t>
                      </a:r>
                      <a:endParaRPr lang="en-IN" sz="16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Bef>
                          <a:spcPts val="145"/>
                        </a:spcBef>
                        <a:buNone/>
                      </a:pPr>
                      <a:r>
                        <a:rPr lang="en-US" sz="1600" b="0" spc="-10" dirty="0">
                          <a:solidFill>
                            <a:schemeClr val="tx1"/>
                          </a:solidFill>
                          <a:effectLst/>
                          <a:latin typeface="Times New Roman" panose="02020603050405020304" pitchFamily="18" charset="0"/>
                          <a:cs typeface="Times New Roman" panose="02020603050405020304" pitchFamily="18" charset="0"/>
                        </a:rPr>
                        <a:t>Annual</a:t>
                      </a:r>
                      <a:endParaRPr lang="en-IN" sz="16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02891608"/>
                  </a:ext>
                </a:extLst>
              </a:tr>
              <a:tr h="620395">
                <a:tc>
                  <a:txBody>
                    <a:bodyPr/>
                    <a:lstStyle/>
                    <a:p>
                      <a:pPr algn="ctr">
                        <a:spcBef>
                          <a:spcPts val="145"/>
                        </a:spcBef>
                        <a:buNone/>
                      </a:pPr>
                      <a:r>
                        <a:rPr lang="en-US" sz="1600" dirty="0">
                          <a:solidFill>
                            <a:schemeClr val="tx1"/>
                          </a:solidFill>
                          <a:effectLst/>
                          <a:latin typeface="Times New Roman" panose="02020603050405020304" pitchFamily="18" charset="0"/>
                          <a:cs typeface="Times New Roman" panose="02020603050405020304" pitchFamily="18" charset="0"/>
                        </a:rPr>
                        <a:t>       Flood</a:t>
                      </a:r>
                      <a:r>
                        <a:rPr lang="en-US" sz="1600" spc="55" dirty="0">
                          <a:solidFill>
                            <a:schemeClr val="tx1"/>
                          </a:solidFill>
                          <a:effectLst/>
                          <a:latin typeface="Times New Roman" panose="02020603050405020304" pitchFamily="18" charset="0"/>
                          <a:cs typeface="Times New Roman" panose="02020603050405020304" pitchFamily="18" charset="0"/>
                        </a:rPr>
                        <a:t> </a:t>
                      </a:r>
                      <a:r>
                        <a:rPr lang="en-US" sz="1600" spc="-10" dirty="0">
                          <a:solidFill>
                            <a:schemeClr val="tx1"/>
                          </a:solidFill>
                          <a:effectLst/>
                          <a:latin typeface="Times New Roman" panose="02020603050405020304" pitchFamily="18" charset="0"/>
                          <a:cs typeface="Times New Roman" panose="02020603050405020304" pitchFamily="18" charset="0"/>
                        </a:rPr>
                        <a:t>Label</a:t>
                      </a:r>
                      <a:endParaRPr lang="en-IN" sz="16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Bef>
                          <a:spcPts val="145"/>
                        </a:spcBef>
                        <a:buNone/>
                      </a:pPr>
                      <a:r>
                        <a:rPr lang="en-US" sz="1600" b="0" spc="-10" dirty="0">
                          <a:solidFill>
                            <a:schemeClr val="tx1"/>
                          </a:solidFill>
                          <a:effectLst/>
                          <a:latin typeface="Times New Roman" panose="02020603050405020304" pitchFamily="18" charset="0"/>
                          <a:cs typeface="Times New Roman" panose="02020603050405020304" pitchFamily="18" charset="0"/>
                        </a:rPr>
                        <a:t>Target</a:t>
                      </a:r>
                      <a:endParaRPr lang="en-IN" sz="16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Bef>
                          <a:spcPts val="145"/>
                        </a:spcBef>
                        <a:buNone/>
                      </a:pPr>
                      <a:r>
                        <a:rPr lang="en-US" sz="1600" b="0" dirty="0">
                          <a:solidFill>
                            <a:schemeClr val="tx1"/>
                          </a:solidFill>
                          <a:effectLst/>
                          <a:latin typeface="Times New Roman" panose="02020603050405020304" pitchFamily="18" charset="0"/>
                          <a:cs typeface="Times New Roman" panose="02020603050405020304" pitchFamily="18" charset="0"/>
                        </a:rPr>
                        <a:t>Binary</a:t>
                      </a:r>
                      <a:r>
                        <a:rPr lang="en-US" sz="1600" b="0" spc="60" dirty="0">
                          <a:solidFill>
                            <a:schemeClr val="tx1"/>
                          </a:solidFill>
                          <a:effectLst/>
                          <a:latin typeface="Times New Roman" panose="02020603050405020304" pitchFamily="18" charset="0"/>
                          <a:cs typeface="Times New Roman" panose="02020603050405020304" pitchFamily="18" charset="0"/>
                        </a:rPr>
                        <a:t> </a:t>
                      </a:r>
                      <a:r>
                        <a:rPr lang="en-US" sz="1600" b="0" dirty="0">
                          <a:solidFill>
                            <a:schemeClr val="tx1"/>
                          </a:solidFill>
                          <a:effectLst/>
                          <a:latin typeface="Times New Roman" panose="02020603050405020304" pitchFamily="18" charset="0"/>
                          <a:cs typeface="Times New Roman" panose="02020603050405020304" pitchFamily="18" charset="0"/>
                        </a:rPr>
                        <a:t>label</a:t>
                      </a:r>
                      <a:r>
                        <a:rPr lang="en-US" sz="1600" b="0" spc="60" dirty="0">
                          <a:solidFill>
                            <a:schemeClr val="tx1"/>
                          </a:solidFill>
                          <a:effectLst/>
                          <a:latin typeface="Times New Roman" panose="02020603050405020304" pitchFamily="18" charset="0"/>
                          <a:cs typeface="Times New Roman" panose="02020603050405020304" pitchFamily="18" charset="0"/>
                        </a:rPr>
                        <a:t> </a:t>
                      </a:r>
                      <a:r>
                        <a:rPr lang="en-US" sz="1600" b="0" dirty="0">
                          <a:solidFill>
                            <a:schemeClr val="tx1"/>
                          </a:solidFill>
                          <a:effectLst/>
                          <a:latin typeface="Times New Roman" panose="02020603050405020304" pitchFamily="18" charset="0"/>
                          <a:cs typeface="Times New Roman" panose="02020603050405020304" pitchFamily="18" charset="0"/>
                        </a:rPr>
                        <a:t>(Flood=1,</a:t>
                      </a:r>
                      <a:r>
                        <a:rPr lang="en-US" sz="1600" b="0" spc="60" dirty="0">
                          <a:solidFill>
                            <a:schemeClr val="tx1"/>
                          </a:solidFill>
                          <a:effectLst/>
                          <a:latin typeface="Times New Roman" panose="02020603050405020304" pitchFamily="18" charset="0"/>
                          <a:cs typeface="Times New Roman" panose="02020603050405020304" pitchFamily="18" charset="0"/>
                        </a:rPr>
                        <a:t> </a:t>
                      </a:r>
                      <a:r>
                        <a:rPr lang="en-US" sz="1600" b="0" dirty="0">
                          <a:solidFill>
                            <a:schemeClr val="tx1"/>
                          </a:solidFill>
                          <a:effectLst/>
                          <a:latin typeface="Times New Roman" panose="02020603050405020304" pitchFamily="18" charset="0"/>
                          <a:cs typeface="Times New Roman" panose="02020603050405020304" pitchFamily="18" charset="0"/>
                        </a:rPr>
                        <a:t>No</a:t>
                      </a:r>
                      <a:r>
                        <a:rPr lang="en-US" sz="1600" b="0" spc="60" dirty="0">
                          <a:solidFill>
                            <a:schemeClr val="tx1"/>
                          </a:solidFill>
                          <a:effectLst/>
                          <a:latin typeface="Times New Roman" panose="02020603050405020304" pitchFamily="18" charset="0"/>
                          <a:cs typeface="Times New Roman" panose="02020603050405020304" pitchFamily="18" charset="0"/>
                        </a:rPr>
                        <a:t> </a:t>
                      </a:r>
                      <a:r>
                        <a:rPr lang="en-US" sz="1600" b="0" spc="-10" dirty="0">
                          <a:solidFill>
                            <a:schemeClr val="tx1"/>
                          </a:solidFill>
                          <a:effectLst/>
                          <a:latin typeface="Times New Roman" panose="02020603050405020304" pitchFamily="18" charset="0"/>
                          <a:cs typeface="Times New Roman" panose="02020603050405020304" pitchFamily="18" charset="0"/>
                        </a:rPr>
                        <a:t>Flood=0)</a:t>
                      </a:r>
                      <a:endParaRPr lang="en-IN" sz="16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spcBef>
                          <a:spcPts val="145"/>
                        </a:spcBef>
                        <a:buNone/>
                      </a:pPr>
                      <a:r>
                        <a:rPr lang="en-US" sz="1600" b="0" spc="-10" dirty="0">
                          <a:solidFill>
                            <a:schemeClr val="tx1"/>
                          </a:solidFill>
                          <a:effectLst/>
                          <a:latin typeface="Times New Roman" panose="02020603050405020304" pitchFamily="18" charset="0"/>
                          <a:cs typeface="Times New Roman" panose="02020603050405020304" pitchFamily="18" charset="0"/>
                        </a:rPr>
                        <a:t>Daily</a:t>
                      </a:r>
                      <a:endParaRPr lang="en-IN" sz="16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5421442"/>
                  </a:ext>
                </a:extLst>
              </a:tr>
            </a:tbl>
          </a:graphicData>
        </a:graphic>
      </p:graphicFrame>
    </p:spTree>
    <p:extLst>
      <p:ext uri="{BB962C8B-B14F-4D97-AF65-F5344CB8AC3E}">
        <p14:creationId xmlns:p14="http://schemas.microsoft.com/office/powerpoint/2010/main" val="4293326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a:latin typeface="Times New Roman" panose="02020603050405020304" pitchFamily="18" charset="0"/>
                <a:cs typeface="Times New Roman" panose="02020603050405020304" pitchFamily="18" charset="0"/>
              </a:rPr>
              <a:t>Methodology</a:t>
            </a:r>
          </a:p>
        </p:txBody>
      </p:sp>
      <p:sp>
        <p:nvSpPr>
          <p:cNvPr id="3" name="Content Placeholder 2"/>
          <p:cNvSpPr>
            <a:spLocks noGrp="1"/>
          </p:cNvSpPr>
          <p:nvPr>
            <p:ph idx="1"/>
          </p:nvPr>
        </p:nvSpPr>
        <p:spPr>
          <a:xfrm>
            <a:off x="838200" y="1501160"/>
            <a:ext cx="10515600" cy="4351338"/>
          </a:xfrm>
        </p:spPr>
        <p:txBody>
          <a:bodyPr>
            <a:normAutofit lnSpcReduction="10000"/>
          </a:bodyPr>
          <a:lstStyle/>
          <a:p>
            <a:pPr>
              <a:defRPr/>
            </a:pPr>
            <a:r>
              <a:rPr lang="en-IN" sz="2000" b="1" dirty="0">
                <a:latin typeface="Times New Roman" panose="02020603050405020304" pitchFamily="18" charset="0"/>
                <a:cs typeface="Times New Roman" panose="02020603050405020304" pitchFamily="18" charset="0"/>
              </a:rPr>
              <a:t>Data &amp; Preprocessing: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Collect rainfall, temperature, soil moisture, and land cover data from NASA POWER, SMAP, and MODIS; clean, interpolate missing values, and normalize using Min-Max scaling.</a:t>
            </a:r>
          </a:p>
          <a:p>
            <a:pPr>
              <a:defRPr/>
            </a:pPr>
            <a:r>
              <a:rPr lang="en-IN" sz="2000" b="1" dirty="0">
                <a:latin typeface="Times New Roman" panose="02020603050405020304" pitchFamily="18" charset="0"/>
                <a:cs typeface="Times New Roman" panose="02020603050405020304" pitchFamily="18" charset="0"/>
              </a:rPr>
              <a:t>Feature Engineering:</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Extract key hydrological and environmental variables — rainfall intensity, soil moisture variation, land use type, and temperature patterns.</a:t>
            </a:r>
          </a:p>
          <a:p>
            <a:pPr>
              <a:defRPr/>
            </a:pPr>
            <a:r>
              <a:rPr lang="en-IN" sz="2000" b="1" dirty="0">
                <a:latin typeface="Times New Roman" panose="02020603050405020304" pitchFamily="18" charset="0"/>
                <a:cs typeface="Times New Roman" panose="02020603050405020304" pitchFamily="18" charset="0"/>
              </a:rPr>
              <a:t>Model Development:</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Build and train multiple models — Random Forest, XGBoost, CNN, LSTM, and GRU — using an 80:20 train-test split.</a:t>
            </a:r>
          </a:p>
          <a:p>
            <a:pPr>
              <a:defRPr/>
            </a:pPr>
            <a:r>
              <a:rPr lang="en-IN" sz="2000" b="1" dirty="0">
                <a:latin typeface="Times New Roman" panose="02020603050405020304" pitchFamily="18" charset="0"/>
                <a:cs typeface="Times New Roman" panose="02020603050405020304" pitchFamily="18" charset="0"/>
              </a:rPr>
              <a:t>Performance Evaluation:</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Assess models using Accuracy, RMSE, MAE, and R²;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confusion matrices for categorical flood prediction.</a:t>
            </a:r>
          </a:p>
          <a:p>
            <a:pPr>
              <a:defRPr/>
            </a:pPr>
            <a:r>
              <a:rPr lang="en-IN" sz="2000" b="1" dirty="0">
                <a:latin typeface="Times New Roman" panose="02020603050405020304" pitchFamily="18" charset="0"/>
                <a:cs typeface="Times New Roman" panose="02020603050405020304" pitchFamily="18" charset="0"/>
              </a:rPr>
              <a:t>Best Model &amp; Framework:</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Select GRU with dropout and dense layers as the best model; develop a scalable, transferable flood prediction framework adaptable to multiple climatic zones.</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buNone/>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22072"/>
          </a:xfrm>
          <a:prstGeom prst="rect">
            <a:avLst/>
          </a:prstGeom>
        </p:spPr>
      </p:pic>
      <p:sp>
        <p:nvSpPr>
          <p:cNvPr id="5" name="Date Placeholder 4"/>
          <p:cNvSpPr>
            <a:spLocks noGrp="1"/>
          </p:cNvSpPr>
          <p:nvPr>
            <p:ph type="dt" sz="half" idx="10"/>
          </p:nvPr>
        </p:nvSpPr>
        <p:spPr/>
        <p:txBody>
          <a:bodyPr/>
          <a:lstStyle/>
          <a:p>
            <a:r>
              <a:rPr lang="en-US" dirty="0"/>
              <a:t>10/11/25</a:t>
            </a:r>
          </a:p>
        </p:txBody>
      </p:sp>
      <p:sp>
        <p:nvSpPr>
          <p:cNvPr id="6" name="Footer Placeholder 5"/>
          <p:cNvSpPr>
            <a:spLocks noGrp="1"/>
          </p:cNvSpPr>
          <p:nvPr>
            <p:ph type="ftr" sz="quarter" idx="11"/>
          </p:nvPr>
        </p:nvSpPr>
        <p:spPr/>
        <p:txBody>
          <a:bodyPr/>
          <a:lstStyle/>
          <a:p>
            <a:r>
              <a:rPr lang="en-US" dirty="0"/>
              <a:t>Review No. 1     Batch No. CG12        Department of CSE</a:t>
            </a:r>
          </a:p>
        </p:txBody>
      </p:sp>
      <p:sp>
        <p:nvSpPr>
          <p:cNvPr id="7" name="Slide Number Placeholder 6"/>
          <p:cNvSpPr>
            <a:spLocks noGrp="1"/>
          </p:cNvSpPr>
          <p:nvPr>
            <p:ph type="sldNum" sz="quarter" idx="12"/>
          </p:nvPr>
        </p:nvSpPr>
        <p:spPr/>
        <p:txBody>
          <a:bodyPr/>
          <a:lstStyle/>
          <a:p>
            <a:fld id="{FFEC67FC-8107-4C00-9415-4D1567E899B9}" type="slidenum">
              <a:rPr lang="en-US" smtClean="0"/>
              <a:t>13</a:t>
            </a:fld>
            <a:endParaRPr lang="en-US"/>
          </a:p>
        </p:txBody>
      </p:sp>
    </p:spTree>
    <p:extLst>
      <p:ext uri="{BB962C8B-B14F-4D97-AF65-F5344CB8AC3E}">
        <p14:creationId xmlns:p14="http://schemas.microsoft.com/office/powerpoint/2010/main" val="2112921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2832" y="189914"/>
            <a:ext cx="10515600" cy="559107"/>
          </a:xfrm>
        </p:spPr>
        <p:txBody>
          <a:bodyPr>
            <a:normAutofit/>
          </a:bodyPr>
          <a:lstStyle/>
          <a:p>
            <a:pPr algn="ctr"/>
            <a:r>
              <a:rPr lang="en-US" sz="2800" b="1" dirty="0">
                <a:latin typeface="Times New Roman" panose="02020603050405020304" pitchFamily="18" charset="0"/>
                <a:cs typeface="Times New Roman" panose="02020603050405020304" pitchFamily="18" charset="0"/>
              </a:rPr>
              <a:t>Implementation</a:t>
            </a:r>
          </a:p>
        </p:txBody>
      </p:sp>
      <p:graphicFrame>
        <p:nvGraphicFramePr>
          <p:cNvPr id="11" name="Content Placeholder 10">
            <a:extLst>
              <a:ext uri="{FF2B5EF4-FFF2-40B4-BE49-F238E27FC236}">
                <a16:creationId xmlns:a16="http://schemas.microsoft.com/office/drawing/2014/main" id="{9D8D1C44-AA93-6D8C-4380-34F5185B55A8}"/>
              </a:ext>
            </a:extLst>
          </p:cNvPr>
          <p:cNvGraphicFramePr>
            <a:graphicFrameLocks noGrp="1"/>
          </p:cNvGraphicFramePr>
          <p:nvPr>
            <p:ph idx="1"/>
            <p:extLst>
              <p:ext uri="{D42A27DB-BD31-4B8C-83A1-F6EECF244321}">
                <p14:modId xmlns:p14="http://schemas.microsoft.com/office/powerpoint/2010/main" val="1614748293"/>
              </p:ext>
            </p:extLst>
          </p:nvPr>
        </p:nvGraphicFramePr>
        <p:xfrm>
          <a:off x="1152832" y="911986"/>
          <a:ext cx="10515600" cy="4975638"/>
        </p:xfrm>
        <a:graphic>
          <a:graphicData uri="http://schemas.openxmlformats.org/drawingml/2006/table">
            <a:tbl>
              <a:tblPr>
                <a:tableStyleId>{69CF1AB2-1976-4502-BF36-3FF5EA218861}</a:tableStyleId>
              </a:tblPr>
              <a:tblGrid>
                <a:gridCol w="5257800">
                  <a:extLst>
                    <a:ext uri="{9D8B030D-6E8A-4147-A177-3AD203B41FA5}">
                      <a16:colId xmlns:a16="http://schemas.microsoft.com/office/drawing/2014/main" val="242075390"/>
                    </a:ext>
                  </a:extLst>
                </a:gridCol>
                <a:gridCol w="5257800">
                  <a:extLst>
                    <a:ext uri="{9D8B030D-6E8A-4147-A177-3AD203B41FA5}">
                      <a16:colId xmlns:a16="http://schemas.microsoft.com/office/drawing/2014/main" val="3175914343"/>
                    </a:ext>
                  </a:extLst>
                </a:gridCol>
              </a:tblGrid>
              <a:tr h="377362">
                <a:tc>
                  <a:txBody>
                    <a:bodyPr/>
                    <a:lstStyle/>
                    <a:p>
                      <a:pPr>
                        <a:buNone/>
                      </a:pPr>
                      <a:r>
                        <a:rPr lang="en-IN" sz="1800" b="1" dirty="0">
                          <a:latin typeface="Times New Roman" panose="02020603050405020304" pitchFamily="18" charset="0"/>
                          <a:cs typeface="Times New Roman" panose="02020603050405020304" pitchFamily="18" charset="0"/>
                        </a:rPr>
                        <a:t>Implementation Step</a:t>
                      </a:r>
                      <a:endParaRPr lang="en-IN" sz="1800" dirty="0">
                        <a:latin typeface="Times New Roman" panose="02020603050405020304" pitchFamily="18" charset="0"/>
                        <a:cs typeface="Times New Roman" panose="02020603050405020304" pitchFamily="18" charset="0"/>
                      </a:endParaRPr>
                    </a:p>
                  </a:txBody>
                  <a:tcPr marL="69069" marR="69069" marT="34534" marB="34534" anchor="ctr"/>
                </a:tc>
                <a:tc>
                  <a:txBody>
                    <a:bodyPr/>
                    <a:lstStyle/>
                    <a:p>
                      <a:pPr>
                        <a:buNone/>
                      </a:pPr>
                      <a:r>
                        <a:rPr lang="en-IN" sz="1800" b="1" dirty="0">
                          <a:latin typeface="Times New Roman" panose="02020603050405020304" pitchFamily="18" charset="0"/>
                          <a:cs typeface="Times New Roman" panose="02020603050405020304" pitchFamily="18" charset="0"/>
                        </a:rPr>
                        <a:t>Description</a:t>
                      </a:r>
                      <a:endParaRPr lang="en-IN" sz="1800" dirty="0">
                        <a:latin typeface="Times New Roman" panose="02020603050405020304" pitchFamily="18" charset="0"/>
                        <a:cs typeface="Times New Roman" panose="02020603050405020304" pitchFamily="18" charset="0"/>
                      </a:endParaRPr>
                    </a:p>
                  </a:txBody>
                  <a:tcPr marL="69069" marR="69069" marT="34534" marB="34534" anchor="ctr"/>
                </a:tc>
                <a:extLst>
                  <a:ext uri="{0D108BD9-81ED-4DB2-BD59-A6C34878D82A}">
                    <a16:rowId xmlns:a16="http://schemas.microsoft.com/office/drawing/2014/main" val="1902110252"/>
                  </a:ext>
                </a:extLst>
              </a:tr>
              <a:tr h="730492">
                <a:tc>
                  <a:txBody>
                    <a:bodyPr/>
                    <a:lstStyle/>
                    <a:p>
                      <a:pPr>
                        <a:buNone/>
                      </a:pPr>
                      <a:r>
                        <a:rPr lang="en-IN" sz="1800" b="1" dirty="0">
                          <a:latin typeface="Times New Roman" panose="02020603050405020304" pitchFamily="18" charset="0"/>
                          <a:cs typeface="Times New Roman" panose="02020603050405020304" pitchFamily="18" charset="0"/>
                        </a:rPr>
                        <a:t>1. Data Collection</a:t>
                      </a:r>
                      <a:endParaRPr lang="en-IN" sz="1800" dirty="0">
                        <a:latin typeface="Times New Roman" panose="02020603050405020304" pitchFamily="18" charset="0"/>
                        <a:cs typeface="Times New Roman" panose="02020603050405020304" pitchFamily="18" charset="0"/>
                      </a:endParaRPr>
                    </a:p>
                  </a:txBody>
                  <a:tcPr marL="69069" marR="69069" marT="34534" marB="34534" anchor="ctr"/>
                </a:tc>
                <a:tc>
                  <a:txBody>
                    <a:bodyPr/>
                    <a:lstStyle/>
                    <a:p>
                      <a:pPr>
                        <a:buNone/>
                      </a:pPr>
                      <a:r>
                        <a:rPr lang="en-US" sz="1800" dirty="0">
                          <a:latin typeface="Times New Roman" panose="02020603050405020304" pitchFamily="18" charset="0"/>
                          <a:cs typeface="Times New Roman" panose="02020603050405020304" pitchFamily="18" charset="0"/>
                        </a:rPr>
                        <a:t>Gathered regional datasets including rainfall, temperature, soil moisture, dam condition, and urbanization data.</a:t>
                      </a:r>
                    </a:p>
                  </a:txBody>
                  <a:tcPr marL="69069" marR="69069" marT="34534" marB="34534" anchor="ctr"/>
                </a:tc>
                <a:extLst>
                  <a:ext uri="{0D108BD9-81ED-4DB2-BD59-A6C34878D82A}">
                    <a16:rowId xmlns:a16="http://schemas.microsoft.com/office/drawing/2014/main" val="636257747"/>
                  </a:ext>
                </a:extLst>
              </a:tr>
              <a:tr h="524360">
                <a:tc>
                  <a:txBody>
                    <a:bodyPr/>
                    <a:lstStyle/>
                    <a:p>
                      <a:pPr>
                        <a:buNone/>
                      </a:pPr>
                      <a:r>
                        <a:rPr lang="en-IN" sz="1800" b="1">
                          <a:latin typeface="Times New Roman" panose="02020603050405020304" pitchFamily="18" charset="0"/>
                          <a:cs typeface="Times New Roman" panose="02020603050405020304" pitchFamily="18" charset="0"/>
                        </a:rPr>
                        <a:t>2. Data Preprocessing</a:t>
                      </a:r>
                      <a:endParaRPr lang="en-IN" sz="1800">
                        <a:latin typeface="Times New Roman" panose="02020603050405020304" pitchFamily="18" charset="0"/>
                        <a:cs typeface="Times New Roman" panose="02020603050405020304" pitchFamily="18" charset="0"/>
                      </a:endParaRPr>
                    </a:p>
                  </a:txBody>
                  <a:tcPr marL="69069" marR="69069" marT="34534" marB="34534" anchor="ctr"/>
                </a:tc>
                <a:tc>
                  <a:txBody>
                    <a:bodyPr/>
                    <a:lstStyle/>
                    <a:p>
                      <a:pPr>
                        <a:buNone/>
                      </a:pPr>
                      <a:r>
                        <a:rPr lang="en-US" sz="1800">
                          <a:latin typeface="Times New Roman" panose="02020603050405020304" pitchFamily="18" charset="0"/>
                          <a:cs typeface="Times New Roman" panose="02020603050405020304" pitchFamily="18" charset="0"/>
                        </a:rPr>
                        <a:t>Performed cleaning, normalization, and handling of missing values to ensure uniform data quality.</a:t>
                      </a:r>
                    </a:p>
                  </a:txBody>
                  <a:tcPr marL="69069" marR="69069" marT="34534" marB="34534" anchor="ctr"/>
                </a:tc>
                <a:extLst>
                  <a:ext uri="{0D108BD9-81ED-4DB2-BD59-A6C34878D82A}">
                    <a16:rowId xmlns:a16="http://schemas.microsoft.com/office/drawing/2014/main" val="2718478061"/>
                  </a:ext>
                </a:extLst>
              </a:tr>
              <a:tr h="524360">
                <a:tc>
                  <a:txBody>
                    <a:bodyPr/>
                    <a:lstStyle/>
                    <a:p>
                      <a:pPr>
                        <a:buNone/>
                      </a:pPr>
                      <a:r>
                        <a:rPr lang="en-IN" sz="1800" b="1" dirty="0">
                          <a:latin typeface="Times New Roman" panose="02020603050405020304" pitchFamily="18" charset="0"/>
                          <a:cs typeface="Times New Roman" panose="02020603050405020304" pitchFamily="18" charset="0"/>
                        </a:rPr>
                        <a:t>3. Feature Selection</a:t>
                      </a:r>
                      <a:endParaRPr lang="en-IN" sz="1800" dirty="0">
                        <a:latin typeface="Times New Roman" panose="02020603050405020304" pitchFamily="18" charset="0"/>
                        <a:cs typeface="Times New Roman" panose="02020603050405020304" pitchFamily="18" charset="0"/>
                      </a:endParaRPr>
                    </a:p>
                  </a:txBody>
                  <a:tcPr marL="69069" marR="69069" marT="34534" marB="34534" anchor="ctr"/>
                </a:tc>
                <a:tc>
                  <a:txBody>
                    <a:bodyPr/>
                    <a:lstStyle/>
                    <a:p>
                      <a:pPr>
                        <a:buNone/>
                      </a:pPr>
                      <a:r>
                        <a:rPr lang="en-US" sz="1800" dirty="0">
                          <a:latin typeface="Times New Roman" panose="02020603050405020304" pitchFamily="18" charset="0"/>
                          <a:cs typeface="Times New Roman" panose="02020603050405020304" pitchFamily="18" charset="0"/>
                        </a:rPr>
                        <a:t>Identified key attributes influencing floods such as rainfall intensity, urban growth, and dam quality.</a:t>
                      </a:r>
                    </a:p>
                  </a:txBody>
                  <a:tcPr marL="69069" marR="69069" marT="34534" marB="34534" anchor="ctr"/>
                </a:tc>
                <a:extLst>
                  <a:ext uri="{0D108BD9-81ED-4DB2-BD59-A6C34878D82A}">
                    <a16:rowId xmlns:a16="http://schemas.microsoft.com/office/drawing/2014/main" val="2503806755"/>
                  </a:ext>
                </a:extLst>
              </a:tr>
              <a:tr h="524360">
                <a:tc>
                  <a:txBody>
                    <a:bodyPr/>
                    <a:lstStyle/>
                    <a:p>
                      <a:pPr>
                        <a:buNone/>
                      </a:pPr>
                      <a:r>
                        <a:rPr lang="en-IN" sz="1800" b="1">
                          <a:latin typeface="Times New Roman" panose="02020603050405020304" pitchFamily="18" charset="0"/>
                          <a:cs typeface="Times New Roman" panose="02020603050405020304" pitchFamily="18" charset="0"/>
                        </a:rPr>
                        <a:t>4. Data Splitting</a:t>
                      </a:r>
                      <a:endParaRPr lang="en-IN" sz="1800">
                        <a:latin typeface="Times New Roman" panose="02020603050405020304" pitchFamily="18" charset="0"/>
                        <a:cs typeface="Times New Roman" panose="02020603050405020304" pitchFamily="18" charset="0"/>
                      </a:endParaRPr>
                    </a:p>
                  </a:txBody>
                  <a:tcPr marL="69069" marR="69069" marT="34534" marB="34534" anchor="ctr"/>
                </a:tc>
                <a:tc>
                  <a:txBody>
                    <a:bodyPr/>
                    <a:lstStyle/>
                    <a:p>
                      <a:pPr>
                        <a:buNone/>
                      </a:pPr>
                      <a:r>
                        <a:rPr lang="en-US" sz="1800" dirty="0">
                          <a:latin typeface="Times New Roman" panose="02020603050405020304" pitchFamily="18" charset="0"/>
                          <a:cs typeface="Times New Roman" panose="02020603050405020304" pitchFamily="18" charset="0"/>
                        </a:rPr>
                        <a:t>Divided the dataset into training (80%) and testing (20%) sets for model evaluation.</a:t>
                      </a:r>
                    </a:p>
                  </a:txBody>
                  <a:tcPr marL="69069" marR="69069" marT="34534" marB="34534" anchor="ctr"/>
                </a:tc>
                <a:extLst>
                  <a:ext uri="{0D108BD9-81ED-4DB2-BD59-A6C34878D82A}">
                    <a16:rowId xmlns:a16="http://schemas.microsoft.com/office/drawing/2014/main" val="2474428069"/>
                  </a:ext>
                </a:extLst>
              </a:tr>
              <a:tr h="524360">
                <a:tc>
                  <a:txBody>
                    <a:bodyPr/>
                    <a:lstStyle/>
                    <a:p>
                      <a:pPr>
                        <a:buNone/>
                      </a:pPr>
                      <a:r>
                        <a:rPr lang="en-IN" sz="1800" b="1" dirty="0">
                          <a:latin typeface="Times New Roman" panose="02020603050405020304" pitchFamily="18" charset="0"/>
                          <a:cs typeface="Times New Roman" panose="02020603050405020304" pitchFamily="18" charset="0"/>
                        </a:rPr>
                        <a:t>5. Model Implementation</a:t>
                      </a:r>
                      <a:endParaRPr lang="en-IN" sz="1800" dirty="0">
                        <a:latin typeface="Times New Roman" panose="02020603050405020304" pitchFamily="18" charset="0"/>
                        <a:cs typeface="Times New Roman" panose="02020603050405020304" pitchFamily="18" charset="0"/>
                      </a:endParaRPr>
                    </a:p>
                  </a:txBody>
                  <a:tcPr marL="69069" marR="69069" marT="34534" marB="34534" anchor="ctr"/>
                </a:tc>
                <a:tc>
                  <a:txBody>
                    <a:bodyPr/>
                    <a:lstStyle/>
                    <a:p>
                      <a:pPr>
                        <a:buNone/>
                      </a:pPr>
                      <a:r>
                        <a:rPr lang="en-US" sz="1800">
                          <a:latin typeface="Times New Roman" panose="02020603050405020304" pitchFamily="18" charset="0"/>
                          <a:cs typeface="Times New Roman" panose="02020603050405020304" pitchFamily="18" charset="0"/>
                        </a:rPr>
                        <a:t>Built and trained a </a:t>
                      </a:r>
                      <a:r>
                        <a:rPr lang="en-US" sz="1800" b="1">
                          <a:latin typeface="Times New Roman" panose="02020603050405020304" pitchFamily="18" charset="0"/>
                          <a:cs typeface="Times New Roman" panose="02020603050405020304" pitchFamily="18" charset="0"/>
                        </a:rPr>
                        <a:t>GRU-based deep learning model</a:t>
                      </a:r>
                      <a:r>
                        <a:rPr lang="en-US" sz="1800">
                          <a:latin typeface="Times New Roman" panose="02020603050405020304" pitchFamily="18" charset="0"/>
                          <a:cs typeface="Times New Roman" panose="02020603050405020304" pitchFamily="18" charset="0"/>
                        </a:rPr>
                        <a:t> for multi-regional flood prediction.</a:t>
                      </a:r>
                    </a:p>
                  </a:txBody>
                  <a:tcPr marL="69069" marR="69069" marT="34534" marB="34534" anchor="ctr"/>
                </a:tc>
                <a:extLst>
                  <a:ext uri="{0D108BD9-81ED-4DB2-BD59-A6C34878D82A}">
                    <a16:rowId xmlns:a16="http://schemas.microsoft.com/office/drawing/2014/main" val="4151219375"/>
                  </a:ext>
                </a:extLst>
              </a:tr>
              <a:tr h="524360">
                <a:tc>
                  <a:txBody>
                    <a:bodyPr/>
                    <a:lstStyle/>
                    <a:p>
                      <a:pPr>
                        <a:buNone/>
                      </a:pPr>
                      <a:r>
                        <a:rPr lang="en-IN" sz="1800" b="1" dirty="0">
                          <a:latin typeface="Times New Roman" panose="02020603050405020304" pitchFamily="18" charset="0"/>
                          <a:cs typeface="Times New Roman" panose="02020603050405020304" pitchFamily="18" charset="0"/>
                        </a:rPr>
                        <a:t>6. Model Evaluation</a:t>
                      </a:r>
                      <a:endParaRPr lang="en-IN" sz="1800" dirty="0">
                        <a:latin typeface="Times New Roman" panose="02020603050405020304" pitchFamily="18" charset="0"/>
                        <a:cs typeface="Times New Roman" panose="02020603050405020304" pitchFamily="18" charset="0"/>
                      </a:endParaRPr>
                    </a:p>
                  </a:txBody>
                  <a:tcPr marL="69069" marR="69069" marT="34534" marB="34534" anchor="ctr"/>
                </a:tc>
                <a:tc>
                  <a:txBody>
                    <a:bodyPr/>
                    <a:lstStyle/>
                    <a:p>
                      <a:pPr>
                        <a:buNone/>
                      </a:pPr>
                      <a:r>
                        <a:rPr lang="en-US" sz="1800" dirty="0">
                          <a:latin typeface="Times New Roman" panose="02020603050405020304" pitchFamily="18" charset="0"/>
                          <a:cs typeface="Times New Roman" panose="02020603050405020304" pitchFamily="18" charset="0"/>
                        </a:rPr>
                        <a:t>Evaluated model performance using </a:t>
                      </a:r>
                      <a:r>
                        <a:rPr lang="en-US" sz="1800" b="1" dirty="0">
                          <a:latin typeface="Times New Roman" panose="02020603050405020304" pitchFamily="18" charset="0"/>
                          <a:cs typeface="Times New Roman" panose="02020603050405020304" pitchFamily="18" charset="0"/>
                        </a:rPr>
                        <a:t>Accuracy, RMSE, MAE, and R²</a:t>
                      </a:r>
                      <a:r>
                        <a:rPr lang="en-US" sz="1800" dirty="0">
                          <a:latin typeface="Times New Roman" panose="02020603050405020304" pitchFamily="18" charset="0"/>
                          <a:cs typeface="Times New Roman" panose="02020603050405020304" pitchFamily="18" charset="0"/>
                        </a:rPr>
                        <a:t> metrics.</a:t>
                      </a:r>
                    </a:p>
                  </a:txBody>
                  <a:tcPr marL="69069" marR="69069" marT="34534" marB="34534" anchor="ctr"/>
                </a:tc>
                <a:extLst>
                  <a:ext uri="{0D108BD9-81ED-4DB2-BD59-A6C34878D82A}">
                    <a16:rowId xmlns:a16="http://schemas.microsoft.com/office/drawing/2014/main" val="1746918354"/>
                  </a:ext>
                </a:extLst>
              </a:tr>
              <a:tr h="524360">
                <a:tc>
                  <a:txBody>
                    <a:bodyPr/>
                    <a:lstStyle/>
                    <a:p>
                      <a:pPr>
                        <a:buNone/>
                      </a:pPr>
                      <a:r>
                        <a:rPr lang="en-IN" sz="1800" b="1" dirty="0">
                          <a:latin typeface="Times New Roman" panose="02020603050405020304" pitchFamily="18" charset="0"/>
                          <a:cs typeface="Times New Roman" panose="02020603050405020304" pitchFamily="18" charset="0"/>
                        </a:rPr>
                        <a:t>7. Visualization and Interpretation</a:t>
                      </a:r>
                      <a:endParaRPr lang="en-IN" sz="1800" dirty="0">
                        <a:latin typeface="Times New Roman" panose="02020603050405020304" pitchFamily="18" charset="0"/>
                        <a:cs typeface="Times New Roman" panose="02020603050405020304" pitchFamily="18" charset="0"/>
                      </a:endParaRPr>
                    </a:p>
                  </a:txBody>
                  <a:tcPr marL="69069" marR="69069" marT="34534" marB="34534" anchor="ctr"/>
                </a:tc>
                <a:tc>
                  <a:txBody>
                    <a:bodyPr/>
                    <a:lstStyle/>
                    <a:p>
                      <a:pPr>
                        <a:buNone/>
                      </a:pPr>
                      <a:r>
                        <a:rPr lang="en-US" sz="1800" dirty="0">
                          <a:latin typeface="Times New Roman" panose="02020603050405020304" pitchFamily="18" charset="0"/>
                          <a:cs typeface="Times New Roman" panose="02020603050405020304" pitchFamily="18" charset="0"/>
                        </a:rPr>
                        <a:t>Generated graphical outputs to analyze predicted vs. actual flood occurrences.</a:t>
                      </a:r>
                    </a:p>
                  </a:txBody>
                  <a:tcPr marL="69069" marR="69069" marT="34534" marB="34534" anchor="ctr"/>
                </a:tc>
                <a:extLst>
                  <a:ext uri="{0D108BD9-81ED-4DB2-BD59-A6C34878D82A}">
                    <a16:rowId xmlns:a16="http://schemas.microsoft.com/office/drawing/2014/main" val="71566909"/>
                  </a:ext>
                </a:extLst>
              </a:tr>
            </a:tbl>
          </a:graphicData>
        </a:graphic>
      </p:graphicFrame>
      <p:sp>
        <p:nvSpPr>
          <p:cNvPr id="3" name="Date Placeholder 2"/>
          <p:cNvSpPr>
            <a:spLocks noGrp="1"/>
          </p:cNvSpPr>
          <p:nvPr>
            <p:ph type="dt" sz="half" idx="10"/>
          </p:nvPr>
        </p:nvSpPr>
        <p:spPr/>
        <p:txBody>
          <a:bodyPr/>
          <a:lstStyle/>
          <a:p>
            <a:r>
              <a:rPr lang="en-US" dirty="0"/>
              <a:t>10/11/25</a:t>
            </a:r>
          </a:p>
        </p:txBody>
      </p:sp>
      <p:sp>
        <p:nvSpPr>
          <p:cNvPr id="5" name="Footer Placeholder 4"/>
          <p:cNvSpPr>
            <a:spLocks noGrp="1"/>
          </p:cNvSpPr>
          <p:nvPr>
            <p:ph type="ftr" sz="quarter" idx="11"/>
          </p:nvPr>
        </p:nvSpPr>
        <p:spPr/>
        <p:txBody>
          <a:bodyPr/>
          <a:lstStyle/>
          <a:p>
            <a:r>
              <a:rPr lang="en-US" dirty="0"/>
              <a:t>Review No. 1     Batch No.  CG12       Department of CSE</a:t>
            </a:r>
          </a:p>
        </p:txBody>
      </p:sp>
      <p:sp>
        <p:nvSpPr>
          <p:cNvPr id="7" name="Slide Number Placeholder 6"/>
          <p:cNvSpPr>
            <a:spLocks noGrp="1"/>
          </p:cNvSpPr>
          <p:nvPr>
            <p:ph type="sldNum" sz="quarter" idx="12"/>
          </p:nvPr>
        </p:nvSpPr>
        <p:spPr/>
        <p:txBody>
          <a:bodyPr/>
          <a:lstStyle/>
          <a:p>
            <a:fld id="{FFEC67FC-8107-4C00-9415-4D1567E899B9}" type="slidenum">
              <a:rPr lang="en-US" smtClean="0"/>
              <a:t>14</a:t>
            </a:fld>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22072"/>
          </a:xfrm>
          <a:prstGeom prst="rect">
            <a:avLst/>
          </a:prstGeom>
        </p:spPr>
      </p:pic>
    </p:spTree>
    <p:extLst>
      <p:ext uri="{BB962C8B-B14F-4D97-AF65-F5344CB8AC3E}">
        <p14:creationId xmlns:p14="http://schemas.microsoft.com/office/powerpoint/2010/main" val="2552722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37133"/>
            <a:ext cx="10515600" cy="1325563"/>
          </a:xfrm>
        </p:spPr>
        <p:txBody>
          <a:bodyPr>
            <a:normAutofit/>
          </a:bodyPr>
          <a:lstStyle/>
          <a:p>
            <a:pPr algn="ctr"/>
            <a:r>
              <a:rPr lang="en-US" sz="2800" b="1" dirty="0">
                <a:latin typeface="Times New Roman" panose="02020603050405020304" pitchFamily="18" charset="0"/>
                <a:cs typeface="Times New Roman" panose="02020603050405020304" pitchFamily="18" charset="0"/>
              </a:rPr>
              <a:t>System Requirements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22072"/>
          </a:xfrm>
          <a:prstGeom prst="rect">
            <a:avLst/>
          </a:prstGeom>
        </p:spPr>
      </p:pic>
      <p:graphicFrame>
        <p:nvGraphicFramePr>
          <p:cNvPr id="5" name="Content Placeholder 4"/>
          <p:cNvGraphicFramePr>
            <a:graphicFrameLocks noGrp="1"/>
          </p:cNvGraphicFramePr>
          <p:nvPr>
            <p:ph idx="1"/>
            <p:extLst>
              <p:ext uri="{D42A27DB-BD31-4B8C-83A1-F6EECF244321}">
                <p14:modId xmlns:p14="http://schemas.microsoft.com/office/powerpoint/2010/main" val="4036422779"/>
              </p:ext>
            </p:extLst>
          </p:nvPr>
        </p:nvGraphicFramePr>
        <p:xfrm>
          <a:off x="903515" y="1767545"/>
          <a:ext cx="10515600" cy="3017520"/>
        </p:xfrm>
        <a:graphic>
          <a:graphicData uri="http://schemas.openxmlformats.org/drawingml/2006/table">
            <a:tbl>
              <a:tblPr/>
              <a:tblGrid>
                <a:gridCol w="5257800">
                  <a:extLst>
                    <a:ext uri="{9D8B030D-6E8A-4147-A177-3AD203B41FA5}">
                      <a16:colId xmlns:a16="http://schemas.microsoft.com/office/drawing/2014/main" val="3963560326"/>
                    </a:ext>
                  </a:extLst>
                </a:gridCol>
                <a:gridCol w="5257800">
                  <a:extLst>
                    <a:ext uri="{9D8B030D-6E8A-4147-A177-3AD203B41FA5}">
                      <a16:colId xmlns:a16="http://schemas.microsoft.com/office/drawing/2014/main" val="1271022387"/>
                    </a:ext>
                  </a:extLst>
                </a:gridCol>
              </a:tblGrid>
              <a:tr h="0">
                <a:tc>
                  <a:txBody>
                    <a:bodyPr/>
                    <a:lstStyle/>
                    <a:p>
                      <a:r>
                        <a:rPr lang="en-US" b="1" dirty="0">
                          <a:latin typeface="Times New Roman" panose="02020603050405020304" pitchFamily="18" charset="0"/>
                          <a:cs typeface="Times New Roman" panose="02020603050405020304" pitchFamily="18" charset="0"/>
                        </a:rPr>
                        <a:t>Software Specifications</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latin typeface="Times New Roman" panose="02020603050405020304" pitchFamily="18" charset="0"/>
                          <a:cs typeface="Times New Roman" panose="02020603050405020304" pitchFamily="18" charset="0"/>
                        </a:rPr>
                        <a:t> Hardware Specifications</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40688663"/>
                  </a:ext>
                </a:extLst>
              </a:tr>
              <a:tr h="0">
                <a:tc>
                  <a:txBody>
                    <a:bodyPr/>
                    <a:lstStyle/>
                    <a:p>
                      <a:r>
                        <a:rPr lang="en-US" b="1">
                          <a:latin typeface="Times New Roman" panose="02020603050405020304" pitchFamily="18" charset="0"/>
                          <a:cs typeface="Times New Roman" panose="02020603050405020304" pitchFamily="18" charset="0"/>
                        </a:rPr>
                        <a:t>Programming Language:</a:t>
                      </a:r>
                      <a:r>
                        <a:rPr lang="en-US">
                          <a:latin typeface="Times New Roman" panose="02020603050405020304" pitchFamily="18" charset="0"/>
                          <a:cs typeface="Times New Roman" panose="02020603050405020304" pitchFamily="18" charset="0"/>
                        </a:rPr>
                        <a:t> 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latin typeface="Times New Roman" panose="02020603050405020304" pitchFamily="18" charset="0"/>
                          <a:cs typeface="Times New Roman" panose="02020603050405020304" pitchFamily="18" charset="0"/>
                        </a:rPr>
                        <a:t>Processor:</a:t>
                      </a:r>
                      <a:r>
                        <a:rPr lang="en-US">
                          <a:latin typeface="Times New Roman" panose="02020603050405020304" pitchFamily="18" charset="0"/>
                          <a:cs typeface="Times New Roman" panose="02020603050405020304" pitchFamily="18" charset="0"/>
                        </a:rPr>
                        <a:t> x64-based CPU (6 MB cache)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2642095"/>
                  </a:ext>
                </a:extLst>
              </a:tr>
              <a:tr h="0">
                <a:tc>
                  <a:txBody>
                    <a:bodyPr/>
                    <a:lstStyle/>
                    <a:p>
                      <a:r>
                        <a:rPr lang="en-US" b="1" dirty="0">
                          <a:latin typeface="Times New Roman" panose="02020603050405020304" pitchFamily="18" charset="0"/>
                          <a:cs typeface="Times New Roman" panose="02020603050405020304" pitchFamily="18" charset="0"/>
                        </a:rPr>
                        <a:t>Frameworks:</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PyTorch</a:t>
                      </a:r>
                      <a:r>
                        <a:rPr lang="en-US" dirty="0">
                          <a:latin typeface="Times New Roman" panose="02020603050405020304" pitchFamily="18" charset="0"/>
                          <a:cs typeface="Times New Roman" panose="02020603050405020304" pitchFamily="18" charset="0"/>
                        </a:rPr>
                        <a:t> Geometric (for GAT &amp; R-GCN), Scikit-learn (for classification &amp; PCA)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latin typeface="Times New Roman" panose="02020603050405020304" pitchFamily="18" charset="0"/>
                          <a:cs typeface="Times New Roman" panose="02020603050405020304" pitchFamily="18" charset="0"/>
                        </a:rPr>
                        <a:t>RAM:</a:t>
                      </a:r>
                      <a:r>
                        <a:rPr lang="en-US">
                          <a:latin typeface="Times New Roman" panose="02020603050405020304" pitchFamily="18" charset="0"/>
                          <a:cs typeface="Times New Roman" panose="02020603050405020304" pitchFamily="18" charset="0"/>
                        </a:rPr>
                        <a:t> 16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4935437"/>
                  </a:ext>
                </a:extLst>
              </a:tr>
              <a:tr h="0">
                <a:tc>
                  <a:txBody>
                    <a:bodyPr/>
                    <a:lstStyle/>
                    <a:p>
                      <a:r>
                        <a:rPr lang="en-US" b="1" dirty="0">
                          <a:latin typeface="Times New Roman" panose="02020603050405020304" pitchFamily="18" charset="0"/>
                          <a:cs typeface="Times New Roman" panose="02020603050405020304" pitchFamily="18" charset="0"/>
                        </a:rPr>
                        <a:t>Libraries:</a:t>
                      </a:r>
                      <a:r>
                        <a:rPr lang="en-US" dirty="0">
                          <a:latin typeface="Times New Roman" panose="02020603050405020304" pitchFamily="18" charset="0"/>
                          <a:cs typeface="Times New Roman" panose="02020603050405020304" pitchFamily="18" charset="0"/>
                        </a:rPr>
                        <a:t> NLTK (text preprocessing), </a:t>
                      </a:r>
                      <a:r>
                        <a:rPr lang="en-US" dirty="0" err="1">
                          <a:latin typeface="Times New Roman" panose="02020603050405020304" pitchFamily="18" charset="0"/>
                          <a:cs typeface="Times New Roman" panose="02020603050405020304" pitchFamily="18" charset="0"/>
                        </a:rPr>
                        <a:t>SentenceTransformers</a:t>
                      </a:r>
                      <a:r>
                        <a:rPr lang="en-US" dirty="0">
                          <a:latin typeface="Times New Roman" panose="02020603050405020304" pitchFamily="18" charset="0"/>
                          <a:cs typeface="Times New Roman" panose="02020603050405020304" pitchFamily="18" charset="0"/>
                        </a:rPr>
                        <a:t> (all-MiniLM-L6-v2), Matplotlib &amp; </a:t>
                      </a:r>
                      <a:r>
                        <a:rPr lang="en-US" dirty="0" err="1">
                          <a:latin typeface="Times New Roman" panose="02020603050405020304" pitchFamily="18" charset="0"/>
                          <a:cs typeface="Times New Roman" panose="02020603050405020304" pitchFamily="18" charset="0"/>
                        </a:rPr>
                        <a:t>NetworkX</a:t>
                      </a:r>
                      <a:r>
                        <a:rPr lang="en-US" dirty="0">
                          <a:latin typeface="Times New Roman" panose="02020603050405020304" pitchFamily="18" charset="0"/>
                          <a:cs typeface="Times New Roman" panose="02020603050405020304" pitchFamily="18" charset="0"/>
                        </a:rPr>
                        <a:t> (visualization)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a:latin typeface="Times New Roman" panose="02020603050405020304" pitchFamily="18" charset="0"/>
                          <a:cs typeface="Times New Roman" panose="02020603050405020304" pitchFamily="18" charset="0"/>
                        </a:rPr>
                        <a:t>Storage:</a:t>
                      </a:r>
                      <a:r>
                        <a:rPr lang="en-US">
                          <a:latin typeface="Times New Roman" panose="02020603050405020304" pitchFamily="18" charset="0"/>
                          <a:cs typeface="Times New Roman" panose="02020603050405020304" pitchFamily="18" charset="0"/>
                        </a:rPr>
                        <a:t> ≥ 10 GB free disk space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0672716"/>
                  </a:ext>
                </a:extLst>
              </a:tr>
              <a:tr h="0">
                <a:tc>
                  <a:txBody>
                    <a:bodyPr/>
                    <a:lstStyle/>
                    <a:p>
                      <a:r>
                        <a:rPr lang="en-US" b="1" dirty="0">
                          <a:latin typeface="Times New Roman" panose="02020603050405020304" pitchFamily="18" charset="0"/>
                          <a:cs typeface="Times New Roman" panose="02020603050405020304" pitchFamily="18" charset="0"/>
                        </a:rPr>
                        <a:t>Environment:</a:t>
                      </a:r>
                      <a:r>
                        <a:rPr lang="en-US" dirty="0">
                          <a:latin typeface="Times New Roman" panose="02020603050405020304" pitchFamily="18" charset="0"/>
                          <a:cs typeface="Times New Roman" panose="02020603050405020304" pitchFamily="18" charset="0"/>
                        </a:rPr>
                        <a:t> Google Colab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57565910"/>
                  </a:ext>
                </a:extLst>
              </a:tr>
              <a:tr h="0">
                <a:tc>
                  <a:txBody>
                    <a:bodyPr/>
                    <a:lstStyle/>
                    <a:p>
                      <a:r>
                        <a:rPr lang="en-US" b="1" dirty="0">
                          <a:latin typeface="Times New Roman" panose="02020603050405020304" pitchFamily="18" charset="0"/>
                          <a:cs typeface="Times New Roman" panose="02020603050405020304" pitchFamily="18" charset="0"/>
                        </a:rPr>
                        <a:t>Operating System:</a:t>
                      </a:r>
                      <a:r>
                        <a:rPr lang="en-US" dirty="0">
                          <a:latin typeface="Times New Roman" panose="02020603050405020304" pitchFamily="18" charset="0"/>
                          <a:cs typeface="Times New Roman" panose="02020603050405020304" pitchFamily="18" charset="0"/>
                        </a:rPr>
                        <a:t> Windows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6091251"/>
                  </a:ext>
                </a:extLst>
              </a:tr>
            </a:tbl>
          </a:graphicData>
        </a:graphic>
      </p:graphicFrame>
      <p:sp>
        <p:nvSpPr>
          <p:cNvPr id="3" name="Date Placeholder 2"/>
          <p:cNvSpPr>
            <a:spLocks noGrp="1"/>
          </p:cNvSpPr>
          <p:nvPr>
            <p:ph type="dt" sz="half" idx="10"/>
          </p:nvPr>
        </p:nvSpPr>
        <p:spPr/>
        <p:txBody>
          <a:bodyPr/>
          <a:lstStyle/>
          <a:p>
            <a:r>
              <a:rPr lang="en-US" dirty="0"/>
              <a:t>10/11/25</a:t>
            </a:r>
          </a:p>
        </p:txBody>
      </p:sp>
      <p:sp>
        <p:nvSpPr>
          <p:cNvPr id="6" name="Footer Placeholder 5"/>
          <p:cNvSpPr>
            <a:spLocks noGrp="1"/>
          </p:cNvSpPr>
          <p:nvPr>
            <p:ph type="ftr" sz="quarter" idx="11"/>
          </p:nvPr>
        </p:nvSpPr>
        <p:spPr/>
        <p:txBody>
          <a:bodyPr/>
          <a:lstStyle/>
          <a:p>
            <a:r>
              <a:rPr lang="en-US" dirty="0"/>
              <a:t>Review No. 1     Batch No.CG112         Department of CSE</a:t>
            </a:r>
          </a:p>
        </p:txBody>
      </p:sp>
      <p:sp>
        <p:nvSpPr>
          <p:cNvPr id="7" name="Slide Number Placeholder 6"/>
          <p:cNvSpPr>
            <a:spLocks noGrp="1"/>
          </p:cNvSpPr>
          <p:nvPr>
            <p:ph type="sldNum" sz="quarter" idx="12"/>
          </p:nvPr>
        </p:nvSpPr>
        <p:spPr/>
        <p:txBody>
          <a:bodyPr/>
          <a:lstStyle/>
          <a:p>
            <a:fld id="{FFEC67FC-8107-4C00-9415-4D1567E899B9}" type="slidenum">
              <a:rPr lang="en-US" smtClean="0"/>
              <a:t>15</a:t>
            </a:fld>
            <a:endParaRPr lang="en-US"/>
          </a:p>
        </p:txBody>
      </p:sp>
    </p:spTree>
    <p:extLst>
      <p:ext uri="{BB962C8B-B14F-4D97-AF65-F5344CB8AC3E}">
        <p14:creationId xmlns:p14="http://schemas.microsoft.com/office/powerpoint/2010/main" val="41353736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1A185FC-68FA-27C9-D8CF-F2F9308E5E39}"/>
              </a:ext>
            </a:extLst>
          </p:cNvPr>
          <p:cNvSpPr>
            <a:spLocks noGrp="1"/>
          </p:cNvSpPr>
          <p:nvPr>
            <p:ph type="title"/>
          </p:nvPr>
        </p:nvSpPr>
        <p:spPr>
          <a:xfrm>
            <a:off x="979129" y="348091"/>
            <a:ext cx="10515600" cy="722072"/>
          </a:xfrm>
        </p:spPr>
        <p:txBody>
          <a:bodyPr/>
          <a:lstStyle/>
          <a:p>
            <a:r>
              <a:rPr lang="en-US" dirty="0"/>
              <a:t>                             </a:t>
            </a:r>
            <a:r>
              <a:rPr lang="en-US" sz="3200" b="1" dirty="0"/>
              <a:t>Performance Metrics</a:t>
            </a:r>
            <a:endParaRPr lang="en-IN" sz="3200" b="1" dirty="0"/>
          </a:p>
        </p:txBody>
      </p:sp>
      <p:sp>
        <p:nvSpPr>
          <p:cNvPr id="2" name="Date Placeholder 1">
            <a:extLst>
              <a:ext uri="{FF2B5EF4-FFF2-40B4-BE49-F238E27FC236}">
                <a16:creationId xmlns:a16="http://schemas.microsoft.com/office/drawing/2014/main" id="{4CB6B23C-B259-1F54-56BD-BAAAFA8FB17B}"/>
              </a:ext>
            </a:extLst>
          </p:cNvPr>
          <p:cNvSpPr>
            <a:spLocks noGrp="1"/>
          </p:cNvSpPr>
          <p:nvPr>
            <p:ph type="dt" sz="half" idx="10"/>
          </p:nvPr>
        </p:nvSpPr>
        <p:spPr/>
        <p:txBody>
          <a:bodyPr/>
          <a:lstStyle/>
          <a:p>
            <a:r>
              <a:rPr lang="en-US" dirty="0"/>
              <a:t>10/11/25</a:t>
            </a:r>
          </a:p>
        </p:txBody>
      </p:sp>
      <p:sp>
        <p:nvSpPr>
          <p:cNvPr id="3" name="Footer Placeholder 2">
            <a:extLst>
              <a:ext uri="{FF2B5EF4-FFF2-40B4-BE49-F238E27FC236}">
                <a16:creationId xmlns:a16="http://schemas.microsoft.com/office/drawing/2014/main" id="{57CCC52C-F7DC-29F5-F5F9-51BF03D513C1}"/>
              </a:ext>
            </a:extLst>
          </p:cNvPr>
          <p:cNvSpPr>
            <a:spLocks noGrp="1"/>
          </p:cNvSpPr>
          <p:nvPr>
            <p:ph type="ftr" sz="quarter" idx="11"/>
          </p:nvPr>
        </p:nvSpPr>
        <p:spPr/>
        <p:txBody>
          <a:bodyPr/>
          <a:lstStyle/>
          <a:p>
            <a:r>
              <a:rPr lang="en-US" dirty="0"/>
              <a:t>Review No. 1     Batch No. CG12        Department of CSE</a:t>
            </a:r>
          </a:p>
        </p:txBody>
      </p:sp>
      <p:sp>
        <p:nvSpPr>
          <p:cNvPr id="4" name="Slide Number Placeholder 3">
            <a:extLst>
              <a:ext uri="{FF2B5EF4-FFF2-40B4-BE49-F238E27FC236}">
                <a16:creationId xmlns:a16="http://schemas.microsoft.com/office/drawing/2014/main" id="{EF3EC1FA-E567-9AE2-A151-E0222CCF1A58}"/>
              </a:ext>
            </a:extLst>
          </p:cNvPr>
          <p:cNvSpPr>
            <a:spLocks noGrp="1"/>
          </p:cNvSpPr>
          <p:nvPr>
            <p:ph type="sldNum" sz="quarter" idx="12"/>
          </p:nvPr>
        </p:nvSpPr>
        <p:spPr/>
        <p:txBody>
          <a:bodyPr/>
          <a:lstStyle/>
          <a:p>
            <a:fld id="{FFEC67FC-8107-4C00-9415-4D1567E899B9}" type="slidenum">
              <a:rPr lang="en-US" smtClean="0"/>
              <a:t>16</a:t>
            </a:fld>
            <a:endParaRPr lang="en-US"/>
          </a:p>
        </p:txBody>
      </p:sp>
      <p:pic>
        <p:nvPicPr>
          <p:cNvPr id="5" name="Picture 4">
            <a:extLst>
              <a:ext uri="{FF2B5EF4-FFF2-40B4-BE49-F238E27FC236}">
                <a16:creationId xmlns:a16="http://schemas.microsoft.com/office/drawing/2014/main" id="{FEA8D4C2-31F5-78B9-BBF6-E6B2BD97B7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22072"/>
          </a:xfrm>
          <a:prstGeom prst="rect">
            <a:avLst/>
          </a:prstGeom>
        </p:spPr>
      </p:pic>
      <mc:AlternateContent xmlns:mc="http://schemas.openxmlformats.org/markup-compatibility/2006">
        <mc:Choice xmlns:a14="http://schemas.microsoft.com/office/drawing/2010/main" Requires="a14">
          <p:graphicFrame>
            <p:nvGraphicFramePr>
              <p:cNvPr id="7" name="Table 6">
                <a:extLst>
                  <a:ext uri="{FF2B5EF4-FFF2-40B4-BE49-F238E27FC236}">
                    <a16:creationId xmlns:a16="http://schemas.microsoft.com/office/drawing/2014/main" id="{C83619B7-0A8E-F240-DB8A-CD580A1D922F}"/>
                  </a:ext>
                </a:extLst>
              </p:cNvPr>
              <p:cNvGraphicFramePr>
                <a:graphicFrameLocks noGrp="1"/>
              </p:cNvGraphicFramePr>
              <p:nvPr>
                <p:extLst>
                  <p:ext uri="{D42A27DB-BD31-4B8C-83A1-F6EECF244321}">
                    <p14:modId xmlns:p14="http://schemas.microsoft.com/office/powerpoint/2010/main" val="3523605920"/>
                  </p:ext>
                </p:extLst>
              </p:nvPr>
            </p:nvGraphicFramePr>
            <p:xfrm>
              <a:off x="1360129" y="1019449"/>
              <a:ext cx="9753600" cy="5021771"/>
            </p:xfrm>
            <a:graphic>
              <a:graphicData uri="http://schemas.openxmlformats.org/drawingml/2006/table">
                <a:tbl>
                  <a:tblPr firstRow="1" bandRow="1">
                    <a:tableStyleId>{5C22544A-7EE6-4342-B048-85BDC9FD1C3A}</a:tableStyleId>
                  </a:tblPr>
                  <a:tblGrid>
                    <a:gridCol w="1992671">
                      <a:extLst>
                        <a:ext uri="{9D8B030D-6E8A-4147-A177-3AD203B41FA5}">
                          <a16:colId xmlns:a16="http://schemas.microsoft.com/office/drawing/2014/main" val="2878084267"/>
                        </a:ext>
                      </a:extLst>
                    </a:gridCol>
                    <a:gridCol w="3923071">
                      <a:extLst>
                        <a:ext uri="{9D8B030D-6E8A-4147-A177-3AD203B41FA5}">
                          <a16:colId xmlns:a16="http://schemas.microsoft.com/office/drawing/2014/main" val="1182402668"/>
                        </a:ext>
                      </a:extLst>
                    </a:gridCol>
                    <a:gridCol w="3837858">
                      <a:extLst>
                        <a:ext uri="{9D8B030D-6E8A-4147-A177-3AD203B41FA5}">
                          <a16:colId xmlns:a16="http://schemas.microsoft.com/office/drawing/2014/main" val="1681595404"/>
                        </a:ext>
                      </a:extLst>
                    </a:gridCol>
                  </a:tblGrid>
                  <a:tr h="370840">
                    <a:tc>
                      <a:txBody>
                        <a:bodyPr/>
                        <a:lstStyle/>
                        <a:p>
                          <a:pPr>
                            <a:buNone/>
                          </a:pPr>
                          <a:r>
                            <a:rPr lang="en-IN" b="1" dirty="0">
                              <a:latin typeface="Times New Roman" panose="02020603050405020304" pitchFamily="18" charset="0"/>
                              <a:cs typeface="Times New Roman" panose="02020603050405020304" pitchFamily="18" charset="0"/>
                            </a:rPr>
                            <a:t>Formula Name</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Expression</a:t>
                          </a:r>
                        </a:p>
                      </a:txBody>
                      <a:tcPr/>
                    </a:tc>
                    <a:tc>
                      <a:txBody>
                        <a:bodyPr/>
                        <a:lstStyle/>
                        <a:p>
                          <a:pPr>
                            <a:buNone/>
                          </a:pPr>
                          <a:r>
                            <a:rPr lang="en-US" dirty="0">
                              <a:latin typeface="Times New Roman" panose="02020603050405020304" pitchFamily="18" charset="0"/>
                              <a:cs typeface="Times New Roman" panose="02020603050405020304" pitchFamily="18" charset="0"/>
                            </a:rPr>
                            <a:t>Description</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613557077"/>
                      </a:ext>
                    </a:extLst>
                  </a:tr>
                  <a:tr h="637458">
                    <a:tc>
                      <a:txBody>
                        <a:bodyPr/>
                        <a:lstStyle/>
                        <a:p>
                          <a:r>
                            <a:rPr lang="en-IN" dirty="0">
                              <a:latin typeface="Times New Roman" panose="02020603050405020304" pitchFamily="18" charset="0"/>
                              <a:cs typeface="Times New Roman" panose="02020603050405020304" pitchFamily="18" charset="0"/>
                            </a:rPr>
                            <a:t>Min–Max Normalization</a:t>
                          </a:r>
                        </a:p>
                      </a:txBody>
                      <a:tcPr/>
                    </a:tc>
                    <a:tc>
                      <a:txBody>
                        <a:bodyPr/>
                        <a:lstStyle/>
                        <a:p>
                          <a14:m>
                            <m:oMath xmlns:m="http://schemas.openxmlformats.org/officeDocument/2006/math">
                              <m:r>
                                <a:rPr lang="en-US" sz="1800" i="1" kern="1200" smtClean="0">
                                  <a:solidFill>
                                    <a:schemeClr val="dk1"/>
                                  </a:solidFill>
                                  <a:effectLst/>
                                  <a:latin typeface="Cambria Math" panose="02040503050406030204" pitchFamily="18" charset="0"/>
                                  <a:ea typeface="+mn-ea"/>
                                  <a:cs typeface="+mn-cs"/>
                                </a:rPr>
                                <m:t> </m:t>
                              </m:r>
                              <m:r>
                                <a:rPr lang="en-US" sz="1800" i="1" kern="1200" smtClean="0">
                                  <a:solidFill>
                                    <a:schemeClr val="dk1"/>
                                  </a:solidFill>
                                  <a:effectLst/>
                                  <a:latin typeface="Cambria Math" panose="02040503050406030204" pitchFamily="18" charset="0"/>
                                  <a:ea typeface="+mn-ea"/>
                                  <a:cs typeface="+mn-cs"/>
                                </a:rPr>
                                <m:t>𝑋</m:t>
                              </m:r>
                              <m:r>
                                <a:rPr lang="en-US" sz="1800" i="1" kern="1200" smtClean="0">
                                  <a:solidFill>
                                    <a:schemeClr val="dk1"/>
                                  </a:solidFill>
                                  <a:effectLst/>
                                  <a:latin typeface="Cambria Math" panose="02040503050406030204" pitchFamily="18" charset="0"/>
                                  <a:ea typeface="+mn-ea"/>
                                  <a:cs typeface="+mn-cs"/>
                                </a:rPr>
                                <m:t>′=</m:t>
                              </m:r>
                              <m:f>
                                <m:fPr>
                                  <m:ctrlPr>
                                    <a:rPr lang="en-IN" sz="1800" i="1" kern="1200">
                                      <a:solidFill>
                                        <a:schemeClr val="dk1"/>
                                      </a:solidFill>
                                      <a:effectLst/>
                                      <a:latin typeface="Cambria Math" panose="02040503050406030204" pitchFamily="18" charset="0"/>
                                      <a:ea typeface="+mn-ea"/>
                                      <a:cs typeface="+mn-cs"/>
                                    </a:rPr>
                                  </m:ctrlPr>
                                </m:fPr>
                                <m:num>
                                  <m:r>
                                    <a:rPr lang="en-US" sz="1800" i="1" kern="1200">
                                      <a:solidFill>
                                        <a:schemeClr val="dk1"/>
                                      </a:solidFill>
                                      <a:effectLst/>
                                      <a:latin typeface="Cambria Math" panose="02040503050406030204" pitchFamily="18" charset="0"/>
                                      <a:ea typeface="+mn-ea"/>
                                      <a:cs typeface="+mn-cs"/>
                                    </a:rPr>
                                    <m:t>𝑋</m:t>
                                  </m:r>
                                  <m:r>
                                    <a:rPr lang="en-US" sz="1800" i="1" kern="1200">
                                      <a:solidFill>
                                        <a:schemeClr val="dk1"/>
                                      </a:solidFill>
                                      <a:effectLst/>
                                      <a:latin typeface="Cambria Math" panose="02040503050406030204" pitchFamily="18" charset="0"/>
                                      <a:ea typeface="+mn-ea"/>
                                      <a:cs typeface="+mn-cs"/>
                                    </a:rPr>
                                    <m:t>−</m:t>
                                  </m:r>
                                  <m:sSub>
                                    <m:sSubPr>
                                      <m:ctrlPr>
                                        <a:rPr lang="en-IN" sz="1800" i="1" kern="1200">
                                          <a:solidFill>
                                            <a:schemeClr val="dk1"/>
                                          </a:solidFill>
                                          <a:effectLst/>
                                          <a:latin typeface="Cambria Math" panose="02040503050406030204" pitchFamily="18" charset="0"/>
                                          <a:ea typeface="+mn-ea"/>
                                          <a:cs typeface="+mn-cs"/>
                                        </a:rPr>
                                      </m:ctrlPr>
                                    </m:sSubPr>
                                    <m:e>
                                      <m:r>
                                        <a:rPr lang="en-US" sz="1800" i="1" kern="1200">
                                          <a:solidFill>
                                            <a:schemeClr val="dk1"/>
                                          </a:solidFill>
                                          <a:effectLst/>
                                          <a:latin typeface="Cambria Math" panose="02040503050406030204" pitchFamily="18" charset="0"/>
                                          <a:ea typeface="+mn-ea"/>
                                          <a:cs typeface="+mn-cs"/>
                                        </a:rPr>
                                        <m:t>𝑋</m:t>
                                      </m:r>
                                    </m:e>
                                    <m:sub>
                                      <m:r>
                                        <a:rPr lang="en-US" sz="1800" i="1" kern="1200">
                                          <a:solidFill>
                                            <a:schemeClr val="dk1"/>
                                          </a:solidFill>
                                          <a:effectLst/>
                                          <a:latin typeface="Cambria Math" panose="02040503050406030204" pitchFamily="18" charset="0"/>
                                          <a:ea typeface="+mn-ea"/>
                                          <a:cs typeface="+mn-cs"/>
                                        </a:rPr>
                                        <m:t>𝑚𝑖𝑛</m:t>
                                      </m:r>
                                    </m:sub>
                                  </m:sSub>
                                </m:num>
                                <m:den>
                                  <m:sSub>
                                    <m:sSubPr>
                                      <m:ctrlPr>
                                        <a:rPr lang="en-IN" sz="1800" i="1" kern="1200">
                                          <a:solidFill>
                                            <a:schemeClr val="dk1"/>
                                          </a:solidFill>
                                          <a:effectLst/>
                                          <a:latin typeface="Cambria Math" panose="02040503050406030204" pitchFamily="18" charset="0"/>
                                          <a:ea typeface="+mn-ea"/>
                                          <a:cs typeface="+mn-cs"/>
                                        </a:rPr>
                                      </m:ctrlPr>
                                    </m:sSubPr>
                                    <m:e>
                                      <m:r>
                                        <a:rPr lang="en-US" sz="1800" i="1" kern="1200">
                                          <a:solidFill>
                                            <a:schemeClr val="dk1"/>
                                          </a:solidFill>
                                          <a:effectLst/>
                                          <a:latin typeface="Cambria Math" panose="02040503050406030204" pitchFamily="18" charset="0"/>
                                          <a:ea typeface="+mn-ea"/>
                                          <a:cs typeface="+mn-cs"/>
                                        </a:rPr>
                                        <m:t>𝑋</m:t>
                                      </m:r>
                                    </m:e>
                                    <m:sub>
                                      <m:r>
                                        <a:rPr lang="en-US" sz="1800" i="1" kern="1200">
                                          <a:solidFill>
                                            <a:schemeClr val="dk1"/>
                                          </a:solidFill>
                                          <a:effectLst/>
                                          <a:latin typeface="Cambria Math" panose="02040503050406030204" pitchFamily="18" charset="0"/>
                                          <a:ea typeface="+mn-ea"/>
                                          <a:cs typeface="+mn-cs"/>
                                        </a:rPr>
                                        <m:t>𝑚𝑎𝑥</m:t>
                                      </m:r>
                                    </m:sub>
                                  </m:sSub>
                                  <m:r>
                                    <a:rPr lang="en-US" sz="1800" i="1" kern="1200">
                                      <a:solidFill>
                                        <a:schemeClr val="dk1"/>
                                      </a:solidFill>
                                      <a:effectLst/>
                                      <a:latin typeface="Cambria Math" panose="02040503050406030204" pitchFamily="18" charset="0"/>
                                      <a:ea typeface="+mn-ea"/>
                                      <a:cs typeface="+mn-cs"/>
                                    </a:rPr>
                                    <m:t>−</m:t>
                                  </m:r>
                                  <m:sSub>
                                    <m:sSubPr>
                                      <m:ctrlPr>
                                        <a:rPr lang="en-IN" sz="1800" i="1" kern="1200">
                                          <a:solidFill>
                                            <a:schemeClr val="dk1"/>
                                          </a:solidFill>
                                          <a:effectLst/>
                                          <a:latin typeface="Cambria Math" panose="02040503050406030204" pitchFamily="18" charset="0"/>
                                          <a:ea typeface="+mn-ea"/>
                                          <a:cs typeface="+mn-cs"/>
                                        </a:rPr>
                                      </m:ctrlPr>
                                    </m:sSubPr>
                                    <m:e>
                                      <m:r>
                                        <a:rPr lang="en-US" sz="1800" i="1" kern="1200">
                                          <a:solidFill>
                                            <a:schemeClr val="dk1"/>
                                          </a:solidFill>
                                          <a:effectLst/>
                                          <a:latin typeface="Cambria Math" panose="02040503050406030204" pitchFamily="18" charset="0"/>
                                          <a:ea typeface="+mn-ea"/>
                                          <a:cs typeface="+mn-cs"/>
                                        </a:rPr>
                                        <m:t>𝑋</m:t>
                                      </m:r>
                                    </m:e>
                                    <m:sub>
                                      <m:r>
                                        <a:rPr lang="en-US" sz="1800" i="1" kern="1200">
                                          <a:solidFill>
                                            <a:schemeClr val="dk1"/>
                                          </a:solidFill>
                                          <a:effectLst/>
                                          <a:latin typeface="Cambria Math" panose="02040503050406030204" pitchFamily="18" charset="0"/>
                                          <a:ea typeface="+mn-ea"/>
                                          <a:cs typeface="+mn-cs"/>
                                        </a:rPr>
                                        <m:t>𝑚𝑖𝑛</m:t>
                                      </m:r>
                                    </m:sub>
                                  </m:sSub>
                                </m:den>
                              </m:f>
                            </m:oMath>
                          </a14:m>
                          <a:r>
                            <a:rPr lang="en-US" sz="1800" i="1" kern="1200" dirty="0">
                              <a:solidFill>
                                <a:schemeClr val="dk1"/>
                              </a:solidFill>
                              <a:effectLst/>
                              <a:latin typeface="Times New Roman" panose="02020603050405020304" pitchFamily="18" charset="0"/>
                              <a:ea typeface="+mn-ea"/>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Scales input features to a uniform range between 0 and 1 for better model performance.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38891385"/>
                      </a:ext>
                    </a:extLst>
                  </a:tr>
                  <a:tr h="370840">
                    <a:tc>
                      <a:txBody>
                        <a:bodyPr/>
                        <a:lstStyle/>
                        <a:p>
                          <a:r>
                            <a:rPr lang="en-IN" dirty="0">
                              <a:latin typeface="Times New Roman" panose="02020603050405020304" pitchFamily="18" charset="0"/>
                              <a:cs typeface="Times New Roman" panose="02020603050405020304" pitchFamily="18" charset="0"/>
                            </a:rPr>
                            <a:t>Accuracy</a:t>
                          </a:r>
                        </a:p>
                      </a:txBody>
                      <a:tcPr/>
                    </a:tc>
                    <a:tc>
                      <a:txBody>
                        <a:bodyPr/>
                        <a:lstStyle/>
                        <a:p>
                          <a:pPr/>
                          <a14:m>
                            <m:oMathPara xmlns:m="http://schemas.openxmlformats.org/officeDocument/2006/math">
                              <m:oMathParaPr>
                                <m:jc m:val="centerGroup"/>
                              </m:oMathParaPr>
                              <m:oMath xmlns:m="http://schemas.openxmlformats.org/officeDocument/2006/math">
                                <m:r>
                                  <a:rPr lang="en-US" sz="1800" i="1" kern="1200" smtClean="0">
                                    <a:solidFill>
                                      <a:schemeClr val="dk1"/>
                                    </a:solidFill>
                                    <a:effectLst/>
                                    <a:latin typeface="Cambria Math" panose="02040503050406030204" pitchFamily="18" charset="0"/>
                                    <a:ea typeface="+mn-ea"/>
                                    <a:cs typeface="+mn-cs"/>
                                  </a:rPr>
                                  <m:t>𝐴𝑐𝑐𝑢𝑟𝑎𝑐𝑦</m:t>
                                </m:r>
                                <m:r>
                                  <a:rPr lang="en-US" sz="1800" i="1" kern="1200" smtClean="0">
                                    <a:solidFill>
                                      <a:schemeClr val="dk1"/>
                                    </a:solidFill>
                                    <a:effectLst/>
                                    <a:latin typeface="Cambria Math" panose="02040503050406030204" pitchFamily="18" charset="0"/>
                                    <a:ea typeface="+mn-ea"/>
                                    <a:cs typeface="+mn-cs"/>
                                  </a:rPr>
                                  <m:t>=</m:t>
                                </m:r>
                                <m:f>
                                  <m:fPr>
                                    <m:ctrlPr>
                                      <a:rPr lang="en-IN" sz="1800" i="1" kern="1200">
                                        <a:solidFill>
                                          <a:schemeClr val="dk1"/>
                                        </a:solidFill>
                                        <a:effectLst/>
                                        <a:latin typeface="Cambria Math" panose="02040503050406030204" pitchFamily="18" charset="0"/>
                                        <a:ea typeface="+mn-ea"/>
                                        <a:cs typeface="+mn-cs"/>
                                      </a:rPr>
                                    </m:ctrlPr>
                                  </m:fPr>
                                  <m:num>
                                    <m:r>
                                      <a:rPr lang="en-US" sz="1800" i="1" kern="1200">
                                        <a:solidFill>
                                          <a:schemeClr val="dk1"/>
                                        </a:solidFill>
                                        <a:effectLst/>
                                        <a:latin typeface="Cambria Math" panose="02040503050406030204" pitchFamily="18" charset="0"/>
                                        <a:ea typeface="+mn-ea"/>
                                        <a:cs typeface="+mn-cs"/>
                                      </a:rPr>
                                      <m:t>𝑇𝑃</m:t>
                                    </m:r>
                                    <m:r>
                                      <a:rPr lang="en-US" sz="1800" i="1" kern="1200">
                                        <a:solidFill>
                                          <a:schemeClr val="dk1"/>
                                        </a:solidFill>
                                        <a:effectLst/>
                                        <a:latin typeface="Cambria Math" panose="02040503050406030204" pitchFamily="18" charset="0"/>
                                        <a:ea typeface="+mn-ea"/>
                                        <a:cs typeface="+mn-cs"/>
                                      </a:rPr>
                                      <m:t>+</m:t>
                                    </m:r>
                                    <m:r>
                                      <a:rPr lang="en-US" sz="1800" i="1" kern="1200">
                                        <a:solidFill>
                                          <a:schemeClr val="dk1"/>
                                        </a:solidFill>
                                        <a:effectLst/>
                                        <a:latin typeface="Cambria Math" panose="02040503050406030204" pitchFamily="18" charset="0"/>
                                        <a:ea typeface="+mn-ea"/>
                                        <a:cs typeface="+mn-cs"/>
                                      </a:rPr>
                                      <m:t>𝑇𝑁</m:t>
                                    </m:r>
                                  </m:num>
                                  <m:den>
                                    <m:r>
                                      <a:rPr lang="en-US" sz="1800" i="1" kern="1200">
                                        <a:solidFill>
                                          <a:schemeClr val="dk1"/>
                                        </a:solidFill>
                                        <a:effectLst/>
                                        <a:latin typeface="Cambria Math" panose="02040503050406030204" pitchFamily="18" charset="0"/>
                                        <a:ea typeface="+mn-ea"/>
                                        <a:cs typeface="+mn-cs"/>
                                      </a:rPr>
                                      <m:t>𝑇𝑃</m:t>
                                    </m:r>
                                    <m:r>
                                      <a:rPr lang="en-US" sz="1800" i="1" kern="1200">
                                        <a:solidFill>
                                          <a:schemeClr val="dk1"/>
                                        </a:solidFill>
                                        <a:effectLst/>
                                        <a:latin typeface="Cambria Math" panose="02040503050406030204" pitchFamily="18" charset="0"/>
                                        <a:ea typeface="+mn-ea"/>
                                        <a:cs typeface="+mn-cs"/>
                                      </a:rPr>
                                      <m:t>+</m:t>
                                    </m:r>
                                    <m:r>
                                      <a:rPr lang="en-US" sz="1800" i="1" kern="1200">
                                        <a:solidFill>
                                          <a:schemeClr val="dk1"/>
                                        </a:solidFill>
                                        <a:effectLst/>
                                        <a:latin typeface="Cambria Math" panose="02040503050406030204" pitchFamily="18" charset="0"/>
                                        <a:ea typeface="+mn-ea"/>
                                        <a:cs typeface="+mn-cs"/>
                                      </a:rPr>
                                      <m:t>𝑇𝑁</m:t>
                                    </m:r>
                                    <m:r>
                                      <a:rPr lang="en-US" sz="1800" i="1" kern="1200">
                                        <a:solidFill>
                                          <a:schemeClr val="dk1"/>
                                        </a:solidFill>
                                        <a:effectLst/>
                                        <a:latin typeface="Cambria Math" panose="02040503050406030204" pitchFamily="18" charset="0"/>
                                        <a:ea typeface="+mn-ea"/>
                                        <a:cs typeface="+mn-cs"/>
                                      </a:rPr>
                                      <m:t>+</m:t>
                                    </m:r>
                                    <m:r>
                                      <a:rPr lang="en-US" sz="1800" i="1" kern="1200">
                                        <a:solidFill>
                                          <a:schemeClr val="dk1"/>
                                        </a:solidFill>
                                        <a:effectLst/>
                                        <a:latin typeface="Cambria Math" panose="02040503050406030204" pitchFamily="18" charset="0"/>
                                        <a:ea typeface="+mn-ea"/>
                                        <a:cs typeface="+mn-cs"/>
                                      </a:rPr>
                                      <m:t>𝐹𝑃</m:t>
                                    </m:r>
                                    <m:r>
                                      <a:rPr lang="en-US" sz="1800" i="1" kern="1200">
                                        <a:solidFill>
                                          <a:schemeClr val="dk1"/>
                                        </a:solidFill>
                                        <a:effectLst/>
                                        <a:latin typeface="Cambria Math" panose="02040503050406030204" pitchFamily="18" charset="0"/>
                                        <a:ea typeface="+mn-ea"/>
                                        <a:cs typeface="+mn-cs"/>
                                      </a:rPr>
                                      <m:t>+</m:t>
                                    </m:r>
                                    <m:r>
                                      <a:rPr lang="en-US" sz="1800" i="1" kern="1200">
                                        <a:solidFill>
                                          <a:schemeClr val="dk1"/>
                                        </a:solidFill>
                                        <a:effectLst/>
                                        <a:latin typeface="Cambria Math" panose="02040503050406030204" pitchFamily="18" charset="0"/>
                                        <a:ea typeface="+mn-ea"/>
                                        <a:cs typeface="+mn-cs"/>
                                      </a:rPr>
                                      <m:t>𝐹𝑁</m:t>
                                    </m:r>
                                  </m:den>
                                </m:f>
                              </m:oMath>
                            </m:oMathPara>
                          </a14:m>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Represents the proportion of correctly predicted flood and non-flood cases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84653524"/>
                      </a:ext>
                    </a:extLst>
                  </a:tr>
                  <a:tr h="370840">
                    <a:tc>
                      <a:txBody>
                        <a:bodyPr/>
                        <a:lstStyle/>
                        <a:p>
                          <a:r>
                            <a:rPr lang="en-IN" dirty="0">
                              <a:latin typeface="Times New Roman" panose="02020603050405020304" pitchFamily="18" charset="0"/>
                              <a:cs typeface="Times New Roman" panose="02020603050405020304" pitchFamily="18" charset="0"/>
                            </a:rPr>
                            <a:t>R-Squared (R²)</a:t>
                          </a:r>
                        </a:p>
                      </a:txBody>
                      <a:tcPr/>
                    </a:tc>
                    <a:tc>
                      <a:txBody>
                        <a:bodyPr/>
                        <a:lstStyle/>
                        <a:p>
                          <a14:m>
                            <m:oMath xmlns:m="http://schemas.openxmlformats.org/officeDocument/2006/math">
                              <m:r>
                                <a:rPr lang="en-US" sz="1800" i="1" kern="1200" smtClean="0">
                                  <a:solidFill>
                                    <a:schemeClr val="dk1"/>
                                  </a:solidFill>
                                  <a:effectLst/>
                                  <a:latin typeface="Cambria Math" panose="02040503050406030204" pitchFamily="18" charset="0"/>
                                  <a:ea typeface="+mn-ea"/>
                                  <a:cs typeface="+mn-cs"/>
                                </a:rPr>
                                <m:t> </m:t>
                              </m:r>
                              <m:sSup>
                                <m:sSupPr>
                                  <m:ctrlPr>
                                    <a:rPr lang="en-IN" sz="1800" i="1" kern="1200">
                                      <a:solidFill>
                                        <a:schemeClr val="dk1"/>
                                      </a:solidFill>
                                      <a:effectLst/>
                                      <a:latin typeface="Cambria Math" panose="02040503050406030204" pitchFamily="18" charset="0"/>
                                      <a:ea typeface="+mn-ea"/>
                                      <a:cs typeface="+mn-cs"/>
                                    </a:rPr>
                                  </m:ctrlPr>
                                </m:sSupPr>
                                <m:e>
                                  <m:r>
                                    <a:rPr lang="en-US" sz="1800" i="1" kern="1200">
                                      <a:solidFill>
                                        <a:schemeClr val="dk1"/>
                                      </a:solidFill>
                                      <a:effectLst/>
                                      <a:latin typeface="Cambria Math" panose="02040503050406030204" pitchFamily="18" charset="0"/>
                                      <a:ea typeface="+mn-ea"/>
                                      <a:cs typeface="+mn-cs"/>
                                    </a:rPr>
                                    <m:t>𝑅</m:t>
                                  </m:r>
                                </m:e>
                                <m:sup>
                                  <m:r>
                                    <a:rPr lang="en-US" sz="1800" i="1" kern="1200">
                                      <a:solidFill>
                                        <a:schemeClr val="dk1"/>
                                      </a:solidFill>
                                      <a:effectLst/>
                                      <a:latin typeface="Cambria Math" panose="02040503050406030204" pitchFamily="18" charset="0"/>
                                      <a:ea typeface="+mn-ea"/>
                                      <a:cs typeface="+mn-cs"/>
                                    </a:rPr>
                                    <m:t>2</m:t>
                                  </m:r>
                                </m:sup>
                              </m:sSup>
                              <m:r>
                                <a:rPr lang="en-US" sz="1800" i="1" kern="1200">
                                  <a:solidFill>
                                    <a:schemeClr val="dk1"/>
                                  </a:solidFill>
                                  <a:effectLst/>
                                  <a:latin typeface="Cambria Math" panose="02040503050406030204" pitchFamily="18" charset="0"/>
                                  <a:ea typeface="+mn-ea"/>
                                  <a:cs typeface="+mn-cs"/>
                                </a:rPr>
                                <m:t>=1−</m:t>
                              </m:r>
                              <m:f>
                                <m:fPr>
                                  <m:ctrlPr>
                                    <a:rPr lang="en-IN" sz="1800" i="1" kern="1200">
                                      <a:solidFill>
                                        <a:schemeClr val="dk1"/>
                                      </a:solidFill>
                                      <a:effectLst/>
                                      <a:latin typeface="Cambria Math" panose="02040503050406030204" pitchFamily="18" charset="0"/>
                                      <a:ea typeface="+mn-ea"/>
                                      <a:cs typeface="+mn-cs"/>
                                    </a:rPr>
                                  </m:ctrlPr>
                                </m:fPr>
                                <m:num>
                                  <m:nary>
                                    <m:naryPr>
                                      <m:chr m:val="∑"/>
                                      <m:limLoc m:val="undOvr"/>
                                      <m:ctrlPr>
                                        <a:rPr lang="en-IN" sz="1800" i="1" kern="1200">
                                          <a:solidFill>
                                            <a:schemeClr val="dk1"/>
                                          </a:solidFill>
                                          <a:effectLst/>
                                          <a:latin typeface="Cambria Math" panose="02040503050406030204" pitchFamily="18" charset="0"/>
                                          <a:ea typeface="+mn-ea"/>
                                          <a:cs typeface="+mn-cs"/>
                                        </a:rPr>
                                      </m:ctrlPr>
                                    </m:naryPr>
                                    <m:sub>
                                      <m:r>
                                        <a:rPr lang="en-US" sz="1800" i="1" kern="1200">
                                          <a:solidFill>
                                            <a:schemeClr val="dk1"/>
                                          </a:solidFill>
                                          <a:effectLst/>
                                          <a:latin typeface="Cambria Math" panose="02040503050406030204" pitchFamily="18" charset="0"/>
                                          <a:ea typeface="+mn-ea"/>
                                          <a:cs typeface="+mn-cs"/>
                                        </a:rPr>
                                        <m:t>𝑖</m:t>
                                      </m:r>
                                      <m:r>
                                        <a:rPr lang="en-US" sz="1800" i="1" kern="1200">
                                          <a:solidFill>
                                            <a:schemeClr val="dk1"/>
                                          </a:solidFill>
                                          <a:effectLst/>
                                          <a:latin typeface="Cambria Math" panose="02040503050406030204" pitchFamily="18" charset="0"/>
                                          <a:ea typeface="+mn-ea"/>
                                          <a:cs typeface="+mn-cs"/>
                                        </a:rPr>
                                        <m:t>=1</m:t>
                                      </m:r>
                                    </m:sub>
                                    <m:sup>
                                      <m:r>
                                        <a:rPr lang="en-US" sz="1800" i="1" kern="1200">
                                          <a:solidFill>
                                            <a:schemeClr val="dk1"/>
                                          </a:solidFill>
                                          <a:effectLst/>
                                          <a:latin typeface="Cambria Math" panose="02040503050406030204" pitchFamily="18" charset="0"/>
                                          <a:ea typeface="+mn-ea"/>
                                          <a:cs typeface="+mn-cs"/>
                                        </a:rPr>
                                        <m:t>𝑛</m:t>
                                      </m:r>
                                    </m:sup>
                                    <m:e>
                                      <m:sSup>
                                        <m:sSupPr>
                                          <m:ctrlPr>
                                            <a:rPr lang="en-IN" sz="1800" i="1" kern="1200">
                                              <a:solidFill>
                                                <a:schemeClr val="dk1"/>
                                              </a:solidFill>
                                              <a:effectLst/>
                                              <a:latin typeface="Cambria Math" panose="02040503050406030204" pitchFamily="18" charset="0"/>
                                              <a:ea typeface="+mn-ea"/>
                                              <a:cs typeface="+mn-cs"/>
                                            </a:rPr>
                                          </m:ctrlPr>
                                        </m:sSupPr>
                                        <m:e>
                                          <m:d>
                                            <m:dPr>
                                              <m:ctrlPr>
                                                <a:rPr lang="en-IN" sz="1800" i="1" kern="1200">
                                                  <a:solidFill>
                                                    <a:schemeClr val="dk1"/>
                                                  </a:solidFill>
                                                  <a:effectLst/>
                                                  <a:latin typeface="Cambria Math" panose="02040503050406030204" pitchFamily="18" charset="0"/>
                                                  <a:ea typeface="+mn-ea"/>
                                                  <a:cs typeface="+mn-cs"/>
                                                </a:rPr>
                                              </m:ctrlPr>
                                            </m:dPr>
                                            <m:e>
                                              <m:sSub>
                                                <m:sSubPr>
                                                  <m:ctrlPr>
                                                    <a:rPr lang="en-IN" sz="1800" i="1" kern="1200">
                                                      <a:solidFill>
                                                        <a:schemeClr val="dk1"/>
                                                      </a:solidFill>
                                                      <a:effectLst/>
                                                      <a:latin typeface="Cambria Math" panose="02040503050406030204" pitchFamily="18" charset="0"/>
                                                      <a:ea typeface="+mn-ea"/>
                                                      <a:cs typeface="+mn-cs"/>
                                                    </a:rPr>
                                                  </m:ctrlPr>
                                                </m:sSubPr>
                                                <m:e>
                                                  <m:r>
                                                    <a:rPr lang="en-US" sz="1800" i="1" kern="1200">
                                                      <a:solidFill>
                                                        <a:schemeClr val="dk1"/>
                                                      </a:solidFill>
                                                      <a:effectLst/>
                                                      <a:latin typeface="Cambria Math" panose="02040503050406030204" pitchFamily="18" charset="0"/>
                                                      <a:ea typeface="+mn-ea"/>
                                                      <a:cs typeface="+mn-cs"/>
                                                    </a:rPr>
                                                    <m:t>𝑦</m:t>
                                                  </m:r>
                                                </m:e>
                                                <m:sub>
                                                  <m:r>
                                                    <a:rPr lang="en-US" sz="1800" i="1" kern="1200">
                                                      <a:solidFill>
                                                        <a:schemeClr val="dk1"/>
                                                      </a:solidFill>
                                                      <a:effectLst/>
                                                      <a:latin typeface="Cambria Math" panose="02040503050406030204" pitchFamily="18" charset="0"/>
                                                      <a:ea typeface="+mn-ea"/>
                                                      <a:cs typeface="+mn-cs"/>
                                                    </a:rPr>
                                                    <m:t>𝑖</m:t>
                                                  </m:r>
                                                  <m:r>
                                                    <a:rPr lang="en-US" sz="1800" i="1" kern="1200">
                                                      <a:solidFill>
                                                        <a:schemeClr val="dk1"/>
                                                      </a:solidFill>
                                                      <a:effectLst/>
                                                      <a:latin typeface="Cambria Math" panose="02040503050406030204" pitchFamily="18" charset="0"/>
                                                      <a:ea typeface="+mn-ea"/>
                                                      <a:cs typeface="+mn-cs"/>
                                                    </a:rPr>
                                                    <m:t>−</m:t>
                                                  </m:r>
                                                  <m:sSub>
                                                    <m:sSubPr>
                                                      <m:ctrlPr>
                                                        <a:rPr lang="en-IN" sz="1800" i="1" kern="1200">
                                                          <a:solidFill>
                                                            <a:schemeClr val="dk1"/>
                                                          </a:solidFill>
                                                          <a:effectLst/>
                                                          <a:latin typeface="Cambria Math" panose="02040503050406030204" pitchFamily="18" charset="0"/>
                                                          <a:ea typeface="+mn-ea"/>
                                                          <a:cs typeface="+mn-cs"/>
                                                        </a:rPr>
                                                      </m:ctrlPr>
                                                    </m:sSubPr>
                                                    <m:e>
                                                      <m:acc>
                                                        <m:accPr>
                                                          <m:chr m:val="̂"/>
                                                          <m:ctrlPr>
                                                            <a:rPr lang="en-IN" sz="1800" i="1" kern="1200">
                                                              <a:solidFill>
                                                                <a:schemeClr val="dk1"/>
                                                              </a:solidFill>
                                                              <a:effectLst/>
                                                              <a:latin typeface="Cambria Math" panose="02040503050406030204" pitchFamily="18" charset="0"/>
                                                              <a:ea typeface="+mn-ea"/>
                                                              <a:cs typeface="+mn-cs"/>
                                                            </a:rPr>
                                                          </m:ctrlPr>
                                                        </m:accPr>
                                                        <m:e>
                                                          <m:r>
                                                            <a:rPr lang="en-US" sz="1800" i="1" kern="1200">
                                                              <a:solidFill>
                                                                <a:schemeClr val="dk1"/>
                                                              </a:solidFill>
                                                              <a:effectLst/>
                                                              <a:latin typeface="Cambria Math" panose="02040503050406030204" pitchFamily="18" charset="0"/>
                                                              <a:ea typeface="+mn-ea"/>
                                                              <a:cs typeface="+mn-cs"/>
                                                            </a:rPr>
                                                            <m:t>𝑦</m:t>
                                                          </m:r>
                                                        </m:e>
                                                      </m:acc>
                                                    </m:e>
                                                    <m:sub>
                                                      <m:r>
                                                        <a:rPr lang="en-US" sz="1800" i="1" kern="1200">
                                                          <a:solidFill>
                                                            <a:schemeClr val="dk1"/>
                                                          </a:solidFill>
                                                          <a:effectLst/>
                                                          <a:latin typeface="Cambria Math" panose="02040503050406030204" pitchFamily="18" charset="0"/>
                                                          <a:ea typeface="+mn-ea"/>
                                                          <a:cs typeface="+mn-cs"/>
                                                        </a:rPr>
                                                        <m:t>𝑖</m:t>
                                                      </m:r>
                                                    </m:sub>
                                                  </m:sSub>
                                                </m:sub>
                                              </m:sSub>
                                            </m:e>
                                          </m:d>
                                        </m:e>
                                        <m:sup>
                                          <m:r>
                                            <a:rPr lang="en-US" sz="1800" i="1" kern="1200">
                                              <a:solidFill>
                                                <a:schemeClr val="dk1"/>
                                              </a:solidFill>
                                              <a:effectLst/>
                                              <a:latin typeface="Cambria Math" panose="02040503050406030204" pitchFamily="18" charset="0"/>
                                              <a:ea typeface="+mn-ea"/>
                                              <a:cs typeface="+mn-cs"/>
                                            </a:rPr>
                                            <m:t>2</m:t>
                                          </m:r>
                                        </m:sup>
                                      </m:sSup>
                                    </m:e>
                                  </m:nary>
                                </m:num>
                                <m:den>
                                  <m:nary>
                                    <m:naryPr>
                                      <m:chr m:val="∑"/>
                                      <m:limLoc m:val="undOvr"/>
                                      <m:ctrlPr>
                                        <a:rPr lang="en-IN" sz="1800" i="1" kern="1200">
                                          <a:solidFill>
                                            <a:schemeClr val="dk1"/>
                                          </a:solidFill>
                                          <a:effectLst/>
                                          <a:latin typeface="Cambria Math" panose="02040503050406030204" pitchFamily="18" charset="0"/>
                                          <a:ea typeface="+mn-ea"/>
                                          <a:cs typeface="+mn-cs"/>
                                        </a:rPr>
                                      </m:ctrlPr>
                                    </m:naryPr>
                                    <m:sub>
                                      <m:r>
                                        <a:rPr lang="en-US" sz="1800" i="1" kern="1200">
                                          <a:solidFill>
                                            <a:schemeClr val="dk1"/>
                                          </a:solidFill>
                                          <a:effectLst/>
                                          <a:latin typeface="Cambria Math" panose="02040503050406030204" pitchFamily="18" charset="0"/>
                                          <a:ea typeface="+mn-ea"/>
                                          <a:cs typeface="+mn-cs"/>
                                        </a:rPr>
                                        <m:t>𝑖</m:t>
                                      </m:r>
                                      <m:r>
                                        <a:rPr lang="en-US" sz="1800" i="1" kern="1200">
                                          <a:solidFill>
                                            <a:schemeClr val="dk1"/>
                                          </a:solidFill>
                                          <a:effectLst/>
                                          <a:latin typeface="Cambria Math" panose="02040503050406030204" pitchFamily="18" charset="0"/>
                                          <a:ea typeface="+mn-ea"/>
                                          <a:cs typeface="+mn-cs"/>
                                        </a:rPr>
                                        <m:t>=1</m:t>
                                      </m:r>
                                    </m:sub>
                                    <m:sup>
                                      <m:r>
                                        <a:rPr lang="en-US" sz="1800" i="1" kern="1200">
                                          <a:solidFill>
                                            <a:schemeClr val="dk1"/>
                                          </a:solidFill>
                                          <a:effectLst/>
                                          <a:latin typeface="Cambria Math" panose="02040503050406030204" pitchFamily="18" charset="0"/>
                                          <a:ea typeface="+mn-ea"/>
                                          <a:cs typeface="+mn-cs"/>
                                        </a:rPr>
                                        <m:t>𝑛</m:t>
                                      </m:r>
                                    </m:sup>
                                    <m:e>
                                      <m:sSup>
                                        <m:sSupPr>
                                          <m:ctrlPr>
                                            <a:rPr lang="en-IN" sz="1800" i="1" kern="1200">
                                              <a:solidFill>
                                                <a:schemeClr val="dk1"/>
                                              </a:solidFill>
                                              <a:effectLst/>
                                              <a:latin typeface="Cambria Math" panose="02040503050406030204" pitchFamily="18" charset="0"/>
                                              <a:ea typeface="+mn-ea"/>
                                              <a:cs typeface="+mn-cs"/>
                                            </a:rPr>
                                          </m:ctrlPr>
                                        </m:sSupPr>
                                        <m:e>
                                          <m:d>
                                            <m:dPr>
                                              <m:ctrlPr>
                                                <a:rPr lang="en-IN" sz="1800" i="1" kern="1200">
                                                  <a:solidFill>
                                                    <a:schemeClr val="dk1"/>
                                                  </a:solidFill>
                                                  <a:effectLst/>
                                                  <a:latin typeface="Cambria Math" panose="02040503050406030204" pitchFamily="18" charset="0"/>
                                                  <a:ea typeface="+mn-ea"/>
                                                  <a:cs typeface="+mn-cs"/>
                                                </a:rPr>
                                              </m:ctrlPr>
                                            </m:dPr>
                                            <m:e>
                                              <m:sSub>
                                                <m:sSubPr>
                                                  <m:ctrlPr>
                                                    <a:rPr lang="en-IN" sz="1800" i="1" kern="1200">
                                                      <a:solidFill>
                                                        <a:schemeClr val="dk1"/>
                                                      </a:solidFill>
                                                      <a:effectLst/>
                                                      <a:latin typeface="Cambria Math" panose="02040503050406030204" pitchFamily="18" charset="0"/>
                                                      <a:ea typeface="+mn-ea"/>
                                                      <a:cs typeface="+mn-cs"/>
                                                    </a:rPr>
                                                  </m:ctrlPr>
                                                </m:sSubPr>
                                                <m:e>
                                                  <m:r>
                                                    <a:rPr lang="en-US" sz="1800" i="1" kern="1200">
                                                      <a:solidFill>
                                                        <a:schemeClr val="dk1"/>
                                                      </a:solidFill>
                                                      <a:effectLst/>
                                                      <a:latin typeface="Cambria Math" panose="02040503050406030204" pitchFamily="18" charset="0"/>
                                                      <a:ea typeface="+mn-ea"/>
                                                      <a:cs typeface="+mn-cs"/>
                                                    </a:rPr>
                                                    <m:t>𝑦</m:t>
                                                  </m:r>
                                                </m:e>
                                                <m:sub>
                                                  <m:r>
                                                    <a:rPr lang="en-US" sz="1800" i="1" kern="1200">
                                                      <a:solidFill>
                                                        <a:schemeClr val="dk1"/>
                                                      </a:solidFill>
                                                      <a:effectLst/>
                                                      <a:latin typeface="Cambria Math" panose="02040503050406030204" pitchFamily="18" charset="0"/>
                                                      <a:ea typeface="+mn-ea"/>
                                                      <a:cs typeface="+mn-cs"/>
                                                    </a:rPr>
                                                    <m:t>𝑖</m:t>
                                                  </m:r>
                                                  <m:r>
                                                    <a:rPr lang="en-US" sz="1800" i="1" kern="1200">
                                                      <a:solidFill>
                                                        <a:schemeClr val="dk1"/>
                                                      </a:solidFill>
                                                      <a:effectLst/>
                                                      <a:latin typeface="Cambria Math" panose="02040503050406030204" pitchFamily="18" charset="0"/>
                                                      <a:ea typeface="+mn-ea"/>
                                                      <a:cs typeface="+mn-cs"/>
                                                    </a:rPr>
                                                    <m:t>−</m:t>
                                                  </m:r>
                                                  <m:acc>
                                                    <m:accPr>
                                                      <m:chr m:val="̅"/>
                                                      <m:ctrlPr>
                                                        <a:rPr lang="en-IN" sz="1800" i="1" kern="1200">
                                                          <a:solidFill>
                                                            <a:schemeClr val="dk1"/>
                                                          </a:solidFill>
                                                          <a:effectLst/>
                                                          <a:latin typeface="Cambria Math" panose="02040503050406030204" pitchFamily="18" charset="0"/>
                                                          <a:ea typeface="+mn-ea"/>
                                                          <a:cs typeface="+mn-cs"/>
                                                        </a:rPr>
                                                      </m:ctrlPr>
                                                    </m:accPr>
                                                    <m:e>
                                                      <m:r>
                                                        <a:rPr lang="en-US" sz="1800" i="1" kern="1200">
                                                          <a:solidFill>
                                                            <a:schemeClr val="dk1"/>
                                                          </a:solidFill>
                                                          <a:effectLst/>
                                                          <a:latin typeface="Cambria Math" panose="02040503050406030204" pitchFamily="18" charset="0"/>
                                                          <a:ea typeface="+mn-ea"/>
                                                          <a:cs typeface="+mn-cs"/>
                                                        </a:rPr>
                                                        <m:t>𝑦</m:t>
                                                      </m:r>
                                                    </m:e>
                                                  </m:acc>
                                                </m:sub>
                                              </m:sSub>
                                            </m:e>
                                          </m:d>
                                        </m:e>
                                        <m:sup>
                                          <m:r>
                                            <a:rPr lang="en-US" sz="1800" i="1" kern="1200">
                                              <a:solidFill>
                                                <a:schemeClr val="dk1"/>
                                              </a:solidFill>
                                              <a:effectLst/>
                                              <a:latin typeface="Cambria Math" panose="02040503050406030204" pitchFamily="18" charset="0"/>
                                              <a:ea typeface="+mn-ea"/>
                                              <a:cs typeface="+mn-cs"/>
                                            </a:rPr>
                                            <m:t>2</m:t>
                                          </m:r>
                                        </m:sup>
                                      </m:sSup>
                                    </m:e>
                                  </m:nary>
                                </m:den>
                              </m:f>
                            </m:oMath>
                          </a14:m>
                          <a:r>
                            <a:rPr lang="en-US" sz="1800" kern="1200" dirty="0">
                              <a:solidFill>
                                <a:schemeClr val="dk1"/>
                              </a:solidFill>
                              <a:effectLst/>
                              <a:latin typeface="Times New Roman" panose="02020603050405020304" pitchFamily="18" charset="0"/>
                              <a:ea typeface="+mn-ea"/>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Indicates how well the predicted values fit the actual data.</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93248652"/>
                      </a:ext>
                    </a:extLst>
                  </a:tr>
                  <a:tr h="370840">
                    <a:tc>
                      <a:txBody>
                        <a:bodyPr/>
                        <a:lstStyle/>
                        <a:p>
                          <a:r>
                            <a:rPr lang="en-IN" dirty="0">
                              <a:latin typeface="Times New Roman" panose="02020603050405020304" pitchFamily="18" charset="0"/>
                              <a:cs typeface="Times New Roman" panose="02020603050405020304" pitchFamily="18" charset="0"/>
                            </a:rPr>
                            <a:t>RMSE</a:t>
                          </a:r>
                        </a:p>
                      </a:txBody>
                      <a:tcPr/>
                    </a:tc>
                    <a:tc>
                      <a:txBody>
                        <a:bodyPr/>
                        <a:lstStyle/>
                        <a:p>
                          <a:pPr/>
                          <a14:m>
                            <m:oMathPara xmlns:m="http://schemas.openxmlformats.org/officeDocument/2006/math">
                              <m:oMathParaPr>
                                <m:jc m:val="centerGroup"/>
                              </m:oMathParaPr>
                              <m:oMath xmlns:m="http://schemas.openxmlformats.org/officeDocument/2006/math">
                                <m:r>
                                  <a:rPr lang="en-IN" sz="1800" i="1" kern="1200" smtClean="0">
                                    <a:solidFill>
                                      <a:schemeClr val="dk1"/>
                                    </a:solidFill>
                                    <a:effectLst/>
                                    <a:latin typeface="Cambria Math" panose="02040503050406030204" pitchFamily="18" charset="0"/>
                                    <a:ea typeface="+mn-ea"/>
                                    <a:cs typeface="+mn-cs"/>
                                  </a:rPr>
                                  <m:t> </m:t>
                                </m:r>
                                <m:r>
                                  <a:rPr lang="en-US" sz="1800" i="1" kern="1200">
                                    <a:solidFill>
                                      <a:schemeClr val="dk1"/>
                                    </a:solidFill>
                                    <a:effectLst/>
                                    <a:latin typeface="Cambria Math" panose="02040503050406030204" pitchFamily="18" charset="0"/>
                                    <a:ea typeface="+mn-ea"/>
                                    <a:cs typeface="+mn-cs"/>
                                  </a:rPr>
                                  <m:t>𝑅𝑀𝑆𝐸</m:t>
                                </m:r>
                                <m:r>
                                  <a:rPr lang="en-US" sz="1800" i="1" kern="1200">
                                    <a:solidFill>
                                      <a:schemeClr val="dk1"/>
                                    </a:solidFill>
                                    <a:effectLst/>
                                    <a:latin typeface="Cambria Math" panose="02040503050406030204" pitchFamily="18" charset="0"/>
                                    <a:ea typeface="+mn-ea"/>
                                    <a:cs typeface="+mn-cs"/>
                                  </a:rPr>
                                  <m:t>=</m:t>
                                </m:r>
                                <m:rad>
                                  <m:radPr>
                                    <m:degHide m:val="on"/>
                                    <m:ctrlPr>
                                      <a:rPr lang="en-IN" sz="1800" i="1" kern="1200">
                                        <a:solidFill>
                                          <a:schemeClr val="dk1"/>
                                        </a:solidFill>
                                        <a:effectLst/>
                                        <a:latin typeface="Cambria Math" panose="02040503050406030204" pitchFamily="18" charset="0"/>
                                        <a:ea typeface="+mn-ea"/>
                                        <a:cs typeface="+mn-cs"/>
                                      </a:rPr>
                                    </m:ctrlPr>
                                  </m:radPr>
                                  <m:deg/>
                                  <m:e>
                                    <m:f>
                                      <m:fPr>
                                        <m:ctrlPr>
                                          <a:rPr lang="en-IN" sz="1800" i="1" kern="1200">
                                            <a:solidFill>
                                              <a:schemeClr val="dk1"/>
                                            </a:solidFill>
                                            <a:effectLst/>
                                            <a:latin typeface="Cambria Math" panose="02040503050406030204" pitchFamily="18" charset="0"/>
                                            <a:ea typeface="+mn-ea"/>
                                            <a:cs typeface="+mn-cs"/>
                                          </a:rPr>
                                        </m:ctrlPr>
                                      </m:fPr>
                                      <m:num>
                                        <m:r>
                                          <a:rPr lang="en-US" sz="1800" i="1" kern="1200">
                                            <a:solidFill>
                                              <a:schemeClr val="dk1"/>
                                            </a:solidFill>
                                            <a:effectLst/>
                                            <a:latin typeface="Cambria Math" panose="02040503050406030204" pitchFamily="18" charset="0"/>
                                            <a:ea typeface="+mn-ea"/>
                                            <a:cs typeface="+mn-cs"/>
                                          </a:rPr>
                                          <m:t>1</m:t>
                                        </m:r>
                                      </m:num>
                                      <m:den>
                                        <m:r>
                                          <a:rPr lang="en-US" sz="1800" i="1" kern="1200">
                                            <a:solidFill>
                                              <a:schemeClr val="dk1"/>
                                            </a:solidFill>
                                            <a:effectLst/>
                                            <a:latin typeface="Cambria Math" panose="02040503050406030204" pitchFamily="18" charset="0"/>
                                            <a:ea typeface="+mn-ea"/>
                                            <a:cs typeface="+mn-cs"/>
                                          </a:rPr>
                                          <m:t>𝑛</m:t>
                                        </m:r>
                                      </m:den>
                                    </m:f>
                                    <m:nary>
                                      <m:naryPr>
                                        <m:chr m:val="∑"/>
                                        <m:limLoc m:val="undOvr"/>
                                        <m:ctrlPr>
                                          <a:rPr lang="en-IN" sz="1800" i="1" kern="1200">
                                            <a:solidFill>
                                              <a:schemeClr val="dk1"/>
                                            </a:solidFill>
                                            <a:effectLst/>
                                            <a:latin typeface="Cambria Math" panose="02040503050406030204" pitchFamily="18" charset="0"/>
                                            <a:ea typeface="+mn-ea"/>
                                            <a:cs typeface="+mn-cs"/>
                                          </a:rPr>
                                        </m:ctrlPr>
                                      </m:naryPr>
                                      <m:sub>
                                        <m:r>
                                          <a:rPr lang="en-US" sz="1800" i="1" kern="1200">
                                            <a:solidFill>
                                              <a:schemeClr val="dk1"/>
                                            </a:solidFill>
                                            <a:effectLst/>
                                            <a:latin typeface="Cambria Math" panose="02040503050406030204" pitchFamily="18" charset="0"/>
                                            <a:ea typeface="+mn-ea"/>
                                            <a:cs typeface="+mn-cs"/>
                                          </a:rPr>
                                          <m:t>𝑖</m:t>
                                        </m:r>
                                        <m:r>
                                          <a:rPr lang="en-US" sz="1800" i="1" kern="1200">
                                            <a:solidFill>
                                              <a:schemeClr val="dk1"/>
                                            </a:solidFill>
                                            <a:effectLst/>
                                            <a:latin typeface="Cambria Math" panose="02040503050406030204" pitchFamily="18" charset="0"/>
                                            <a:ea typeface="+mn-ea"/>
                                            <a:cs typeface="+mn-cs"/>
                                          </a:rPr>
                                          <m:t>=1</m:t>
                                        </m:r>
                                      </m:sub>
                                      <m:sup>
                                        <m:r>
                                          <a:rPr lang="en-US" sz="1800" i="1" kern="1200">
                                            <a:solidFill>
                                              <a:schemeClr val="dk1"/>
                                            </a:solidFill>
                                            <a:effectLst/>
                                            <a:latin typeface="Cambria Math" panose="02040503050406030204" pitchFamily="18" charset="0"/>
                                            <a:ea typeface="+mn-ea"/>
                                            <a:cs typeface="+mn-cs"/>
                                          </a:rPr>
                                          <m:t>𝑛</m:t>
                                        </m:r>
                                      </m:sup>
                                      <m:e>
                                        <m:sSup>
                                          <m:sSupPr>
                                            <m:ctrlPr>
                                              <a:rPr lang="en-IN" sz="1800" i="1" kern="1200">
                                                <a:solidFill>
                                                  <a:schemeClr val="dk1"/>
                                                </a:solidFill>
                                                <a:effectLst/>
                                                <a:latin typeface="Cambria Math" panose="02040503050406030204" pitchFamily="18" charset="0"/>
                                                <a:ea typeface="+mn-ea"/>
                                                <a:cs typeface="+mn-cs"/>
                                              </a:rPr>
                                            </m:ctrlPr>
                                          </m:sSupPr>
                                          <m:e>
                                            <m:d>
                                              <m:dPr>
                                                <m:ctrlPr>
                                                  <a:rPr lang="en-IN" sz="1800" i="1" kern="1200">
                                                    <a:solidFill>
                                                      <a:schemeClr val="dk1"/>
                                                    </a:solidFill>
                                                    <a:effectLst/>
                                                    <a:latin typeface="Cambria Math" panose="02040503050406030204" pitchFamily="18" charset="0"/>
                                                    <a:ea typeface="+mn-ea"/>
                                                    <a:cs typeface="+mn-cs"/>
                                                  </a:rPr>
                                                </m:ctrlPr>
                                              </m:dPr>
                                              <m:e>
                                                <m:sSub>
                                                  <m:sSubPr>
                                                    <m:ctrlPr>
                                                      <a:rPr lang="en-IN" sz="1800" i="1" kern="1200">
                                                        <a:solidFill>
                                                          <a:schemeClr val="dk1"/>
                                                        </a:solidFill>
                                                        <a:effectLst/>
                                                        <a:latin typeface="Cambria Math" panose="02040503050406030204" pitchFamily="18" charset="0"/>
                                                        <a:ea typeface="+mn-ea"/>
                                                        <a:cs typeface="+mn-cs"/>
                                                      </a:rPr>
                                                    </m:ctrlPr>
                                                  </m:sSubPr>
                                                  <m:e>
                                                    <m:r>
                                                      <a:rPr lang="en-US" sz="1800" i="1" kern="1200">
                                                        <a:solidFill>
                                                          <a:schemeClr val="dk1"/>
                                                        </a:solidFill>
                                                        <a:effectLst/>
                                                        <a:latin typeface="Cambria Math" panose="02040503050406030204" pitchFamily="18" charset="0"/>
                                                        <a:ea typeface="+mn-ea"/>
                                                        <a:cs typeface="+mn-cs"/>
                                                      </a:rPr>
                                                      <m:t>𝑦</m:t>
                                                    </m:r>
                                                  </m:e>
                                                  <m:sub>
                                                    <m:r>
                                                      <a:rPr lang="en-US" sz="1800" i="1" kern="1200">
                                                        <a:solidFill>
                                                          <a:schemeClr val="dk1"/>
                                                        </a:solidFill>
                                                        <a:effectLst/>
                                                        <a:latin typeface="Cambria Math" panose="02040503050406030204" pitchFamily="18" charset="0"/>
                                                        <a:ea typeface="+mn-ea"/>
                                                        <a:cs typeface="+mn-cs"/>
                                                      </a:rPr>
                                                      <m:t>𝑖</m:t>
                                                    </m:r>
                                                  </m:sub>
                                                </m:sSub>
                                                <m:r>
                                                  <a:rPr lang="en-US" sz="1800" i="1" kern="1200">
                                                    <a:solidFill>
                                                      <a:schemeClr val="dk1"/>
                                                    </a:solidFill>
                                                    <a:effectLst/>
                                                    <a:latin typeface="Cambria Math" panose="02040503050406030204" pitchFamily="18" charset="0"/>
                                                    <a:ea typeface="+mn-ea"/>
                                                    <a:cs typeface="+mn-cs"/>
                                                  </a:rPr>
                                                  <m:t>−</m:t>
                                                </m:r>
                                                <m:sSub>
                                                  <m:sSubPr>
                                                    <m:ctrlPr>
                                                      <a:rPr lang="en-IN" sz="1800" i="1" kern="1200">
                                                        <a:solidFill>
                                                          <a:schemeClr val="dk1"/>
                                                        </a:solidFill>
                                                        <a:effectLst/>
                                                        <a:latin typeface="Cambria Math" panose="02040503050406030204" pitchFamily="18" charset="0"/>
                                                        <a:ea typeface="+mn-ea"/>
                                                        <a:cs typeface="+mn-cs"/>
                                                      </a:rPr>
                                                    </m:ctrlPr>
                                                  </m:sSubPr>
                                                  <m:e>
                                                    <m:acc>
                                                      <m:accPr>
                                                        <m:chr m:val="̂"/>
                                                        <m:ctrlPr>
                                                          <a:rPr lang="en-IN" sz="1800" i="1" kern="1200">
                                                            <a:solidFill>
                                                              <a:schemeClr val="dk1"/>
                                                            </a:solidFill>
                                                            <a:effectLst/>
                                                            <a:latin typeface="Cambria Math" panose="02040503050406030204" pitchFamily="18" charset="0"/>
                                                            <a:ea typeface="+mn-ea"/>
                                                            <a:cs typeface="+mn-cs"/>
                                                          </a:rPr>
                                                        </m:ctrlPr>
                                                      </m:accPr>
                                                      <m:e>
                                                        <m:r>
                                                          <a:rPr lang="en-US" sz="1800" i="1" kern="1200">
                                                            <a:solidFill>
                                                              <a:schemeClr val="dk1"/>
                                                            </a:solidFill>
                                                            <a:effectLst/>
                                                            <a:latin typeface="Cambria Math" panose="02040503050406030204" pitchFamily="18" charset="0"/>
                                                            <a:ea typeface="+mn-ea"/>
                                                            <a:cs typeface="+mn-cs"/>
                                                          </a:rPr>
                                                          <m:t>𝑦</m:t>
                                                        </m:r>
                                                      </m:e>
                                                    </m:acc>
                                                  </m:e>
                                                  <m:sub>
                                                    <m:r>
                                                      <a:rPr lang="en-US" sz="1800" i="1" kern="1200">
                                                        <a:solidFill>
                                                          <a:schemeClr val="dk1"/>
                                                        </a:solidFill>
                                                        <a:effectLst/>
                                                        <a:latin typeface="Cambria Math" panose="02040503050406030204" pitchFamily="18" charset="0"/>
                                                        <a:ea typeface="+mn-ea"/>
                                                        <a:cs typeface="+mn-cs"/>
                                                      </a:rPr>
                                                      <m:t>𝑖</m:t>
                                                    </m:r>
                                                  </m:sub>
                                                </m:sSub>
                                              </m:e>
                                            </m:d>
                                          </m:e>
                                          <m:sup>
                                            <m:r>
                                              <a:rPr lang="en-US" sz="1800" i="1" kern="1200">
                                                <a:solidFill>
                                                  <a:schemeClr val="dk1"/>
                                                </a:solidFill>
                                                <a:effectLst/>
                                                <a:latin typeface="Cambria Math" panose="02040503050406030204" pitchFamily="18" charset="0"/>
                                                <a:ea typeface="+mn-ea"/>
                                                <a:cs typeface="+mn-cs"/>
                                              </a:rPr>
                                              <m:t>2</m:t>
                                            </m:r>
                                          </m:sup>
                                        </m:sSup>
                                      </m:e>
                                    </m:nary>
                                  </m:e>
                                </m:rad>
                              </m:oMath>
                            </m:oMathPara>
                          </a14:m>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Measures the average magnitude of prediction errors in the model.</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40908562"/>
                      </a:ext>
                    </a:extLst>
                  </a:tr>
                  <a:tr h="448923">
                    <a:tc>
                      <a:txBody>
                        <a:bodyPr/>
                        <a:lstStyle/>
                        <a:p>
                          <a:r>
                            <a:rPr lang="en-IN" dirty="0">
                              <a:latin typeface="Times New Roman" panose="02020603050405020304" pitchFamily="18" charset="0"/>
                              <a:cs typeface="Times New Roman" panose="02020603050405020304" pitchFamily="18" charset="0"/>
                            </a:rPr>
                            <a:t>MAE</a:t>
                          </a:r>
                        </a:p>
                      </a:txBody>
                      <a:tcPr/>
                    </a:tc>
                    <a:tc>
                      <a:txBody>
                        <a:bodyPr/>
                        <a:lstStyle/>
                        <a:p>
                          <a14:m>
                            <m:oMath xmlns:m="http://schemas.openxmlformats.org/officeDocument/2006/math">
                              <m:r>
                                <a:rPr lang="en-US" sz="1800" i="1" kern="1200" smtClean="0">
                                  <a:solidFill>
                                    <a:schemeClr val="dk1"/>
                                  </a:solidFill>
                                  <a:effectLst/>
                                  <a:latin typeface="Cambria Math" panose="02040503050406030204" pitchFamily="18" charset="0"/>
                                  <a:ea typeface="+mn-ea"/>
                                  <a:cs typeface="+mn-cs"/>
                                </a:rPr>
                                <m:t>𝑀𝐴𝐸</m:t>
                              </m:r>
                              <m:r>
                                <a:rPr lang="en-US" sz="1800" i="1" kern="1200" smtClean="0">
                                  <a:solidFill>
                                    <a:schemeClr val="dk1"/>
                                  </a:solidFill>
                                  <a:effectLst/>
                                  <a:latin typeface="Cambria Math" panose="02040503050406030204" pitchFamily="18" charset="0"/>
                                  <a:ea typeface="+mn-ea"/>
                                  <a:cs typeface="+mn-cs"/>
                                </a:rPr>
                                <m:t>=</m:t>
                              </m:r>
                              <m:f>
                                <m:fPr>
                                  <m:ctrlPr>
                                    <a:rPr lang="en-IN" sz="1800" i="1" kern="1200">
                                      <a:solidFill>
                                        <a:schemeClr val="dk1"/>
                                      </a:solidFill>
                                      <a:effectLst/>
                                      <a:latin typeface="Cambria Math" panose="02040503050406030204" pitchFamily="18" charset="0"/>
                                      <a:ea typeface="+mn-ea"/>
                                      <a:cs typeface="+mn-cs"/>
                                    </a:rPr>
                                  </m:ctrlPr>
                                </m:fPr>
                                <m:num>
                                  <m:r>
                                    <a:rPr lang="en-US" sz="1800" i="1" kern="1200">
                                      <a:solidFill>
                                        <a:schemeClr val="dk1"/>
                                      </a:solidFill>
                                      <a:effectLst/>
                                      <a:latin typeface="Cambria Math" panose="02040503050406030204" pitchFamily="18" charset="0"/>
                                      <a:ea typeface="+mn-ea"/>
                                      <a:cs typeface="+mn-cs"/>
                                    </a:rPr>
                                    <m:t>1</m:t>
                                  </m:r>
                                </m:num>
                                <m:den>
                                  <m:r>
                                    <a:rPr lang="en-US" sz="1800" i="1" kern="1200">
                                      <a:solidFill>
                                        <a:schemeClr val="dk1"/>
                                      </a:solidFill>
                                      <a:effectLst/>
                                      <a:latin typeface="Cambria Math" panose="02040503050406030204" pitchFamily="18" charset="0"/>
                                      <a:ea typeface="+mn-ea"/>
                                      <a:cs typeface="+mn-cs"/>
                                    </a:rPr>
                                    <m:t>𝑛</m:t>
                                  </m:r>
                                </m:den>
                              </m:f>
                              <m:nary>
                                <m:naryPr>
                                  <m:chr m:val="∑"/>
                                  <m:limLoc m:val="undOvr"/>
                                  <m:ctrlPr>
                                    <a:rPr lang="en-IN" sz="1800" i="1" kern="1200">
                                      <a:solidFill>
                                        <a:schemeClr val="dk1"/>
                                      </a:solidFill>
                                      <a:effectLst/>
                                      <a:latin typeface="Cambria Math" panose="02040503050406030204" pitchFamily="18" charset="0"/>
                                      <a:ea typeface="+mn-ea"/>
                                      <a:cs typeface="+mn-cs"/>
                                    </a:rPr>
                                  </m:ctrlPr>
                                </m:naryPr>
                                <m:sub>
                                  <m:r>
                                    <a:rPr lang="en-US" sz="1800" i="1" kern="1200">
                                      <a:solidFill>
                                        <a:schemeClr val="dk1"/>
                                      </a:solidFill>
                                      <a:effectLst/>
                                      <a:latin typeface="Cambria Math" panose="02040503050406030204" pitchFamily="18" charset="0"/>
                                      <a:ea typeface="+mn-ea"/>
                                      <a:cs typeface="+mn-cs"/>
                                    </a:rPr>
                                    <m:t>𝑖</m:t>
                                  </m:r>
                                  <m:r>
                                    <a:rPr lang="en-US" sz="1800" i="1" kern="1200">
                                      <a:solidFill>
                                        <a:schemeClr val="dk1"/>
                                      </a:solidFill>
                                      <a:effectLst/>
                                      <a:latin typeface="Cambria Math" panose="02040503050406030204" pitchFamily="18" charset="0"/>
                                      <a:ea typeface="+mn-ea"/>
                                      <a:cs typeface="+mn-cs"/>
                                    </a:rPr>
                                    <m:t>=1</m:t>
                                  </m:r>
                                </m:sub>
                                <m:sup>
                                  <m:r>
                                    <a:rPr lang="en-US" sz="1800" i="1" kern="1200">
                                      <a:solidFill>
                                        <a:schemeClr val="dk1"/>
                                      </a:solidFill>
                                      <a:effectLst/>
                                      <a:latin typeface="Cambria Math" panose="02040503050406030204" pitchFamily="18" charset="0"/>
                                      <a:ea typeface="+mn-ea"/>
                                      <a:cs typeface="+mn-cs"/>
                                    </a:rPr>
                                    <m:t>𝑛</m:t>
                                  </m:r>
                                </m:sup>
                                <m:e>
                                  <m:r>
                                    <a:rPr lang="en-US" sz="1800" i="1" kern="1200">
                                      <a:solidFill>
                                        <a:schemeClr val="dk1"/>
                                      </a:solidFill>
                                      <a:effectLst/>
                                      <a:latin typeface="Cambria Math" panose="02040503050406030204" pitchFamily="18" charset="0"/>
                                      <a:ea typeface="+mn-ea"/>
                                      <a:cs typeface="+mn-cs"/>
                                    </a:rPr>
                                    <m:t>|</m:t>
                                  </m:r>
                                  <m:sSub>
                                    <m:sSubPr>
                                      <m:ctrlPr>
                                        <a:rPr lang="en-IN" sz="1800" i="1" kern="1200">
                                          <a:solidFill>
                                            <a:schemeClr val="dk1"/>
                                          </a:solidFill>
                                          <a:effectLst/>
                                          <a:latin typeface="Cambria Math" panose="02040503050406030204" pitchFamily="18" charset="0"/>
                                          <a:ea typeface="+mn-ea"/>
                                          <a:cs typeface="+mn-cs"/>
                                        </a:rPr>
                                      </m:ctrlPr>
                                    </m:sSubPr>
                                    <m:e>
                                      <m:r>
                                        <a:rPr lang="en-US" sz="1800" i="1" kern="1200">
                                          <a:solidFill>
                                            <a:schemeClr val="dk1"/>
                                          </a:solidFill>
                                          <a:effectLst/>
                                          <a:latin typeface="Cambria Math" panose="02040503050406030204" pitchFamily="18" charset="0"/>
                                          <a:ea typeface="+mn-ea"/>
                                          <a:cs typeface="+mn-cs"/>
                                        </a:rPr>
                                        <m:t>𝑦</m:t>
                                      </m:r>
                                    </m:e>
                                    <m:sub>
                                      <m:r>
                                        <a:rPr lang="en-US" sz="1800" i="1" kern="1200">
                                          <a:solidFill>
                                            <a:schemeClr val="dk1"/>
                                          </a:solidFill>
                                          <a:effectLst/>
                                          <a:latin typeface="Cambria Math" panose="02040503050406030204" pitchFamily="18" charset="0"/>
                                          <a:ea typeface="+mn-ea"/>
                                          <a:cs typeface="+mn-cs"/>
                                        </a:rPr>
                                        <m:t>𝑖</m:t>
                                      </m:r>
                                    </m:sub>
                                  </m:sSub>
                                  <m:r>
                                    <a:rPr lang="en-US" sz="1800" i="1" kern="1200">
                                      <a:solidFill>
                                        <a:schemeClr val="dk1"/>
                                      </a:solidFill>
                                      <a:effectLst/>
                                      <a:latin typeface="Cambria Math" panose="02040503050406030204" pitchFamily="18" charset="0"/>
                                      <a:ea typeface="+mn-ea"/>
                                      <a:cs typeface="+mn-cs"/>
                                    </a:rPr>
                                    <m:t>−</m:t>
                                  </m:r>
                                  <m:sSub>
                                    <m:sSubPr>
                                      <m:ctrlPr>
                                        <a:rPr lang="en-IN" sz="1800" i="1" kern="1200">
                                          <a:solidFill>
                                            <a:schemeClr val="dk1"/>
                                          </a:solidFill>
                                          <a:effectLst/>
                                          <a:latin typeface="Cambria Math" panose="02040503050406030204" pitchFamily="18" charset="0"/>
                                          <a:ea typeface="+mn-ea"/>
                                          <a:cs typeface="+mn-cs"/>
                                        </a:rPr>
                                      </m:ctrlPr>
                                    </m:sSubPr>
                                    <m:e>
                                      <m:acc>
                                        <m:accPr>
                                          <m:chr m:val="̂"/>
                                          <m:ctrlPr>
                                            <a:rPr lang="en-IN" sz="1800" i="1" kern="1200">
                                              <a:solidFill>
                                                <a:schemeClr val="dk1"/>
                                              </a:solidFill>
                                              <a:effectLst/>
                                              <a:latin typeface="Cambria Math" panose="02040503050406030204" pitchFamily="18" charset="0"/>
                                              <a:ea typeface="+mn-ea"/>
                                              <a:cs typeface="+mn-cs"/>
                                            </a:rPr>
                                          </m:ctrlPr>
                                        </m:accPr>
                                        <m:e>
                                          <m:r>
                                            <a:rPr lang="en-US" sz="1800" i="1" kern="1200">
                                              <a:solidFill>
                                                <a:schemeClr val="dk1"/>
                                              </a:solidFill>
                                              <a:effectLst/>
                                              <a:latin typeface="Cambria Math" panose="02040503050406030204" pitchFamily="18" charset="0"/>
                                              <a:ea typeface="+mn-ea"/>
                                              <a:cs typeface="+mn-cs"/>
                                            </a:rPr>
                                            <m:t>𝑦</m:t>
                                          </m:r>
                                        </m:e>
                                      </m:acc>
                                    </m:e>
                                    <m:sub>
                                      <m:r>
                                        <a:rPr lang="en-US" sz="1800" i="1" kern="1200">
                                          <a:solidFill>
                                            <a:schemeClr val="dk1"/>
                                          </a:solidFill>
                                          <a:effectLst/>
                                          <a:latin typeface="Cambria Math" panose="02040503050406030204" pitchFamily="18" charset="0"/>
                                          <a:ea typeface="+mn-ea"/>
                                          <a:cs typeface="+mn-cs"/>
                                        </a:rPr>
                                        <m:t>𝑖</m:t>
                                      </m:r>
                                    </m:sub>
                                  </m:sSub>
                                  <m:r>
                                    <a:rPr lang="en-US" sz="1800" i="1" kern="1200">
                                      <a:solidFill>
                                        <a:schemeClr val="dk1"/>
                                      </a:solidFill>
                                      <a:effectLst/>
                                      <a:latin typeface="Cambria Math" panose="02040503050406030204" pitchFamily="18" charset="0"/>
                                      <a:ea typeface="+mn-ea"/>
                                      <a:cs typeface="+mn-cs"/>
                                    </a:rPr>
                                    <m:t>|</m:t>
                                  </m:r>
                                </m:e>
                              </m:nary>
                            </m:oMath>
                          </a14:m>
                          <a:r>
                            <a:rPr lang="en-US" sz="1800" i="1" kern="1200" dirty="0">
                              <a:solidFill>
                                <a:schemeClr val="dk1"/>
                              </a:solidFill>
                              <a:effectLst/>
                              <a:latin typeface="Times New Roman" panose="02020603050405020304" pitchFamily="18" charset="0"/>
                              <a:ea typeface="+mn-ea"/>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Measures the average absolute difference between predicted and actual values. A lower MAE indicates higher prediction accuracy.</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117905139"/>
                      </a:ext>
                    </a:extLst>
                  </a:tr>
                </a:tbl>
              </a:graphicData>
            </a:graphic>
          </p:graphicFrame>
        </mc:Choice>
        <mc:Fallback>
          <p:graphicFrame>
            <p:nvGraphicFramePr>
              <p:cNvPr id="7" name="Table 6">
                <a:extLst>
                  <a:ext uri="{FF2B5EF4-FFF2-40B4-BE49-F238E27FC236}">
                    <a16:creationId xmlns:a16="http://schemas.microsoft.com/office/drawing/2014/main" id="{C83619B7-0A8E-F240-DB8A-CD580A1D922F}"/>
                  </a:ext>
                </a:extLst>
              </p:cNvPr>
              <p:cNvGraphicFramePr>
                <a:graphicFrameLocks noGrp="1"/>
              </p:cNvGraphicFramePr>
              <p:nvPr>
                <p:extLst>
                  <p:ext uri="{D42A27DB-BD31-4B8C-83A1-F6EECF244321}">
                    <p14:modId xmlns:p14="http://schemas.microsoft.com/office/powerpoint/2010/main" val="3523605920"/>
                  </p:ext>
                </p:extLst>
              </p:nvPr>
            </p:nvGraphicFramePr>
            <p:xfrm>
              <a:off x="1360129" y="1019449"/>
              <a:ext cx="9753600" cy="5021771"/>
            </p:xfrm>
            <a:graphic>
              <a:graphicData uri="http://schemas.openxmlformats.org/drawingml/2006/table">
                <a:tbl>
                  <a:tblPr firstRow="1" bandRow="1">
                    <a:tableStyleId>{5C22544A-7EE6-4342-B048-85BDC9FD1C3A}</a:tableStyleId>
                  </a:tblPr>
                  <a:tblGrid>
                    <a:gridCol w="1992671">
                      <a:extLst>
                        <a:ext uri="{9D8B030D-6E8A-4147-A177-3AD203B41FA5}">
                          <a16:colId xmlns:a16="http://schemas.microsoft.com/office/drawing/2014/main" val="2878084267"/>
                        </a:ext>
                      </a:extLst>
                    </a:gridCol>
                    <a:gridCol w="3923071">
                      <a:extLst>
                        <a:ext uri="{9D8B030D-6E8A-4147-A177-3AD203B41FA5}">
                          <a16:colId xmlns:a16="http://schemas.microsoft.com/office/drawing/2014/main" val="1182402668"/>
                        </a:ext>
                      </a:extLst>
                    </a:gridCol>
                    <a:gridCol w="3837858">
                      <a:extLst>
                        <a:ext uri="{9D8B030D-6E8A-4147-A177-3AD203B41FA5}">
                          <a16:colId xmlns:a16="http://schemas.microsoft.com/office/drawing/2014/main" val="1681595404"/>
                        </a:ext>
                      </a:extLst>
                    </a:gridCol>
                  </a:tblGrid>
                  <a:tr h="370840">
                    <a:tc>
                      <a:txBody>
                        <a:bodyPr/>
                        <a:lstStyle/>
                        <a:p>
                          <a:pPr>
                            <a:buNone/>
                          </a:pPr>
                          <a:r>
                            <a:rPr lang="en-IN" b="1" dirty="0">
                              <a:latin typeface="Times New Roman" panose="02020603050405020304" pitchFamily="18" charset="0"/>
                              <a:cs typeface="Times New Roman" panose="02020603050405020304" pitchFamily="18" charset="0"/>
                            </a:rPr>
                            <a:t>Formula Name</a:t>
                          </a:r>
                          <a:endParaRPr lang="en-IN" dirty="0">
                            <a:latin typeface="Times New Roman" panose="02020603050405020304" pitchFamily="18" charset="0"/>
                            <a:cs typeface="Times New Roman" panose="02020603050405020304" pitchFamily="18" charset="0"/>
                          </a:endParaRPr>
                        </a:p>
                      </a:txBody>
                      <a:tcPr anchor="ctr"/>
                    </a:tc>
                    <a:tc>
                      <a:txBody>
                        <a:bodyPr/>
                        <a:lstStyle/>
                        <a:p>
                          <a:r>
                            <a:rPr lang="en-IN" dirty="0">
                              <a:latin typeface="Times New Roman" panose="02020603050405020304" pitchFamily="18" charset="0"/>
                              <a:cs typeface="Times New Roman" panose="02020603050405020304" pitchFamily="18" charset="0"/>
                            </a:rPr>
                            <a:t>Expression</a:t>
                          </a:r>
                        </a:p>
                      </a:txBody>
                      <a:tcPr/>
                    </a:tc>
                    <a:tc>
                      <a:txBody>
                        <a:bodyPr/>
                        <a:lstStyle/>
                        <a:p>
                          <a:pPr>
                            <a:buNone/>
                          </a:pPr>
                          <a:r>
                            <a:rPr lang="en-US" dirty="0">
                              <a:latin typeface="Times New Roman" panose="02020603050405020304" pitchFamily="18" charset="0"/>
                              <a:cs typeface="Times New Roman" panose="02020603050405020304" pitchFamily="18" charset="0"/>
                            </a:rPr>
                            <a:t>Description</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613557077"/>
                      </a:ext>
                    </a:extLst>
                  </a:tr>
                  <a:tr h="914400">
                    <a:tc>
                      <a:txBody>
                        <a:bodyPr/>
                        <a:lstStyle/>
                        <a:p>
                          <a:r>
                            <a:rPr lang="en-IN" dirty="0">
                              <a:latin typeface="Times New Roman" panose="02020603050405020304" pitchFamily="18" charset="0"/>
                              <a:cs typeface="Times New Roman" panose="02020603050405020304" pitchFamily="18" charset="0"/>
                            </a:rPr>
                            <a:t>Min–Max Normalization</a:t>
                          </a:r>
                        </a:p>
                      </a:txBody>
                      <a:tcPr/>
                    </a:tc>
                    <a:tc>
                      <a:txBody>
                        <a:bodyPr/>
                        <a:lstStyle/>
                        <a:p>
                          <a:endParaRPr lang="en-US"/>
                        </a:p>
                      </a:txBody>
                      <a:tcPr>
                        <a:blipFill>
                          <a:blip r:embed="rId3"/>
                          <a:stretch>
                            <a:fillRect l="-50932" t="-44000" r="-98447" b="-419333"/>
                          </a:stretch>
                        </a:blipFill>
                      </a:tcPr>
                    </a:tc>
                    <a:tc>
                      <a:txBody>
                        <a:bodyPr/>
                        <a:lstStyle/>
                        <a:p>
                          <a:r>
                            <a:rPr lang="en-US" dirty="0">
                              <a:latin typeface="Times New Roman" panose="02020603050405020304" pitchFamily="18" charset="0"/>
                              <a:cs typeface="Times New Roman" panose="02020603050405020304" pitchFamily="18" charset="0"/>
                            </a:rPr>
                            <a:t>Scales input features to a uniform range between 0 and 1 for better model performance.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38891385"/>
                      </a:ext>
                    </a:extLst>
                  </a:tr>
                  <a:tr h="640080">
                    <a:tc>
                      <a:txBody>
                        <a:bodyPr/>
                        <a:lstStyle/>
                        <a:p>
                          <a:r>
                            <a:rPr lang="en-IN" dirty="0">
                              <a:latin typeface="Times New Roman" panose="02020603050405020304" pitchFamily="18" charset="0"/>
                              <a:cs typeface="Times New Roman" panose="02020603050405020304" pitchFamily="18" charset="0"/>
                            </a:rPr>
                            <a:t>Accuracy</a:t>
                          </a:r>
                        </a:p>
                      </a:txBody>
                      <a:tcPr/>
                    </a:tc>
                    <a:tc>
                      <a:txBody>
                        <a:bodyPr/>
                        <a:lstStyle/>
                        <a:p>
                          <a:endParaRPr lang="en-US"/>
                        </a:p>
                      </a:txBody>
                      <a:tcPr>
                        <a:blipFill>
                          <a:blip r:embed="rId3"/>
                          <a:stretch>
                            <a:fillRect l="-50932" t="-205714" r="-98447" b="-499048"/>
                          </a:stretch>
                        </a:blipFill>
                      </a:tcPr>
                    </a:tc>
                    <a:tc>
                      <a:txBody>
                        <a:bodyPr/>
                        <a:lstStyle/>
                        <a:p>
                          <a:r>
                            <a:rPr lang="en-US" dirty="0">
                              <a:latin typeface="Times New Roman" panose="02020603050405020304" pitchFamily="18" charset="0"/>
                              <a:cs typeface="Times New Roman" panose="02020603050405020304" pitchFamily="18" charset="0"/>
                            </a:rPr>
                            <a:t>Represents the proportion of correctly predicted flood and non-flood cases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84653524"/>
                      </a:ext>
                    </a:extLst>
                  </a:tr>
                  <a:tr h="749110">
                    <a:tc>
                      <a:txBody>
                        <a:bodyPr/>
                        <a:lstStyle/>
                        <a:p>
                          <a:r>
                            <a:rPr lang="en-IN" dirty="0">
                              <a:latin typeface="Times New Roman" panose="02020603050405020304" pitchFamily="18" charset="0"/>
                              <a:cs typeface="Times New Roman" panose="02020603050405020304" pitchFamily="18" charset="0"/>
                            </a:rPr>
                            <a:t>R-Squared (R²)</a:t>
                          </a:r>
                        </a:p>
                      </a:txBody>
                      <a:tcPr/>
                    </a:tc>
                    <a:tc>
                      <a:txBody>
                        <a:bodyPr/>
                        <a:lstStyle/>
                        <a:p>
                          <a:endParaRPr lang="en-US"/>
                        </a:p>
                      </a:txBody>
                      <a:tcPr>
                        <a:blipFill>
                          <a:blip r:embed="rId3"/>
                          <a:stretch>
                            <a:fillRect l="-50932" t="-260976" r="-98447" b="-326016"/>
                          </a:stretch>
                        </a:blipFill>
                      </a:tcPr>
                    </a:tc>
                    <a:tc>
                      <a:txBody>
                        <a:bodyPr/>
                        <a:lstStyle/>
                        <a:p>
                          <a:r>
                            <a:rPr lang="en-US" dirty="0">
                              <a:latin typeface="Times New Roman" panose="02020603050405020304" pitchFamily="18" charset="0"/>
                              <a:cs typeface="Times New Roman" panose="02020603050405020304" pitchFamily="18" charset="0"/>
                            </a:rPr>
                            <a:t>Indicates how well the predicted values fit the actual data.</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93248652"/>
                      </a:ext>
                    </a:extLst>
                  </a:tr>
                  <a:tr h="1158621">
                    <a:tc>
                      <a:txBody>
                        <a:bodyPr/>
                        <a:lstStyle/>
                        <a:p>
                          <a:r>
                            <a:rPr lang="en-IN" dirty="0">
                              <a:latin typeface="Times New Roman" panose="02020603050405020304" pitchFamily="18" charset="0"/>
                              <a:cs typeface="Times New Roman" panose="02020603050405020304" pitchFamily="18" charset="0"/>
                            </a:rPr>
                            <a:t>RMSE</a:t>
                          </a:r>
                        </a:p>
                      </a:txBody>
                      <a:tcPr/>
                    </a:tc>
                    <a:tc>
                      <a:txBody>
                        <a:bodyPr/>
                        <a:lstStyle/>
                        <a:p>
                          <a:endParaRPr lang="en-US"/>
                        </a:p>
                      </a:txBody>
                      <a:tcPr>
                        <a:blipFill>
                          <a:blip r:embed="rId3"/>
                          <a:stretch>
                            <a:fillRect l="-50932" t="-232461" r="-98447" b="-109948"/>
                          </a:stretch>
                        </a:blipFill>
                      </a:tcPr>
                    </a:tc>
                    <a:tc>
                      <a:txBody>
                        <a:bodyPr/>
                        <a:lstStyle/>
                        <a:p>
                          <a:r>
                            <a:rPr lang="en-US" dirty="0">
                              <a:latin typeface="Times New Roman" panose="02020603050405020304" pitchFamily="18" charset="0"/>
                              <a:cs typeface="Times New Roman" panose="02020603050405020304" pitchFamily="18" charset="0"/>
                            </a:rPr>
                            <a:t>Measures the average magnitude of prediction errors in the model.</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40908562"/>
                      </a:ext>
                    </a:extLst>
                  </a:tr>
                  <a:tr h="1188720">
                    <a:tc>
                      <a:txBody>
                        <a:bodyPr/>
                        <a:lstStyle/>
                        <a:p>
                          <a:r>
                            <a:rPr lang="en-IN" dirty="0">
                              <a:latin typeface="Times New Roman" panose="02020603050405020304" pitchFamily="18" charset="0"/>
                              <a:cs typeface="Times New Roman" panose="02020603050405020304" pitchFamily="18" charset="0"/>
                            </a:rPr>
                            <a:t>MAE</a:t>
                          </a:r>
                        </a:p>
                      </a:txBody>
                      <a:tcPr/>
                    </a:tc>
                    <a:tc>
                      <a:txBody>
                        <a:bodyPr/>
                        <a:lstStyle/>
                        <a:p>
                          <a:endParaRPr lang="en-US"/>
                        </a:p>
                      </a:txBody>
                      <a:tcPr>
                        <a:blipFill>
                          <a:blip r:embed="rId3"/>
                          <a:stretch>
                            <a:fillRect l="-50932" t="-325641" r="-98447" b="-7692"/>
                          </a:stretch>
                        </a:blipFill>
                      </a:tcPr>
                    </a:tc>
                    <a:tc>
                      <a:txBody>
                        <a:bodyPr/>
                        <a:lstStyle/>
                        <a:p>
                          <a:r>
                            <a:rPr lang="en-US" dirty="0">
                              <a:latin typeface="Times New Roman" panose="02020603050405020304" pitchFamily="18" charset="0"/>
                              <a:cs typeface="Times New Roman" panose="02020603050405020304" pitchFamily="18" charset="0"/>
                            </a:rPr>
                            <a:t>Measures the average absolute difference between predicted and actual values. A lower MAE indicates higher prediction accuracy.</a:t>
                          </a: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txBody>
                      <a:tcPr/>
                    </a:tc>
                    <a:extLst>
                      <a:ext uri="{0D108BD9-81ED-4DB2-BD59-A6C34878D82A}">
                        <a16:rowId xmlns:a16="http://schemas.microsoft.com/office/drawing/2014/main" val="3117905139"/>
                      </a:ext>
                    </a:extLst>
                  </a:tr>
                </a:tbl>
              </a:graphicData>
            </a:graphic>
          </p:graphicFrame>
        </mc:Fallback>
      </mc:AlternateContent>
    </p:spTree>
    <p:extLst>
      <p:ext uri="{BB962C8B-B14F-4D97-AF65-F5344CB8AC3E}">
        <p14:creationId xmlns:p14="http://schemas.microsoft.com/office/powerpoint/2010/main" val="27594725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b="1" dirty="0">
                <a:latin typeface="Times New Roman" panose="02020603050405020304" pitchFamily="18" charset="0"/>
                <a:cs typeface="Times New Roman" panose="02020603050405020304" pitchFamily="18" charset="0"/>
              </a:rPr>
              <a:t>Results &amp; Analysis</a:t>
            </a:r>
          </a:p>
        </p:txBody>
      </p:sp>
      <p:sp>
        <p:nvSpPr>
          <p:cNvPr id="13" name="Content Placeholder 12">
            <a:extLst>
              <a:ext uri="{FF2B5EF4-FFF2-40B4-BE49-F238E27FC236}">
                <a16:creationId xmlns:a16="http://schemas.microsoft.com/office/drawing/2014/main" id="{853746C7-70D3-7D45-BB6C-16E3B148E4E7}"/>
              </a:ext>
            </a:extLst>
          </p:cNvPr>
          <p:cNvSpPr>
            <a:spLocks noGrp="1"/>
          </p:cNvSpPr>
          <p:nvPr>
            <p:ph idx="1"/>
          </p:nvPr>
        </p:nvSpPr>
        <p:spPr/>
        <p:txBody>
          <a:bodyPr>
            <a:normAutofit/>
          </a:bodyPr>
          <a:lstStyle/>
          <a:p>
            <a:pPr>
              <a:spcBef>
                <a:spcPct val="0"/>
              </a:spcBef>
              <a:spcAft>
                <a:spcPct val="0"/>
              </a:spcAft>
            </a:pPr>
            <a:r>
              <a:rPr lang="en-IN" altLang="en-US" sz="2000" b="1" dirty="0">
                <a:latin typeface="Times New Roman" panose="02020603050405020304" pitchFamily="18" charset="0"/>
                <a:cs typeface="Times New Roman" panose="02020603050405020304" pitchFamily="18" charset="0"/>
              </a:rPr>
              <a:t>High Accuracy:</a:t>
            </a:r>
            <a:br>
              <a:rPr lang="en-IN" altLang="en-US" sz="2000" dirty="0">
                <a:latin typeface="Times New Roman" panose="02020603050405020304" pitchFamily="18" charset="0"/>
                <a:cs typeface="Times New Roman" panose="02020603050405020304" pitchFamily="18" charset="0"/>
              </a:rPr>
            </a:br>
            <a:r>
              <a:rPr lang="en-IN" altLang="en-US" sz="2000" dirty="0">
                <a:latin typeface="Times New Roman" panose="02020603050405020304" pitchFamily="18" charset="0"/>
                <a:cs typeface="Times New Roman" panose="02020603050405020304" pitchFamily="18" charset="0"/>
              </a:rPr>
              <a:t>The GRU model achieved </a:t>
            </a:r>
            <a:r>
              <a:rPr lang="en-IN" altLang="en-US" sz="2000" b="1" dirty="0">
                <a:latin typeface="Times New Roman" panose="02020603050405020304" pitchFamily="18" charset="0"/>
                <a:cs typeface="Times New Roman" panose="02020603050405020304" pitchFamily="18" charset="0"/>
              </a:rPr>
              <a:t>99.63% accuracy</a:t>
            </a:r>
            <a:r>
              <a:rPr lang="en-IN" altLang="en-US" sz="2000" dirty="0">
                <a:latin typeface="Times New Roman" panose="02020603050405020304" pitchFamily="18" charset="0"/>
                <a:cs typeface="Times New Roman" panose="02020603050405020304" pitchFamily="18" charset="0"/>
              </a:rPr>
              <a:t>, outperforming all other models (RF, XGBoost, CNN, LSTM).</a:t>
            </a:r>
          </a:p>
          <a:p>
            <a:pPr>
              <a:spcBef>
                <a:spcPct val="0"/>
              </a:spcBef>
              <a:spcAft>
                <a:spcPct val="0"/>
              </a:spcAft>
            </a:pPr>
            <a:r>
              <a:rPr lang="en-IN" altLang="en-US" sz="2000" b="1" dirty="0">
                <a:latin typeface="Times New Roman" panose="02020603050405020304" pitchFamily="18" charset="0"/>
                <a:cs typeface="Times New Roman" panose="02020603050405020304" pitchFamily="18" charset="0"/>
              </a:rPr>
              <a:t>Error Metrics:</a:t>
            </a:r>
            <a:br>
              <a:rPr lang="en-IN" altLang="en-US" sz="2000" dirty="0">
                <a:latin typeface="Times New Roman" panose="02020603050405020304" pitchFamily="18" charset="0"/>
                <a:cs typeface="Times New Roman" panose="02020603050405020304" pitchFamily="18" charset="0"/>
              </a:rPr>
            </a:br>
            <a:r>
              <a:rPr lang="en-IN" altLang="en-US" sz="2000" dirty="0">
                <a:latin typeface="Times New Roman" panose="02020603050405020304" pitchFamily="18" charset="0"/>
                <a:cs typeface="Times New Roman" panose="02020603050405020304" pitchFamily="18" charset="0"/>
              </a:rPr>
              <a:t>Recorded </a:t>
            </a:r>
            <a:r>
              <a:rPr lang="en-IN" altLang="en-US" sz="2000" b="1" dirty="0">
                <a:latin typeface="Times New Roman" panose="02020603050405020304" pitchFamily="18" charset="0"/>
                <a:cs typeface="Times New Roman" panose="02020603050405020304" pitchFamily="18" charset="0"/>
              </a:rPr>
              <a:t>RMSE = 0.1555</a:t>
            </a:r>
            <a:r>
              <a:rPr lang="en-IN" altLang="en-US" sz="2000" dirty="0">
                <a:latin typeface="Times New Roman" panose="02020603050405020304" pitchFamily="18" charset="0"/>
                <a:cs typeface="Times New Roman" panose="02020603050405020304" pitchFamily="18" charset="0"/>
              </a:rPr>
              <a:t>, </a:t>
            </a:r>
            <a:r>
              <a:rPr lang="en-IN" altLang="en-US" sz="2000" b="1" dirty="0">
                <a:latin typeface="Times New Roman" panose="02020603050405020304" pitchFamily="18" charset="0"/>
                <a:cs typeface="Times New Roman" panose="02020603050405020304" pitchFamily="18" charset="0"/>
              </a:rPr>
              <a:t>MSE = 0.0820</a:t>
            </a:r>
            <a:r>
              <a:rPr lang="en-IN" altLang="en-US" sz="2000" dirty="0">
                <a:latin typeface="Times New Roman" panose="02020603050405020304" pitchFamily="18" charset="0"/>
                <a:cs typeface="Times New Roman" panose="02020603050405020304" pitchFamily="18" charset="0"/>
              </a:rPr>
              <a:t>, and </a:t>
            </a:r>
            <a:r>
              <a:rPr lang="en-IN" altLang="en-US" sz="2000" b="1" dirty="0">
                <a:latin typeface="Times New Roman" panose="02020603050405020304" pitchFamily="18" charset="0"/>
                <a:cs typeface="Times New Roman" panose="02020603050405020304" pitchFamily="18" charset="0"/>
              </a:rPr>
              <a:t>R² = 0.8986</a:t>
            </a:r>
            <a:r>
              <a:rPr lang="en-IN" altLang="en-US" sz="2000" dirty="0">
                <a:latin typeface="Times New Roman" panose="02020603050405020304" pitchFamily="18" charset="0"/>
                <a:cs typeface="Times New Roman" panose="02020603050405020304" pitchFamily="18" charset="0"/>
              </a:rPr>
              <a:t>, showing high predictive precision.</a:t>
            </a:r>
          </a:p>
          <a:p>
            <a:pPr>
              <a:spcBef>
                <a:spcPct val="0"/>
              </a:spcBef>
              <a:spcAft>
                <a:spcPct val="0"/>
              </a:spcAft>
            </a:pPr>
            <a:r>
              <a:rPr lang="en-IN" altLang="en-US" sz="2000" b="1" dirty="0">
                <a:latin typeface="Times New Roman" panose="02020603050405020304" pitchFamily="18" charset="0"/>
                <a:cs typeface="Times New Roman" panose="02020603050405020304" pitchFamily="18" charset="0"/>
              </a:rPr>
              <a:t>Model Efficiency:</a:t>
            </a:r>
            <a:br>
              <a:rPr lang="en-IN" altLang="en-US" sz="2000" dirty="0">
                <a:latin typeface="Times New Roman" panose="02020603050405020304" pitchFamily="18" charset="0"/>
                <a:cs typeface="Times New Roman" panose="02020603050405020304" pitchFamily="18" charset="0"/>
              </a:rPr>
            </a:br>
            <a:r>
              <a:rPr lang="en-IN" altLang="en-US" sz="2000" dirty="0">
                <a:latin typeface="Times New Roman" panose="02020603050405020304" pitchFamily="18" charset="0"/>
                <a:cs typeface="Times New Roman" panose="02020603050405020304" pitchFamily="18" charset="0"/>
              </a:rPr>
              <a:t>GRU with dropout and dense layers showed faster convergence and better temporal learning than LSTM or CNN.</a:t>
            </a:r>
          </a:p>
          <a:p>
            <a:pPr>
              <a:spcBef>
                <a:spcPct val="0"/>
              </a:spcBef>
              <a:spcAft>
                <a:spcPct val="0"/>
              </a:spcAft>
            </a:pPr>
            <a:r>
              <a:rPr lang="en-IN" altLang="en-US" sz="2000" b="1" dirty="0">
                <a:latin typeface="Times New Roman" panose="02020603050405020304" pitchFamily="18" charset="0"/>
                <a:cs typeface="Times New Roman" panose="02020603050405020304" pitchFamily="18" charset="0"/>
              </a:rPr>
              <a:t>Generalization:</a:t>
            </a:r>
            <a:br>
              <a:rPr lang="en-IN" altLang="en-US" sz="2000" dirty="0">
                <a:latin typeface="Times New Roman" panose="02020603050405020304" pitchFamily="18" charset="0"/>
                <a:cs typeface="Times New Roman" panose="02020603050405020304" pitchFamily="18" charset="0"/>
              </a:rPr>
            </a:br>
            <a:r>
              <a:rPr lang="en-IN" altLang="en-US" sz="2000" dirty="0">
                <a:latin typeface="Times New Roman" panose="02020603050405020304" pitchFamily="18" charset="0"/>
                <a:cs typeface="Times New Roman" panose="02020603050405020304" pitchFamily="18" charset="0"/>
              </a:rPr>
              <a:t>The model maintained high accuracy across diverse climatic zones, confirming strong scalability and transferability.</a:t>
            </a:r>
          </a:p>
          <a:p>
            <a:endParaRPr lang="en-IN" dirty="0"/>
          </a:p>
        </p:txBody>
      </p:sp>
      <p:sp>
        <p:nvSpPr>
          <p:cNvPr id="3" name="Date Placeholder 2"/>
          <p:cNvSpPr>
            <a:spLocks noGrp="1"/>
          </p:cNvSpPr>
          <p:nvPr>
            <p:ph type="dt" sz="half" idx="10"/>
          </p:nvPr>
        </p:nvSpPr>
        <p:spPr/>
        <p:txBody>
          <a:bodyPr/>
          <a:lstStyle/>
          <a:p>
            <a:r>
              <a:rPr lang="en-US" dirty="0"/>
              <a:t>10/11/25</a:t>
            </a:r>
          </a:p>
        </p:txBody>
      </p:sp>
      <p:sp>
        <p:nvSpPr>
          <p:cNvPr id="5" name="Footer Placeholder 4"/>
          <p:cNvSpPr>
            <a:spLocks noGrp="1"/>
          </p:cNvSpPr>
          <p:nvPr>
            <p:ph type="ftr" sz="quarter" idx="11"/>
          </p:nvPr>
        </p:nvSpPr>
        <p:spPr/>
        <p:txBody>
          <a:bodyPr/>
          <a:lstStyle/>
          <a:p>
            <a:r>
              <a:rPr lang="en-US" dirty="0"/>
              <a:t>Review No. 1     Batch No.  CG12       Department of CSE</a:t>
            </a:r>
          </a:p>
        </p:txBody>
      </p:sp>
      <p:sp>
        <p:nvSpPr>
          <p:cNvPr id="6" name="Slide Number Placeholder 5"/>
          <p:cNvSpPr>
            <a:spLocks noGrp="1"/>
          </p:cNvSpPr>
          <p:nvPr>
            <p:ph type="sldNum" sz="quarter" idx="12"/>
          </p:nvPr>
        </p:nvSpPr>
        <p:spPr/>
        <p:txBody>
          <a:bodyPr/>
          <a:lstStyle/>
          <a:p>
            <a:fld id="{FFEC67FC-8107-4C00-9415-4D1567E899B9}" type="slidenum">
              <a:rPr lang="en-US" smtClean="0"/>
              <a:t>17</a:t>
            </a:fld>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spTree>
    <p:extLst>
      <p:ext uri="{BB962C8B-B14F-4D97-AF65-F5344CB8AC3E}">
        <p14:creationId xmlns:p14="http://schemas.microsoft.com/office/powerpoint/2010/main" val="3118697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87368-598B-EC58-1D6B-7626DD615C74}"/>
              </a:ext>
            </a:extLst>
          </p:cNvPr>
          <p:cNvSpPr>
            <a:spLocks noGrp="1"/>
          </p:cNvSpPr>
          <p:nvPr>
            <p:ph type="title"/>
          </p:nvPr>
        </p:nvSpPr>
        <p:spPr>
          <a:xfrm>
            <a:off x="838200" y="365125"/>
            <a:ext cx="10515600" cy="795081"/>
          </a:xfrm>
        </p:spPr>
        <p:txBody>
          <a:bodyPr>
            <a:normAutofit/>
          </a:bodyPr>
          <a:lstStyle/>
          <a:p>
            <a:r>
              <a:rPr lang="en-US" sz="3200" b="1" dirty="0">
                <a:latin typeface="Times New Roman" panose="02020603050405020304" pitchFamily="18" charset="0"/>
                <a:cs typeface="Times New Roman" panose="02020603050405020304" pitchFamily="18" charset="0"/>
              </a:rPr>
              <a:t>                                      Results &amp; Analysis</a:t>
            </a:r>
            <a:endParaRPr lang="en-IN" sz="3200" dirty="0"/>
          </a:p>
        </p:txBody>
      </p:sp>
      <p:graphicFrame>
        <p:nvGraphicFramePr>
          <p:cNvPr id="8" name="Content Placeholder 7">
            <a:extLst>
              <a:ext uri="{FF2B5EF4-FFF2-40B4-BE49-F238E27FC236}">
                <a16:creationId xmlns:a16="http://schemas.microsoft.com/office/drawing/2014/main" id="{7AD611C6-8ACC-A5C1-0F5C-086B3C64958D}"/>
              </a:ext>
            </a:extLst>
          </p:cNvPr>
          <p:cNvGraphicFramePr>
            <a:graphicFrameLocks noGrp="1"/>
          </p:cNvGraphicFramePr>
          <p:nvPr>
            <p:ph idx="1"/>
            <p:extLst>
              <p:ext uri="{D42A27DB-BD31-4B8C-83A1-F6EECF244321}">
                <p14:modId xmlns:p14="http://schemas.microsoft.com/office/powerpoint/2010/main" val="2246343225"/>
              </p:ext>
            </p:extLst>
          </p:nvPr>
        </p:nvGraphicFramePr>
        <p:xfrm>
          <a:off x="838200" y="1825624"/>
          <a:ext cx="10515600" cy="380942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70583742"/>
                    </a:ext>
                  </a:extLst>
                </a:gridCol>
                <a:gridCol w="2103120">
                  <a:extLst>
                    <a:ext uri="{9D8B030D-6E8A-4147-A177-3AD203B41FA5}">
                      <a16:colId xmlns:a16="http://schemas.microsoft.com/office/drawing/2014/main" val="58533091"/>
                    </a:ext>
                  </a:extLst>
                </a:gridCol>
                <a:gridCol w="2103120">
                  <a:extLst>
                    <a:ext uri="{9D8B030D-6E8A-4147-A177-3AD203B41FA5}">
                      <a16:colId xmlns:a16="http://schemas.microsoft.com/office/drawing/2014/main" val="1166724306"/>
                    </a:ext>
                  </a:extLst>
                </a:gridCol>
                <a:gridCol w="2103120">
                  <a:extLst>
                    <a:ext uri="{9D8B030D-6E8A-4147-A177-3AD203B41FA5}">
                      <a16:colId xmlns:a16="http://schemas.microsoft.com/office/drawing/2014/main" val="2146954992"/>
                    </a:ext>
                  </a:extLst>
                </a:gridCol>
                <a:gridCol w="2103120">
                  <a:extLst>
                    <a:ext uri="{9D8B030D-6E8A-4147-A177-3AD203B41FA5}">
                      <a16:colId xmlns:a16="http://schemas.microsoft.com/office/drawing/2014/main" val="3269839574"/>
                    </a:ext>
                  </a:extLst>
                </a:gridCol>
              </a:tblGrid>
              <a:tr h="5331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solidFill>
                            <a:schemeClr val="bg1"/>
                          </a:solidFill>
                          <a:latin typeface="Times New Roman" panose="02020603050405020304" pitchFamily="18" charset="0"/>
                          <a:cs typeface="Times New Roman" panose="02020603050405020304" pitchFamily="18" charset="0"/>
                        </a:rPr>
                        <a:t>Model</a:t>
                      </a:r>
                    </a:p>
                    <a:p>
                      <a:endParaRPr lang="en-IN" dirty="0">
                        <a:solidFill>
                          <a:schemeClr val="bg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solidFill>
                            <a:schemeClr val="bg1"/>
                          </a:solidFill>
                          <a:latin typeface="Times New Roman" panose="02020603050405020304" pitchFamily="18" charset="0"/>
                          <a:cs typeface="Times New Roman" panose="02020603050405020304" pitchFamily="18" charset="0"/>
                        </a:rPr>
                        <a:t>Accuracy (%)</a:t>
                      </a:r>
                    </a:p>
                    <a:p>
                      <a:endParaRPr lang="en-IN" dirty="0">
                        <a:solidFill>
                          <a:schemeClr val="bg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solidFill>
                            <a:schemeClr val="bg1"/>
                          </a:solidFill>
                          <a:latin typeface="Times New Roman" panose="02020603050405020304" pitchFamily="18" charset="0"/>
                          <a:cs typeface="Times New Roman" panose="02020603050405020304" pitchFamily="18" charset="0"/>
                        </a:rPr>
                        <a:t>R²</a:t>
                      </a:r>
                    </a:p>
                    <a:p>
                      <a:endParaRPr lang="en-IN" dirty="0">
                        <a:solidFill>
                          <a:schemeClr val="bg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solidFill>
                            <a:schemeClr val="bg1"/>
                          </a:solidFill>
                          <a:latin typeface="Times New Roman" panose="02020603050405020304" pitchFamily="18" charset="0"/>
                          <a:cs typeface="Times New Roman" panose="02020603050405020304" pitchFamily="18" charset="0"/>
                        </a:rPr>
                        <a:t>RMSE</a:t>
                      </a:r>
                    </a:p>
                    <a:p>
                      <a:endParaRPr lang="en-IN" dirty="0">
                        <a:solidFill>
                          <a:schemeClr val="bg1"/>
                        </a:solidFill>
                        <a:latin typeface="Times New Roman" panose="02020603050405020304" pitchFamily="18" charset="0"/>
                        <a:cs typeface="Times New Roman" panose="02020603050405020304" pitchFamily="18"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dirty="0">
                          <a:solidFill>
                            <a:schemeClr val="bg1"/>
                          </a:solidFill>
                          <a:latin typeface="Times New Roman" panose="02020603050405020304" pitchFamily="18" charset="0"/>
                          <a:cs typeface="Times New Roman" panose="02020603050405020304" pitchFamily="18" charset="0"/>
                        </a:rPr>
                        <a:t>MAE</a:t>
                      </a:r>
                    </a:p>
                    <a:p>
                      <a:endParaRPr lang="en-IN" dirty="0">
                        <a:solidFill>
                          <a:schemeClr val="bg1"/>
                        </a:solidFill>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063796225"/>
                  </a:ext>
                </a:extLst>
              </a:tr>
              <a:tr h="5331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Random Forest</a:t>
                      </a:r>
                    </a:p>
                    <a:p>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85.62</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0.4267</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0.3696</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0.3380</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7614295"/>
                  </a:ext>
                </a:extLst>
              </a:tr>
              <a:tr h="5331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XGBoost</a:t>
                      </a:r>
                    </a:p>
                    <a:p>
                      <a:endParaRPr lang="en-IN" sz="2000" dirty="0">
                        <a:latin typeface="Times New Roman" panose="02020603050405020304" pitchFamily="18" charset="0"/>
                        <a:cs typeface="Times New Roman" panose="02020603050405020304" pitchFamily="18" charset="0"/>
                      </a:endParaRPr>
                    </a:p>
                  </a:txBody>
                  <a:tcPr/>
                </a:tc>
                <a:tc>
                  <a:txBody>
                    <a:bodyPr/>
                    <a:lstStyle/>
                    <a:p>
                      <a:r>
                        <a:rPr lang="en-US" sz="2000" dirty="0">
                          <a:latin typeface="Times New Roman" panose="02020603050405020304" pitchFamily="18" charset="0"/>
                          <a:cs typeface="Times New Roman" panose="02020603050405020304" pitchFamily="18" charset="0"/>
                        </a:rPr>
                        <a:t>88.08</a:t>
                      </a:r>
                      <a:endParaRPr lang="en-IN" sz="2000" dirty="0">
                        <a:latin typeface="Times New Roman" panose="02020603050405020304" pitchFamily="18" charset="0"/>
                        <a:cs typeface="Times New Roman" panose="02020603050405020304" pitchFamily="18" charset="0"/>
                      </a:endParaRPr>
                    </a:p>
                  </a:txBody>
                  <a:tcPr/>
                </a:tc>
                <a:tc>
                  <a:txBody>
                    <a:bodyPr/>
                    <a:lstStyle/>
                    <a:p>
                      <a:pPr>
                        <a:buNone/>
                      </a:pPr>
                      <a:r>
                        <a:rPr lang="en-IN" sz="2000" dirty="0">
                          <a:latin typeface="Times New Roman" panose="02020603050405020304" pitchFamily="18" charset="0"/>
                          <a:cs typeface="Times New Roman" panose="02020603050405020304" pitchFamily="18" charset="0"/>
                        </a:rPr>
                        <a:t>0.6465</a:t>
                      </a:r>
                    </a:p>
                  </a:txBody>
                  <a:tcPr marL="91428" marR="91428" marT="45726" marB="45726" anchor="ctr"/>
                </a:tc>
                <a:tc>
                  <a:txBody>
                    <a:bodyPr/>
                    <a:lstStyle/>
                    <a:p>
                      <a:pPr>
                        <a:buNone/>
                      </a:pPr>
                      <a:r>
                        <a:rPr lang="en-IN" sz="2000" dirty="0">
                          <a:latin typeface="Times New Roman" panose="02020603050405020304" pitchFamily="18" charset="0"/>
                          <a:cs typeface="Times New Roman" panose="02020603050405020304" pitchFamily="18" charset="0"/>
                        </a:rPr>
                        <a:t>0.2902</a:t>
                      </a:r>
                    </a:p>
                  </a:txBody>
                  <a:tcPr marL="91428" marR="91428" marT="45726" marB="45726" anchor="ctr"/>
                </a:tc>
                <a:tc>
                  <a:txBody>
                    <a:bodyPr/>
                    <a:lstStyle/>
                    <a:p>
                      <a:r>
                        <a:rPr lang="en-US" sz="2000" dirty="0">
                          <a:latin typeface="Times New Roman" panose="02020603050405020304" pitchFamily="18" charset="0"/>
                          <a:cs typeface="Times New Roman" panose="02020603050405020304" pitchFamily="18" charset="0"/>
                        </a:rPr>
                        <a:t>0.1524</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76585120"/>
                  </a:ext>
                </a:extLst>
              </a:tr>
              <a:tr h="5331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dirty="0">
                          <a:latin typeface="Times New Roman" panose="02020603050405020304" pitchFamily="18" charset="0"/>
                          <a:cs typeface="Times New Roman" panose="02020603050405020304" pitchFamily="18" charset="0"/>
                        </a:rPr>
                        <a:t>CNN</a:t>
                      </a:r>
                    </a:p>
                    <a:p>
                      <a:endParaRPr lang="en-IN" sz="2000" dirty="0">
                        <a:latin typeface="Times New Roman" panose="02020603050405020304" pitchFamily="18" charset="0"/>
                        <a:cs typeface="Times New Roman" panose="02020603050405020304" pitchFamily="18" charset="0"/>
                      </a:endParaRPr>
                    </a:p>
                  </a:txBody>
                  <a:tcPr/>
                </a:tc>
                <a:tc>
                  <a:txBody>
                    <a:bodyPr/>
                    <a:lstStyle/>
                    <a:p>
                      <a:pPr>
                        <a:buNone/>
                      </a:pPr>
                      <a:r>
                        <a:rPr lang="en-IN" sz="2000" dirty="0">
                          <a:latin typeface="Times New Roman" panose="02020603050405020304" pitchFamily="18" charset="0"/>
                          <a:cs typeface="Times New Roman" panose="02020603050405020304" pitchFamily="18" charset="0"/>
                        </a:rPr>
                        <a:t>98.49</a:t>
                      </a:r>
                    </a:p>
                  </a:txBody>
                  <a:tcPr marL="91428" marR="91428" marT="45726" marB="45726" anchor="ctr"/>
                </a:tc>
                <a:tc>
                  <a:txBody>
                    <a:bodyPr/>
                    <a:lstStyle/>
                    <a:p>
                      <a:pPr>
                        <a:buNone/>
                      </a:pPr>
                      <a:r>
                        <a:rPr lang="en-IN" sz="2000" dirty="0">
                          <a:latin typeface="Times New Roman" panose="02020603050405020304" pitchFamily="18" charset="0"/>
                          <a:cs typeface="Times New Roman" panose="02020603050405020304" pitchFamily="18" charset="0"/>
                        </a:rPr>
                        <a:t>0.9301</a:t>
                      </a:r>
                    </a:p>
                  </a:txBody>
                  <a:tcPr marL="91428" marR="91428" marT="45726" marB="45726" anchor="ctr"/>
                </a:tc>
                <a:tc>
                  <a:txBody>
                    <a:bodyPr/>
                    <a:lstStyle/>
                    <a:p>
                      <a:pPr>
                        <a:buNone/>
                      </a:pPr>
                      <a:r>
                        <a:rPr lang="en-IN" sz="2000">
                          <a:latin typeface="Times New Roman" panose="02020603050405020304" pitchFamily="18" charset="0"/>
                          <a:cs typeface="Times New Roman" panose="02020603050405020304" pitchFamily="18" charset="0"/>
                        </a:rPr>
                        <a:t>0.1291</a:t>
                      </a:r>
                    </a:p>
                  </a:txBody>
                  <a:tcPr marL="91428" marR="91428" marT="45726" marB="45726" anchor="ctr"/>
                </a:tc>
                <a:tc>
                  <a:txBody>
                    <a:bodyPr/>
                    <a:lstStyle/>
                    <a:p>
                      <a:r>
                        <a:rPr lang="en-US" sz="2000" dirty="0">
                          <a:latin typeface="Times New Roman" panose="02020603050405020304" pitchFamily="18" charset="0"/>
                          <a:cs typeface="Times New Roman" panose="02020603050405020304" pitchFamily="18" charset="0"/>
                        </a:rPr>
                        <a:t>0.0568</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58167930"/>
                  </a:ext>
                </a:extLst>
              </a:tr>
              <a:tr h="533110">
                <a:tc>
                  <a:txBody>
                    <a:bodyPr/>
                    <a:lstStyle/>
                    <a:p>
                      <a:r>
                        <a:rPr lang="en-US" sz="2000" dirty="0">
                          <a:latin typeface="Times New Roman" panose="02020603050405020304" pitchFamily="18" charset="0"/>
                          <a:cs typeface="Times New Roman" panose="02020603050405020304" pitchFamily="18" charset="0"/>
                        </a:rPr>
                        <a:t>LSTM</a:t>
                      </a:r>
                      <a:endParaRPr lang="en-IN" sz="2000" dirty="0">
                        <a:latin typeface="Times New Roman" panose="02020603050405020304" pitchFamily="18" charset="0"/>
                        <a:cs typeface="Times New Roman" panose="02020603050405020304" pitchFamily="18" charset="0"/>
                      </a:endParaRPr>
                    </a:p>
                  </a:txBody>
                  <a:tcPr/>
                </a:tc>
                <a:tc>
                  <a:txBody>
                    <a:bodyPr/>
                    <a:lstStyle/>
                    <a:p>
                      <a:pPr>
                        <a:buNone/>
                      </a:pPr>
                      <a:r>
                        <a:rPr lang="en-IN" sz="2000" dirty="0">
                          <a:latin typeface="Times New Roman" panose="02020603050405020304" pitchFamily="18" charset="0"/>
                          <a:cs typeface="Times New Roman" panose="02020603050405020304" pitchFamily="18" charset="0"/>
                        </a:rPr>
                        <a:t>98.49</a:t>
                      </a:r>
                    </a:p>
                  </a:txBody>
                  <a:tcPr marL="91428" marR="91428" marT="45726" marB="45726" anchor="ctr"/>
                </a:tc>
                <a:tc>
                  <a:txBody>
                    <a:bodyPr/>
                    <a:lstStyle/>
                    <a:p>
                      <a:pPr>
                        <a:buNone/>
                      </a:pPr>
                      <a:r>
                        <a:rPr lang="en-IN" sz="2000" dirty="0">
                          <a:latin typeface="Times New Roman" panose="02020603050405020304" pitchFamily="18" charset="0"/>
                          <a:cs typeface="Times New Roman" panose="02020603050405020304" pitchFamily="18" charset="0"/>
                        </a:rPr>
                        <a:t>0.8677</a:t>
                      </a:r>
                    </a:p>
                  </a:txBody>
                  <a:tcPr marL="91428" marR="91428" marT="45726" marB="45726" anchor="ctr"/>
                </a:tc>
                <a:tc>
                  <a:txBody>
                    <a:bodyPr/>
                    <a:lstStyle/>
                    <a:p>
                      <a:pPr>
                        <a:buNone/>
                      </a:pPr>
                      <a:r>
                        <a:rPr lang="en-IN" sz="2000" dirty="0">
                          <a:latin typeface="Times New Roman" panose="02020603050405020304" pitchFamily="18" charset="0"/>
                          <a:cs typeface="Times New Roman" panose="02020603050405020304" pitchFamily="18" charset="0"/>
                        </a:rPr>
                        <a:t>0.1776</a:t>
                      </a:r>
                    </a:p>
                  </a:txBody>
                  <a:tcPr marL="91428" marR="91428" marT="45726" marB="45726" anchor="ctr"/>
                </a:tc>
                <a:tc>
                  <a:txBody>
                    <a:bodyPr/>
                    <a:lstStyle/>
                    <a:p>
                      <a:r>
                        <a:rPr lang="en-US" sz="2000" dirty="0">
                          <a:latin typeface="Times New Roman" panose="02020603050405020304" pitchFamily="18" charset="0"/>
                          <a:cs typeface="Times New Roman" panose="02020603050405020304" pitchFamily="18" charset="0"/>
                        </a:rPr>
                        <a:t>0.1061</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31465481"/>
                  </a:ext>
                </a:extLst>
              </a:tr>
              <a:tr h="533110">
                <a:tc>
                  <a:txBody>
                    <a:bodyPr/>
                    <a:lstStyle/>
                    <a:p>
                      <a:r>
                        <a:rPr lang="en-US" sz="2000" dirty="0">
                          <a:latin typeface="Times New Roman" panose="02020603050405020304" pitchFamily="18" charset="0"/>
                          <a:cs typeface="Times New Roman" panose="02020603050405020304" pitchFamily="18" charset="0"/>
                        </a:rPr>
                        <a:t>GRU</a:t>
                      </a:r>
                      <a:endParaRPr lang="en-IN" sz="2000" dirty="0">
                        <a:latin typeface="Times New Roman" panose="02020603050405020304" pitchFamily="18" charset="0"/>
                        <a:cs typeface="Times New Roman" panose="02020603050405020304" pitchFamily="18" charset="0"/>
                      </a:endParaRPr>
                    </a:p>
                  </a:txBody>
                  <a:tcPr/>
                </a:tc>
                <a:tc>
                  <a:txBody>
                    <a:bodyPr/>
                    <a:lstStyle/>
                    <a:p>
                      <a:pPr>
                        <a:buNone/>
                      </a:pPr>
                      <a:r>
                        <a:rPr lang="en-IN" sz="2000" b="1">
                          <a:latin typeface="Times New Roman" panose="02020603050405020304" pitchFamily="18" charset="0"/>
                          <a:cs typeface="Times New Roman" panose="02020603050405020304" pitchFamily="18" charset="0"/>
                        </a:rPr>
                        <a:t>99.63</a:t>
                      </a:r>
                      <a:endParaRPr lang="en-IN" sz="2000">
                        <a:latin typeface="Times New Roman" panose="02020603050405020304" pitchFamily="18" charset="0"/>
                        <a:cs typeface="Times New Roman" panose="02020603050405020304" pitchFamily="18" charset="0"/>
                      </a:endParaRPr>
                    </a:p>
                  </a:txBody>
                  <a:tcPr marL="91428" marR="91428" marT="45726" marB="45726" anchor="ctr"/>
                </a:tc>
                <a:tc>
                  <a:txBody>
                    <a:bodyPr/>
                    <a:lstStyle/>
                    <a:p>
                      <a:pPr>
                        <a:buNone/>
                      </a:pPr>
                      <a:r>
                        <a:rPr lang="en-IN" sz="2000" b="1" dirty="0">
                          <a:latin typeface="Times New Roman" panose="02020603050405020304" pitchFamily="18" charset="0"/>
                          <a:cs typeface="Times New Roman" panose="02020603050405020304" pitchFamily="18" charset="0"/>
                        </a:rPr>
                        <a:t>0.8986</a:t>
                      </a:r>
                      <a:endParaRPr lang="en-IN" sz="2000" dirty="0">
                        <a:latin typeface="Times New Roman" panose="02020603050405020304" pitchFamily="18" charset="0"/>
                        <a:cs typeface="Times New Roman" panose="02020603050405020304" pitchFamily="18" charset="0"/>
                      </a:endParaRPr>
                    </a:p>
                  </a:txBody>
                  <a:tcPr marL="91428" marR="91428" marT="45726" marB="45726" anchor="ctr"/>
                </a:tc>
                <a:tc>
                  <a:txBody>
                    <a:bodyPr/>
                    <a:lstStyle/>
                    <a:p>
                      <a:pPr>
                        <a:buNone/>
                      </a:pPr>
                      <a:r>
                        <a:rPr lang="en-IN" sz="2000" b="1" dirty="0">
                          <a:latin typeface="Times New Roman" panose="02020603050405020304" pitchFamily="18" charset="0"/>
                          <a:cs typeface="Times New Roman" panose="02020603050405020304" pitchFamily="18" charset="0"/>
                        </a:rPr>
                        <a:t>0.1555</a:t>
                      </a:r>
                      <a:endParaRPr lang="en-IN" sz="2000" dirty="0">
                        <a:latin typeface="Times New Roman" panose="02020603050405020304" pitchFamily="18" charset="0"/>
                        <a:cs typeface="Times New Roman" panose="02020603050405020304" pitchFamily="18" charset="0"/>
                      </a:endParaRPr>
                    </a:p>
                  </a:txBody>
                  <a:tcPr marL="91428" marR="91428" marT="45726" marB="45726" anchor="ctr"/>
                </a:tc>
                <a:tc>
                  <a:txBody>
                    <a:bodyPr/>
                    <a:lstStyle/>
                    <a:p>
                      <a:r>
                        <a:rPr lang="en-US" sz="2000" b="1" dirty="0">
                          <a:latin typeface="Times New Roman" panose="02020603050405020304" pitchFamily="18" charset="0"/>
                          <a:cs typeface="Times New Roman" panose="02020603050405020304" pitchFamily="18" charset="0"/>
                        </a:rPr>
                        <a:t>0.0820</a:t>
                      </a:r>
                      <a:endParaRPr lang="en-IN" sz="20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81225834"/>
                  </a:ext>
                </a:extLst>
              </a:tr>
            </a:tbl>
          </a:graphicData>
        </a:graphic>
      </p:graphicFrame>
      <p:sp>
        <p:nvSpPr>
          <p:cNvPr id="4" name="Date Placeholder 3">
            <a:extLst>
              <a:ext uri="{FF2B5EF4-FFF2-40B4-BE49-F238E27FC236}">
                <a16:creationId xmlns:a16="http://schemas.microsoft.com/office/drawing/2014/main" id="{AA468686-4E5A-954A-03E4-A679909964AF}"/>
              </a:ext>
            </a:extLst>
          </p:cNvPr>
          <p:cNvSpPr>
            <a:spLocks noGrp="1"/>
          </p:cNvSpPr>
          <p:nvPr>
            <p:ph type="dt" sz="half" idx="10"/>
          </p:nvPr>
        </p:nvSpPr>
        <p:spPr/>
        <p:txBody>
          <a:bodyPr/>
          <a:lstStyle/>
          <a:p>
            <a:r>
              <a:rPr lang="en-US" dirty="0"/>
              <a:t>10/11/25</a:t>
            </a:r>
          </a:p>
        </p:txBody>
      </p:sp>
      <p:sp>
        <p:nvSpPr>
          <p:cNvPr id="5" name="Footer Placeholder 4">
            <a:extLst>
              <a:ext uri="{FF2B5EF4-FFF2-40B4-BE49-F238E27FC236}">
                <a16:creationId xmlns:a16="http://schemas.microsoft.com/office/drawing/2014/main" id="{B095C68D-CA95-7336-57A0-92748AA40ED9}"/>
              </a:ext>
            </a:extLst>
          </p:cNvPr>
          <p:cNvSpPr>
            <a:spLocks noGrp="1"/>
          </p:cNvSpPr>
          <p:nvPr>
            <p:ph type="ftr" sz="quarter" idx="11"/>
          </p:nvPr>
        </p:nvSpPr>
        <p:spPr/>
        <p:txBody>
          <a:bodyPr/>
          <a:lstStyle/>
          <a:p>
            <a:r>
              <a:rPr lang="en-US" dirty="0"/>
              <a:t>Review No. 1     Batch No. CG12        Department of CSE</a:t>
            </a:r>
          </a:p>
        </p:txBody>
      </p:sp>
      <p:sp>
        <p:nvSpPr>
          <p:cNvPr id="6" name="Slide Number Placeholder 5">
            <a:extLst>
              <a:ext uri="{FF2B5EF4-FFF2-40B4-BE49-F238E27FC236}">
                <a16:creationId xmlns:a16="http://schemas.microsoft.com/office/drawing/2014/main" id="{B27CE1B5-CC50-90F6-4C90-3CDE01B06AF7}"/>
              </a:ext>
            </a:extLst>
          </p:cNvPr>
          <p:cNvSpPr>
            <a:spLocks noGrp="1"/>
          </p:cNvSpPr>
          <p:nvPr>
            <p:ph type="sldNum" sz="quarter" idx="12"/>
          </p:nvPr>
        </p:nvSpPr>
        <p:spPr/>
        <p:txBody>
          <a:bodyPr/>
          <a:lstStyle/>
          <a:p>
            <a:fld id="{FFEC67FC-8107-4C00-9415-4D1567E899B9}" type="slidenum">
              <a:rPr lang="en-US" smtClean="0"/>
              <a:t>18</a:t>
            </a:fld>
            <a:endParaRPr lang="en-US"/>
          </a:p>
        </p:txBody>
      </p:sp>
      <p:pic>
        <p:nvPicPr>
          <p:cNvPr id="7" name="Picture 6">
            <a:extLst>
              <a:ext uri="{FF2B5EF4-FFF2-40B4-BE49-F238E27FC236}">
                <a16:creationId xmlns:a16="http://schemas.microsoft.com/office/drawing/2014/main" id="{825FFF49-0435-D043-8A9B-78E4B606ED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945"/>
            <a:ext cx="4677428" cy="722072"/>
          </a:xfrm>
          <a:prstGeom prst="rect">
            <a:avLst/>
          </a:prstGeom>
        </p:spPr>
      </p:pic>
    </p:spTree>
    <p:extLst>
      <p:ext uri="{BB962C8B-B14F-4D97-AF65-F5344CB8AC3E}">
        <p14:creationId xmlns:p14="http://schemas.microsoft.com/office/powerpoint/2010/main" val="2576006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81FDB-AFCE-9542-94F4-D602CFAC22D6}"/>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                                 Results &amp; Analysis</a:t>
            </a:r>
            <a:endParaRPr lang="en-IN" sz="3200" dirty="0"/>
          </a:p>
        </p:txBody>
      </p:sp>
      <p:sp>
        <p:nvSpPr>
          <p:cNvPr id="9" name="Content Placeholder 8">
            <a:extLst>
              <a:ext uri="{FF2B5EF4-FFF2-40B4-BE49-F238E27FC236}">
                <a16:creationId xmlns:a16="http://schemas.microsoft.com/office/drawing/2014/main" id="{96E4E02B-8601-1C9D-9132-B7B6D83087E2}"/>
              </a:ext>
            </a:extLst>
          </p:cNvPr>
          <p:cNvSpPr>
            <a:spLocks noGrp="1"/>
          </p:cNvSpPr>
          <p:nvPr>
            <p:ph idx="1"/>
          </p:nvPr>
        </p:nvSpPr>
        <p:spPr/>
        <p:txBody>
          <a:bodyPr>
            <a:normAutofit fontScale="92500" lnSpcReduction="20000"/>
          </a:bodyPr>
          <a:lstStyle/>
          <a:p>
            <a:pPr marL="0" indent="0">
              <a:buNone/>
            </a:pPr>
            <a:endParaRPr lang="en-US" dirty="0"/>
          </a:p>
          <a:p>
            <a:pPr marL="0" indent="0">
              <a:buNone/>
            </a:pPr>
            <a:endParaRPr lang="en-US" dirty="0"/>
          </a:p>
          <a:p>
            <a:pPr marL="0" indent="0">
              <a:buNone/>
            </a:pPr>
            <a:endParaRPr lang="en-US" dirty="0"/>
          </a:p>
          <a:p>
            <a:pPr marL="0" indent="0">
              <a:buNone/>
            </a:pPr>
            <a:r>
              <a:rPr lang="en-US" dirty="0"/>
              <a:t>                                  </a:t>
            </a:r>
          </a:p>
          <a:p>
            <a:pPr marL="0" indent="0">
              <a:buNone/>
            </a:pPr>
            <a:r>
              <a:rPr lang="en-US" dirty="0"/>
              <a:t>                                        </a:t>
            </a:r>
            <a:r>
              <a:rPr lang="en-US" sz="2000" dirty="0"/>
              <a:t>Fig 2:Cleaned FloodProbability Time Series</a:t>
            </a:r>
          </a:p>
          <a:p>
            <a:pPr marL="0" indent="0">
              <a:buNone/>
            </a:pPr>
            <a:endParaRPr lang="en-US" sz="2000" b="1" dirty="0"/>
          </a:p>
          <a:p>
            <a:pPr marL="0" indent="0">
              <a:buNone/>
            </a:pPr>
            <a:endParaRPr lang="en-US" sz="2000" b="1" dirty="0"/>
          </a:p>
          <a:p>
            <a:pPr marL="0" indent="0">
              <a:buNone/>
            </a:pPr>
            <a:endParaRPr lang="en-US" sz="2000" b="1" dirty="0"/>
          </a:p>
          <a:p>
            <a:pPr marL="0" indent="0">
              <a:buNone/>
            </a:pPr>
            <a:endParaRPr lang="en-US" sz="2000" b="1" dirty="0"/>
          </a:p>
          <a:p>
            <a:pPr marL="0" indent="0">
              <a:buNone/>
            </a:pPr>
            <a:endParaRPr lang="en-US" sz="2000" b="1" dirty="0"/>
          </a:p>
          <a:p>
            <a:pPr marL="0" indent="0">
              <a:buNone/>
            </a:pPr>
            <a:r>
              <a:rPr lang="en-US" sz="2000" b="1" dirty="0"/>
              <a:t>                                          </a:t>
            </a:r>
          </a:p>
          <a:p>
            <a:pPr marL="0" indent="0">
              <a:buNone/>
            </a:pPr>
            <a:r>
              <a:rPr lang="en-US" sz="2000" dirty="0"/>
              <a:t>                                                              Fig 3: Hourly Aligned FloodProbability</a:t>
            </a:r>
            <a:endParaRPr lang="en-IN" sz="2000" dirty="0"/>
          </a:p>
        </p:txBody>
      </p:sp>
      <p:sp>
        <p:nvSpPr>
          <p:cNvPr id="3" name="Date Placeholder 2">
            <a:extLst>
              <a:ext uri="{FF2B5EF4-FFF2-40B4-BE49-F238E27FC236}">
                <a16:creationId xmlns:a16="http://schemas.microsoft.com/office/drawing/2014/main" id="{AFF22845-232C-9260-0091-E79BE4555D04}"/>
              </a:ext>
            </a:extLst>
          </p:cNvPr>
          <p:cNvSpPr>
            <a:spLocks noGrp="1"/>
          </p:cNvSpPr>
          <p:nvPr>
            <p:ph type="dt" sz="half" idx="10"/>
          </p:nvPr>
        </p:nvSpPr>
        <p:spPr/>
        <p:txBody>
          <a:bodyPr/>
          <a:lstStyle/>
          <a:p>
            <a:r>
              <a:rPr lang="en-US" dirty="0"/>
              <a:t>10/11/25</a:t>
            </a:r>
          </a:p>
        </p:txBody>
      </p:sp>
      <p:sp>
        <p:nvSpPr>
          <p:cNvPr id="4" name="Footer Placeholder 3">
            <a:extLst>
              <a:ext uri="{FF2B5EF4-FFF2-40B4-BE49-F238E27FC236}">
                <a16:creationId xmlns:a16="http://schemas.microsoft.com/office/drawing/2014/main" id="{0088181E-B96A-F0F8-432E-912BEBFB3BD7}"/>
              </a:ext>
            </a:extLst>
          </p:cNvPr>
          <p:cNvSpPr>
            <a:spLocks noGrp="1"/>
          </p:cNvSpPr>
          <p:nvPr>
            <p:ph type="ftr" sz="quarter" idx="11"/>
          </p:nvPr>
        </p:nvSpPr>
        <p:spPr/>
        <p:txBody>
          <a:bodyPr/>
          <a:lstStyle/>
          <a:p>
            <a:r>
              <a:rPr lang="en-US" dirty="0"/>
              <a:t>Review No. 1     Batch No. CG12        Department of CSE</a:t>
            </a:r>
          </a:p>
        </p:txBody>
      </p:sp>
      <p:sp>
        <p:nvSpPr>
          <p:cNvPr id="5" name="Slide Number Placeholder 4">
            <a:extLst>
              <a:ext uri="{FF2B5EF4-FFF2-40B4-BE49-F238E27FC236}">
                <a16:creationId xmlns:a16="http://schemas.microsoft.com/office/drawing/2014/main" id="{87B9EC8B-55AA-75C4-59C9-F1D82EF631B3}"/>
              </a:ext>
            </a:extLst>
          </p:cNvPr>
          <p:cNvSpPr>
            <a:spLocks noGrp="1"/>
          </p:cNvSpPr>
          <p:nvPr>
            <p:ph type="sldNum" sz="quarter" idx="12"/>
          </p:nvPr>
        </p:nvSpPr>
        <p:spPr/>
        <p:txBody>
          <a:bodyPr/>
          <a:lstStyle/>
          <a:p>
            <a:fld id="{FFEC67FC-8107-4C00-9415-4D1567E899B9}" type="slidenum">
              <a:rPr lang="en-US" smtClean="0"/>
              <a:t>19</a:t>
            </a:fld>
            <a:endParaRPr lang="en-US"/>
          </a:p>
        </p:txBody>
      </p:sp>
      <p:pic>
        <p:nvPicPr>
          <p:cNvPr id="6" name="Picture 5">
            <a:extLst>
              <a:ext uri="{FF2B5EF4-FFF2-40B4-BE49-F238E27FC236}">
                <a16:creationId xmlns:a16="http://schemas.microsoft.com/office/drawing/2014/main" id="{1C82355F-0F67-CD37-FF8A-366ADA965D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pic>
        <p:nvPicPr>
          <p:cNvPr id="7" name="Picture 2">
            <a:extLst>
              <a:ext uri="{FF2B5EF4-FFF2-40B4-BE49-F238E27FC236}">
                <a16:creationId xmlns:a16="http://schemas.microsoft.com/office/drawing/2014/main" id="{087431F5-DEF3-6AF7-7BE7-A375145711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305950"/>
            <a:ext cx="7092950" cy="20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a:extLst>
              <a:ext uri="{FF2B5EF4-FFF2-40B4-BE49-F238E27FC236}">
                <a16:creationId xmlns:a16="http://schemas.microsoft.com/office/drawing/2014/main" id="{F9993956-30DB-40F5-148E-A5426698AA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00467" y="3741456"/>
            <a:ext cx="6988175" cy="201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9396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85F4E-51ED-60B6-1D81-CC136BAEE2F8}"/>
              </a:ext>
            </a:extLst>
          </p:cNvPr>
          <p:cNvSpPr>
            <a:spLocks noGrp="1"/>
          </p:cNvSpPr>
          <p:nvPr>
            <p:ph type="title"/>
          </p:nvPr>
        </p:nvSpPr>
        <p:spPr>
          <a:xfrm>
            <a:off x="1676400" y="-51715"/>
            <a:ext cx="10515600" cy="1325563"/>
          </a:xfrm>
        </p:spPr>
        <p:txBody>
          <a:bodyPr/>
          <a:lstStyle/>
          <a:p>
            <a:r>
              <a:rPr lang="en-US" b="1" dirty="0">
                <a:latin typeface="Times New Roman" panose="02020603050405020304" pitchFamily="18" charset="0"/>
                <a:cs typeface="Times New Roman" panose="02020603050405020304" pitchFamily="18" charset="0"/>
              </a:rPr>
              <a:t>                      </a:t>
            </a:r>
            <a:r>
              <a:rPr lang="en-US" sz="3200" b="1" dirty="0">
                <a:latin typeface="Times New Roman" panose="02020603050405020304" pitchFamily="18" charset="0"/>
                <a:cs typeface="Times New Roman" panose="02020603050405020304" pitchFamily="18" charset="0"/>
              </a:rPr>
              <a:t>Results &amp; Analysis</a:t>
            </a:r>
            <a:endParaRPr lang="en-IN" sz="3200" dirty="0"/>
          </a:p>
        </p:txBody>
      </p:sp>
      <p:sp>
        <p:nvSpPr>
          <p:cNvPr id="8" name="Content Placeholder 7">
            <a:extLst>
              <a:ext uri="{FF2B5EF4-FFF2-40B4-BE49-F238E27FC236}">
                <a16:creationId xmlns:a16="http://schemas.microsoft.com/office/drawing/2014/main" id="{D71CC56A-588B-1145-AFAD-0523BB39FE60}"/>
              </a:ext>
            </a:extLst>
          </p:cNvPr>
          <p:cNvSpPr>
            <a:spLocks noGrp="1"/>
          </p:cNvSpPr>
          <p:nvPr>
            <p:ph idx="1"/>
          </p:nvPr>
        </p:nvSpPr>
        <p:spPr/>
        <p:txBody>
          <a:bodyPr>
            <a:normAutofit fontScale="92500" lnSpcReduction="20000"/>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                          </a:t>
            </a:r>
            <a:r>
              <a:rPr lang="en-US" sz="2200" dirty="0"/>
              <a:t>Fig 4:Feature Distribution for Before and After Min-Max Scaling</a:t>
            </a:r>
            <a:endParaRPr lang="en-IN" sz="2200" dirty="0"/>
          </a:p>
        </p:txBody>
      </p:sp>
      <p:sp>
        <p:nvSpPr>
          <p:cNvPr id="3" name="Date Placeholder 2">
            <a:extLst>
              <a:ext uri="{FF2B5EF4-FFF2-40B4-BE49-F238E27FC236}">
                <a16:creationId xmlns:a16="http://schemas.microsoft.com/office/drawing/2014/main" id="{5B122B7C-466D-FA20-D90C-0CC951B414C2}"/>
              </a:ext>
            </a:extLst>
          </p:cNvPr>
          <p:cNvSpPr>
            <a:spLocks noGrp="1"/>
          </p:cNvSpPr>
          <p:nvPr>
            <p:ph type="dt" sz="half" idx="10"/>
          </p:nvPr>
        </p:nvSpPr>
        <p:spPr/>
        <p:txBody>
          <a:bodyPr/>
          <a:lstStyle/>
          <a:p>
            <a:r>
              <a:rPr lang="en-US" dirty="0"/>
              <a:t>10/11/25</a:t>
            </a:r>
          </a:p>
        </p:txBody>
      </p:sp>
      <p:sp>
        <p:nvSpPr>
          <p:cNvPr id="4" name="Footer Placeholder 3">
            <a:extLst>
              <a:ext uri="{FF2B5EF4-FFF2-40B4-BE49-F238E27FC236}">
                <a16:creationId xmlns:a16="http://schemas.microsoft.com/office/drawing/2014/main" id="{AD93B263-7A77-3487-2CF5-8BD8F6C5E249}"/>
              </a:ext>
            </a:extLst>
          </p:cNvPr>
          <p:cNvSpPr>
            <a:spLocks noGrp="1"/>
          </p:cNvSpPr>
          <p:nvPr>
            <p:ph type="ftr" sz="quarter" idx="11"/>
          </p:nvPr>
        </p:nvSpPr>
        <p:spPr/>
        <p:txBody>
          <a:bodyPr/>
          <a:lstStyle/>
          <a:p>
            <a:r>
              <a:rPr lang="en-US" dirty="0"/>
              <a:t>Review No. 1     Batch No. CG12        Department of CSE</a:t>
            </a:r>
          </a:p>
        </p:txBody>
      </p:sp>
      <p:sp>
        <p:nvSpPr>
          <p:cNvPr id="5" name="Slide Number Placeholder 4">
            <a:extLst>
              <a:ext uri="{FF2B5EF4-FFF2-40B4-BE49-F238E27FC236}">
                <a16:creationId xmlns:a16="http://schemas.microsoft.com/office/drawing/2014/main" id="{81C6D0FB-19CE-A64A-4BBF-42BF5B46492D}"/>
              </a:ext>
            </a:extLst>
          </p:cNvPr>
          <p:cNvSpPr>
            <a:spLocks noGrp="1"/>
          </p:cNvSpPr>
          <p:nvPr>
            <p:ph type="sldNum" sz="quarter" idx="12"/>
          </p:nvPr>
        </p:nvSpPr>
        <p:spPr/>
        <p:txBody>
          <a:bodyPr/>
          <a:lstStyle/>
          <a:p>
            <a:fld id="{FFEC67FC-8107-4C00-9415-4D1567E899B9}" type="slidenum">
              <a:rPr lang="en-US" smtClean="0"/>
              <a:t>20</a:t>
            </a:fld>
            <a:endParaRPr lang="en-US"/>
          </a:p>
        </p:txBody>
      </p:sp>
      <p:pic>
        <p:nvPicPr>
          <p:cNvPr id="6" name="Picture 5">
            <a:extLst>
              <a:ext uri="{FF2B5EF4-FFF2-40B4-BE49-F238E27FC236}">
                <a16:creationId xmlns:a16="http://schemas.microsoft.com/office/drawing/2014/main" id="{7E47DD93-BA8F-9624-1B7C-4E77395F69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pic>
        <p:nvPicPr>
          <p:cNvPr id="7" name="Picture 2">
            <a:extLst>
              <a:ext uri="{FF2B5EF4-FFF2-40B4-BE49-F238E27FC236}">
                <a16:creationId xmlns:a16="http://schemas.microsoft.com/office/drawing/2014/main" id="{BA79E9BE-EB6C-0B0F-4F78-6F0DD93356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061884"/>
            <a:ext cx="7795206" cy="4257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1841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1D4C2-F3A9-4F2E-8341-27D052BDC128}"/>
              </a:ext>
            </a:extLst>
          </p:cNvPr>
          <p:cNvSpPr>
            <a:spLocks noGrp="1"/>
          </p:cNvSpPr>
          <p:nvPr>
            <p:ph type="title"/>
          </p:nvPr>
        </p:nvSpPr>
        <p:spPr>
          <a:xfrm>
            <a:off x="1676400" y="0"/>
            <a:ext cx="10515600" cy="1325563"/>
          </a:xfrm>
        </p:spPr>
        <p:txBody>
          <a:bodyPr>
            <a:normAutofit/>
          </a:bodyPr>
          <a:lstStyle/>
          <a:p>
            <a:r>
              <a:rPr lang="en-US" sz="3200" b="1" dirty="0">
                <a:latin typeface="Times New Roman" panose="02020603050405020304" pitchFamily="18" charset="0"/>
                <a:cs typeface="Times New Roman" panose="02020603050405020304" pitchFamily="18" charset="0"/>
              </a:rPr>
              <a:t>                              Results &amp; Analysis</a:t>
            </a:r>
            <a:endParaRPr lang="en-IN" sz="3200" dirty="0"/>
          </a:p>
        </p:txBody>
      </p:sp>
      <p:sp>
        <p:nvSpPr>
          <p:cNvPr id="9" name="Content Placeholder 8">
            <a:extLst>
              <a:ext uri="{FF2B5EF4-FFF2-40B4-BE49-F238E27FC236}">
                <a16:creationId xmlns:a16="http://schemas.microsoft.com/office/drawing/2014/main" id="{70DBD2EA-7329-88F1-1DD6-5496C33CCAF8}"/>
              </a:ext>
            </a:extLst>
          </p:cNvPr>
          <p:cNvSpPr>
            <a:spLocks noGrp="1"/>
          </p:cNvSpPr>
          <p:nvPr>
            <p:ph idx="1"/>
          </p:nvPr>
        </p:nvSpPr>
        <p:spPr>
          <a:xfrm>
            <a:off x="838200" y="1825625"/>
            <a:ext cx="10515600" cy="4683330"/>
          </a:xfrm>
        </p:spPr>
        <p:txBody>
          <a:bodyPr>
            <a:normAutofit fontScale="92500" lnSpcReduction="10000"/>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sz="2000" dirty="0"/>
          </a:p>
          <a:p>
            <a:pPr marL="0" indent="0">
              <a:buNone/>
            </a:pPr>
            <a:r>
              <a:rPr lang="en-US" sz="2000" dirty="0"/>
              <a:t>                                          Fig 5: Correlation Heatmaps for before and after outlier removal</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r>
              <a:rPr lang="en-US" sz="2000" dirty="0"/>
              <a:t>                                                                Fig 6: FloodProbability Over Time Label</a:t>
            </a:r>
            <a:endParaRPr lang="en-IN" sz="2000" dirty="0"/>
          </a:p>
        </p:txBody>
      </p:sp>
      <p:sp>
        <p:nvSpPr>
          <p:cNvPr id="3" name="Date Placeholder 2">
            <a:extLst>
              <a:ext uri="{FF2B5EF4-FFF2-40B4-BE49-F238E27FC236}">
                <a16:creationId xmlns:a16="http://schemas.microsoft.com/office/drawing/2014/main" id="{CB4BC3EC-6F6B-B008-D85B-9422D50B64CE}"/>
              </a:ext>
            </a:extLst>
          </p:cNvPr>
          <p:cNvSpPr>
            <a:spLocks noGrp="1"/>
          </p:cNvSpPr>
          <p:nvPr>
            <p:ph type="dt" sz="half" idx="10"/>
          </p:nvPr>
        </p:nvSpPr>
        <p:spPr/>
        <p:txBody>
          <a:bodyPr/>
          <a:lstStyle/>
          <a:p>
            <a:r>
              <a:rPr lang="en-US" dirty="0"/>
              <a:t>10/11/25</a:t>
            </a:r>
          </a:p>
        </p:txBody>
      </p:sp>
      <p:sp>
        <p:nvSpPr>
          <p:cNvPr id="4" name="Footer Placeholder 3">
            <a:extLst>
              <a:ext uri="{FF2B5EF4-FFF2-40B4-BE49-F238E27FC236}">
                <a16:creationId xmlns:a16="http://schemas.microsoft.com/office/drawing/2014/main" id="{05FFF615-276D-08FA-D939-A4C35A35C0E5}"/>
              </a:ext>
            </a:extLst>
          </p:cNvPr>
          <p:cNvSpPr>
            <a:spLocks noGrp="1"/>
          </p:cNvSpPr>
          <p:nvPr>
            <p:ph type="ftr" sz="quarter" idx="11"/>
          </p:nvPr>
        </p:nvSpPr>
        <p:spPr/>
        <p:txBody>
          <a:bodyPr/>
          <a:lstStyle/>
          <a:p>
            <a:r>
              <a:rPr lang="en-US" dirty="0"/>
              <a:t>Review No. 1     Batch No.    CG12     Department of CSE</a:t>
            </a:r>
          </a:p>
        </p:txBody>
      </p:sp>
      <p:sp>
        <p:nvSpPr>
          <p:cNvPr id="5" name="Slide Number Placeholder 4">
            <a:extLst>
              <a:ext uri="{FF2B5EF4-FFF2-40B4-BE49-F238E27FC236}">
                <a16:creationId xmlns:a16="http://schemas.microsoft.com/office/drawing/2014/main" id="{2E5EA2EB-2E5A-DD0F-0DAD-13B9DEE633CB}"/>
              </a:ext>
            </a:extLst>
          </p:cNvPr>
          <p:cNvSpPr>
            <a:spLocks noGrp="1"/>
          </p:cNvSpPr>
          <p:nvPr>
            <p:ph type="sldNum" sz="quarter" idx="12"/>
          </p:nvPr>
        </p:nvSpPr>
        <p:spPr/>
        <p:txBody>
          <a:bodyPr/>
          <a:lstStyle/>
          <a:p>
            <a:fld id="{FFEC67FC-8107-4C00-9415-4D1567E899B9}" type="slidenum">
              <a:rPr lang="en-US" smtClean="0"/>
              <a:t>21</a:t>
            </a:fld>
            <a:endParaRPr lang="en-US"/>
          </a:p>
        </p:txBody>
      </p:sp>
      <p:pic>
        <p:nvPicPr>
          <p:cNvPr id="6" name="Picture 5">
            <a:extLst>
              <a:ext uri="{FF2B5EF4-FFF2-40B4-BE49-F238E27FC236}">
                <a16:creationId xmlns:a16="http://schemas.microsoft.com/office/drawing/2014/main" id="{AB80895C-A038-CE2B-7FD1-4AAB68C44C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pic>
        <p:nvPicPr>
          <p:cNvPr id="7" name="Picture 2">
            <a:extLst>
              <a:ext uri="{FF2B5EF4-FFF2-40B4-BE49-F238E27FC236}">
                <a16:creationId xmlns:a16="http://schemas.microsoft.com/office/drawing/2014/main" id="{58FCD1B5-DD3A-C0C7-C269-98699985BD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6456" y="981869"/>
            <a:ext cx="7939087" cy="2901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a:extLst>
              <a:ext uri="{FF2B5EF4-FFF2-40B4-BE49-F238E27FC236}">
                <a16:creationId xmlns:a16="http://schemas.microsoft.com/office/drawing/2014/main" id="{C1E273A4-80EF-0120-B73F-41E61753C4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1668" y="4383804"/>
            <a:ext cx="6861175" cy="1495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1414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60F1B-4642-3862-FAE1-9A5364C0E0F4}"/>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                                Results &amp; Analysis</a:t>
            </a:r>
            <a:endParaRPr lang="en-IN" sz="3200" dirty="0"/>
          </a:p>
        </p:txBody>
      </p:sp>
      <p:sp>
        <p:nvSpPr>
          <p:cNvPr id="7" name="Content Placeholder 6">
            <a:extLst>
              <a:ext uri="{FF2B5EF4-FFF2-40B4-BE49-F238E27FC236}">
                <a16:creationId xmlns:a16="http://schemas.microsoft.com/office/drawing/2014/main" id="{15479648-D33E-C908-C45B-8163486C23F9}"/>
              </a:ext>
            </a:extLst>
          </p:cNvPr>
          <p:cNvSpPr>
            <a:spLocks noGrp="1"/>
          </p:cNvSpPr>
          <p:nvPr>
            <p:ph idx="1"/>
          </p:nvPr>
        </p:nvSpPr>
        <p:spPr/>
        <p:txBody>
          <a:bodyPr>
            <a:normAutofit/>
          </a:bodyPr>
          <a:lstStyle/>
          <a:p>
            <a:endParaRPr lang="en-IN" dirty="0"/>
          </a:p>
          <a:p>
            <a:endParaRPr lang="en-IN" dirty="0"/>
          </a:p>
          <a:p>
            <a:endParaRPr lang="en-IN" dirty="0"/>
          </a:p>
          <a:p>
            <a:endParaRPr lang="en-IN" dirty="0"/>
          </a:p>
          <a:p>
            <a:endParaRPr lang="en-IN" dirty="0"/>
          </a:p>
          <a:p>
            <a:pPr marL="0" indent="0">
              <a:buNone/>
            </a:pPr>
            <a:endParaRPr lang="en-IN" dirty="0"/>
          </a:p>
          <a:p>
            <a:pPr marL="0" indent="0">
              <a:buNone/>
            </a:pPr>
            <a:endParaRPr lang="en-IN" dirty="0"/>
          </a:p>
          <a:p>
            <a:pPr marL="0" indent="0">
              <a:buNone/>
            </a:pPr>
            <a:r>
              <a:rPr lang="en-IN" sz="2000" dirty="0"/>
              <a:t>               Fig 6: GRU-Confusion Matrix                             Fig 7: </a:t>
            </a:r>
            <a:r>
              <a:rPr lang="en-US" sz="2000" dirty="0"/>
              <a:t>GRU Model- Actual vs Predicted</a:t>
            </a:r>
            <a:endParaRPr lang="en-IN" sz="2000" dirty="0"/>
          </a:p>
        </p:txBody>
      </p:sp>
      <p:sp>
        <p:nvSpPr>
          <p:cNvPr id="3" name="Date Placeholder 2">
            <a:extLst>
              <a:ext uri="{FF2B5EF4-FFF2-40B4-BE49-F238E27FC236}">
                <a16:creationId xmlns:a16="http://schemas.microsoft.com/office/drawing/2014/main" id="{15A8CB2A-5575-4BA4-4550-E8F971BB5348}"/>
              </a:ext>
            </a:extLst>
          </p:cNvPr>
          <p:cNvSpPr>
            <a:spLocks noGrp="1"/>
          </p:cNvSpPr>
          <p:nvPr>
            <p:ph type="dt" sz="half" idx="10"/>
          </p:nvPr>
        </p:nvSpPr>
        <p:spPr/>
        <p:txBody>
          <a:bodyPr/>
          <a:lstStyle/>
          <a:p>
            <a:r>
              <a:rPr lang="en-US" dirty="0"/>
              <a:t>10/11/25</a:t>
            </a:r>
          </a:p>
        </p:txBody>
      </p:sp>
      <p:sp>
        <p:nvSpPr>
          <p:cNvPr id="4" name="Footer Placeholder 3">
            <a:extLst>
              <a:ext uri="{FF2B5EF4-FFF2-40B4-BE49-F238E27FC236}">
                <a16:creationId xmlns:a16="http://schemas.microsoft.com/office/drawing/2014/main" id="{692FFC5E-F79C-2562-8877-ACC8A93B7747}"/>
              </a:ext>
            </a:extLst>
          </p:cNvPr>
          <p:cNvSpPr>
            <a:spLocks noGrp="1"/>
          </p:cNvSpPr>
          <p:nvPr>
            <p:ph type="ftr" sz="quarter" idx="11"/>
          </p:nvPr>
        </p:nvSpPr>
        <p:spPr/>
        <p:txBody>
          <a:bodyPr/>
          <a:lstStyle/>
          <a:p>
            <a:r>
              <a:rPr lang="en-US" dirty="0"/>
              <a:t>Review No. 1     Batch No. CG12        Department of CSE</a:t>
            </a:r>
          </a:p>
        </p:txBody>
      </p:sp>
      <p:sp>
        <p:nvSpPr>
          <p:cNvPr id="5" name="Slide Number Placeholder 4">
            <a:extLst>
              <a:ext uri="{FF2B5EF4-FFF2-40B4-BE49-F238E27FC236}">
                <a16:creationId xmlns:a16="http://schemas.microsoft.com/office/drawing/2014/main" id="{062EDA2C-507A-BF40-58C6-9527828F6573}"/>
              </a:ext>
            </a:extLst>
          </p:cNvPr>
          <p:cNvSpPr>
            <a:spLocks noGrp="1"/>
          </p:cNvSpPr>
          <p:nvPr>
            <p:ph type="sldNum" sz="quarter" idx="12"/>
          </p:nvPr>
        </p:nvSpPr>
        <p:spPr/>
        <p:txBody>
          <a:bodyPr/>
          <a:lstStyle/>
          <a:p>
            <a:fld id="{FFEC67FC-8107-4C00-9415-4D1567E899B9}" type="slidenum">
              <a:rPr lang="en-US" smtClean="0"/>
              <a:t>22</a:t>
            </a:fld>
            <a:endParaRPr lang="en-US"/>
          </a:p>
        </p:txBody>
      </p:sp>
      <p:pic>
        <p:nvPicPr>
          <p:cNvPr id="6" name="Picture 5">
            <a:extLst>
              <a:ext uri="{FF2B5EF4-FFF2-40B4-BE49-F238E27FC236}">
                <a16:creationId xmlns:a16="http://schemas.microsoft.com/office/drawing/2014/main" id="{1089637D-2819-6F48-DED2-F0A785D578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pic>
        <p:nvPicPr>
          <p:cNvPr id="9" name="Picture 2">
            <a:extLst>
              <a:ext uri="{FF2B5EF4-FFF2-40B4-BE49-F238E27FC236}">
                <a16:creationId xmlns:a16="http://schemas.microsoft.com/office/drawing/2014/main" id="{1D741543-03A5-5C2A-DE1E-6BFABE47BA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2662" y="1843087"/>
            <a:ext cx="3709943"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a:extLst>
              <a:ext uri="{FF2B5EF4-FFF2-40B4-BE49-F238E27FC236}">
                <a16:creationId xmlns:a16="http://schemas.microsoft.com/office/drawing/2014/main" id="{80106F1B-9BFF-D7DE-5556-EED3A594BC3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5861" y="1789471"/>
            <a:ext cx="5081468" cy="2995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1091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3FE9E-5ABF-66A5-5E81-EC10F9B20F96}"/>
              </a:ext>
            </a:extLst>
          </p:cNvPr>
          <p:cNvSpPr>
            <a:spLocks noGrp="1"/>
          </p:cNvSpPr>
          <p:nvPr>
            <p:ph type="title"/>
          </p:nvPr>
        </p:nvSpPr>
        <p:spPr/>
        <p:txBody>
          <a:bodyPr>
            <a:normAutofit/>
          </a:bodyPr>
          <a:lstStyle/>
          <a:p>
            <a:r>
              <a:rPr lang="en-US" sz="3200" b="1" dirty="0">
                <a:latin typeface="Times New Roman" panose="02020603050405020304" pitchFamily="18" charset="0"/>
                <a:cs typeface="Times New Roman" panose="02020603050405020304" pitchFamily="18" charset="0"/>
              </a:rPr>
              <a:t>                               Results &amp; Analysis</a:t>
            </a:r>
            <a:endParaRPr lang="en-IN" sz="3200" dirty="0"/>
          </a:p>
        </p:txBody>
      </p:sp>
      <p:sp>
        <p:nvSpPr>
          <p:cNvPr id="8" name="Content Placeholder 7">
            <a:extLst>
              <a:ext uri="{FF2B5EF4-FFF2-40B4-BE49-F238E27FC236}">
                <a16:creationId xmlns:a16="http://schemas.microsoft.com/office/drawing/2014/main" id="{1DC445C2-0DD9-F716-D354-9CAAAFBB754E}"/>
              </a:ext>
            </a:extLst>
          </p:cNvPr>
          <p:cNvSpPr>
            <a:spLocks noGrp="1"/>
          </p:cNvSpPr>
          <p:nvPr>
            <p:ph idx="1"/>
          </p:nvPr>
        </p:nvSpPr>
        <p:spPr/>
        <p:txBody>
          <a:bodyPr/>
          <a:lstStyle/>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r>
              <a:rPr lang="en-IN" sz="2000" dirty="0"/>
              <a:t>                                                        Fig 8: Model Performance Comparison</a:t>
            </a:r>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sp>
        <p:nvSpPr>
          <p:cNvPr id="3" name="Date Placeholder 2">
            <a:extLst>
              <a:ext uri="{FF2B5EF4-FFF2-40B4-BE49-F238E27FC236}">
                <a16:creationId xmlns:a16="http://schemas.microsoft.com/office/drawing/2014/main" id="{CF36FE37-45BB-C43D-DF8E-476B31233E1C}"/>
              </a:ext>
            </a:extLst>
          </p:cNvPr>
          <p:cNvSpPr>
            <a:spLocks noGrp="1"/>
          </p:cNvSpPr>
          <p:nvPr>
            <p:ph type="dt" sz="half" idx="10"/>
          </p:nvPr>
        </p:nvSpPr>
        <p:spPr/>
        <p:txBody>
          <a:bodyPr/>
          <a:lstStyle/>
          <a:p>
            <a:r>
              <a:rPr lang="en-US" dirty="0"/>
              <a:t>10/11/25</a:t>
            </a:r>
          </a:p>
        </p:txBody>
      </p:sp>
      <p:sp>
        <p:nvSpPr>
          <p:cNvPr id="4" name="Footer Placeholder 3">
            <a:extLst>
              <a:ext uri="{FF2B5EF4-FFF2-40B4-BE49-F238E27FC236}">
                <a16:creationId xmlns:a16="http://schemas.microsoft.com/office/drawing/2014/main" id="{96023EEC-EEF6-9C0B-4719-C5A8668E3DC5}"/>
              </a:ext>
            </a:extLst>
          </p:cNvPr>
          <p:cNvSpPr>
            <a:spLocks noGrp="1"/>
          </p:cNvSpPr>
          <p:nvPr>
            <p:ph type="ftr" sz="quarter" idx="11"/>
          </p:nvPr>
        </p:nvSpPr>
        <p:spPr/>
        <p:txBody>
          <a:bodyPr/>
          <a:lstStyle/>
          <a:p>
            <a:r>
              <a:rPr lang="en-US" dirty="0"/>
              <a:t>Review No. 1     Batch No. CG12        Department of CSE</a:t>
            </a:r>
          </a:p>
        </p:txBody>
      </p:sp>
      <p:sp>
        <p:nvSpPr>
          <p:cNvPr id="5" name="Slide Number Placeholder 4">
            <a:extLst>
              <a:ext uri="{FF2B5EF4-FFF2-40B4-BE49-F238E27FC236}">
                <a16:creationId xmlns:a16="http://schemas.microsoft.com/office/drawing/2014/main" id="{34AF9423-0B39-034D-239D-DAECB5613EEE}"/>
              </a:ext>
            </a:extLst>
          </p:cNvPr>
          <p:cNvSpPr>
            <a:spLocks noGrp="1"/>
          </p:cNvSpPr>
          <p:nvPr>
            <p:ph type="sldNum" sz="quarter" idx="12"/>
          </p:nvPr>
        </p:nvSpPr>
        <p:spPr/>
        <p:txBody>
          <a:bodyPr/>
          <a:lstStyle/>
          <a:p>
            <a:fld id="{FFEC67FC-8107-4C00-9415-4D1567E899B9}" type="slidenum">
              <a:rPr lang="en-US" smtClean="0"/>
              <a:t>23</a:t>
            </a:fld>
            <a:endParaRPr lang="en-US"/>
          </a:p>
        </p:txBody>
      </p:sp>
      <p:pic>
        <p:nvPicPr>
          <p:cNvPr id="6" name="Picture 5">
            <a:extLst>
              <a:ext uri="{FF2B5EF4-FFF2-40B4-BE49-F238E27FC236}">
                <a16:creationId xmlns:a16="http://schemas.microsoft.com/office/drawing/2014/main" id="{E7AAE633-DCF5-C63A-ED28-B8C90309E7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pic>
        <p:nvPicPr>
          <p:cNvPr id="7" name="Picture 2">
            <a:extLst>
              <a:ext uri="{FF2B5EF4-FFF2-40B4-BE49-F238E27FC236}">
                <a16:creationId xmlns:a16="http://schemas.microsoft.com/office/drawing/2014/main" id="{FCC2C49E-DB31-3016-AC9E-21D7BBF3C3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0997" y="1425678"/>
            <a:ext cx="7890422" cy="3814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12949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22072"/>
            <a:ext cx="10515600" cy="925974"/>
          </a:xfrm>
        </p:spPr>
        <p:txBody>
          <a:bodyPr>
            <a:normAutofit/>
          </a:bodyPr>
          <a:lstStyle/>
          <a:p>
            <a:pPr algn="ctr"/>
            <a:r>
              <a:rPr lang="en-US" sz="2800" b="1">
                <a:latin typeface="Times New Roman" panose="02020603050405020304" pitchFamily="18" charset="0"/>
                <a:cs typeface="Times New Roman" panose="02020603050405020304" pitchFamily="18" charset="0"/>
              </a:rPr>
              <a:t>Conclusion &amp; Future Scope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sp>
        <p:nvSpPr>
          <p:cNvPr id="5" name="Content Placeholder 4"/>
          <p:cNvSpPr>
            <a:spLocks noGrp="1"/>
          </p:cNvSpPr>
          <p:nvPr>
            <p:ph idx="1"/>
          </p:nvPr>
        </p:nvSpPr>
        <p:spPr/>
        <p:txBody>
          <a:bodyPr>
            <a:normAutofit/>
          </a:bodyPr>
          <a:lstStyle/>
          <a:p>
            <a:pPr marL="0" indent="0">
              <a:spcBef>
                <a:spcPct val="0"/>
              </a:spcBef>
              <a:spcAft>
                <a:spcPct val="0"/>
              </a:spcAft>
              <a:buFontTx/>
              <a:buChar char="•"/>
              <a:defRPr/>
            </a:pPr>
            <a:endParaRPr lang="en-US" altLang="en-US" sz="1800" dirty="0">
              <a:latin typeface="Times New Roman" panose="02020603050405020304" pitchFamily="18" charset="0"/>
              <a:cs typeface="Times New Roman" panose="02020603050405020304" pitchFamily="18" charset="0"/>
            </a:endParaRPr>
          </a:p>
          <a:p>
            <a:pPr marL="0" indent="0">
              <a:spcBef>
                <a:spcPct val="0"/>
              </a:spcBef>
              <a:spcAft>
                <a:spcPct val="0"/>
              </a:spcAft>
              <a:buFontTx/>
              <a:buChar char="•"/>
              <a:defRPr/>
            </a:pPr>
            <a:r>
              <a:rPr lang="en-US" altLang="en-US" sz="1800" dirty="0">
                <a:latin typeface="Times New Roman" panose="02020603050405020304" pitchFamily="18" charset="0"/>
                <a:cs typeface="Times New Roman" panose="02020603050405020304" pitchFamily="18" charset="0"/>
              </a:rPr>
              <a:t>Developed a scalable, multi-regional flood prediction framework integrating heterogeneous datasets.</a:t>
            </a:r>
          </a:p>
          <a:p>
            <a:pPr marL="0" indent="0">
              <a:spcBef>
                <a:spcPct val="0"/>
              </a:spcBef>
              <a:spcAft>
                <a:spcPct val="0"/>
              </a:spcAft>
              <a:buFontTx/>
              <a:buChar char="•"/>
              <a:defRPr/>
            </a:pPr>
            <a:r>
              <a:rPr lang="en-US" altLang="en-US" sz="1800" dirty="0">
                <a:latin typeface="Times New Roman" panose="02020603050405020304" pitchFamily="18" charset="0"/>
                <a:cs typeface="Times New Roman" panose="02020603050405020304" pitchFamily="18" charset="0"/>
              </a:rPr>
              <a:t>Deep learning models outperform traditional ML approaches.</a:t>
            </a:r>
          </a:p>
          <a:p>
            <a:pPr marL="0" indent="0">
              <a:spcBef>
                <a:spcPct val="0"/>
              </a:spcBef>
              <a:spcAft>
                <a:spcPct val="0"/>
              </a:spcAft>
              <a:buFontTx/>
              <a:buChar char="•"/>
              <a:defRPr/>
            </a:pPr>
            <a:r>
              <a:rPr lang="en-US" altLang="en-US" sz="1800" dirty="0">
                <a:latin typeface="Times New Roman" panose="02020603050405020304" pitchFamily="18" charset="0"/>
                <a:cs typeface="Times New Roman" panose="02020603050405020304" pitchFamily="18" charset="0"/>
              </a:rPr>
              <a:t>GRU model provided the best balance of accuracy and computational efficiency.</a:t>
            </a:r>
          </a:p>
          <a:p>
            <a:pPr marL="0" indent="0">
              <a:spcBef>
                <a:spcPct val="0"/>
              </a:spcBef>
              <a:spcAft>
                <a:spcPct val="0"/>
              </a:spcAft>
              <a:buFontTx/>
              <a:buChar char="•"/>
              <a:defRPr/>
            </a:pPr>
            <a:r>
              <a:rPr lang="en-US" altLang="en-US" sz="1800" dirty="0">
                <a:latin typeface="Times New Roman" panose="02020603050405020304" pitchFamily="18" charset="0"/>
                <a:cs typeface="Times New Roman" panose="02020603050405020304" pitchFamily="18" charset="0"/>
              </a:rPr>
              <a:t>Offers a robust solution for operational flood forecasting, disaster risk reduction, and climate adaptation.</a:t>
            </a:r>
          </a:p>
          <a:p>
            <a:pPr marL="114300" indent="0">
              <a:buNone/>
              <a:defRPr/>
            </a:pPr>
            <a:r>
              <a:rPr lang="en-IN" sz="1800" b="1" dirty="0">
                <a:latin typeface="Times New Roman" panose="02020603050405020304" pitchFamily="18" charset="0"/>
                <a:cs typeface="Times New Roman" panose="02020603050405020304" pitchFamily="18" charset="0"/>
              </a:rPr>
              <a:t>Future Scope:</a:t>
            </a:r>
          </a:p>
          <a:p>
            <a:pPr>
              <a:defRPr/>
            </a:pPr>
            <a:r>
              <a:rPr lang="en-IN" sz="1800" dirty="0">
                <a:latin typeface="Times New Roman" panose="02020603050405020304" pitchFamily="18" charset="0"/>
                <a:cs typeface="Times New Roman" panose="02020603050405020304" pitchFamily="18" charset="0"/>
              </a:rPr>
              <a:t>Integrate real-time IoT and satellite data for live prediction.</a:t>
            </a:r>
          </a:p>
          <a:p>
            <a:pPr>
              <a:defRPr/>
            </a:pPr>
            <a:r>
              <a:rPr lang="en-IN" sz="1800" dirty="0">
                <a:latin typeface="Times New Roman" panose="02020603050405020304" pitchFamily="18" charset="0"/>
                <a:cs typeface="Times New Roman" panose="02020603050405020304" pitchFamily="18" charset="0"/>
              </a:rPr>
              <a:t>Explore Conv-GRU / Bi-GRU / Attention-based architectures.</a:t>
            </a:r>
          </a:p>
          <a:p>
            <a:pPr>
              <a:defRPr/>
            </a:pPr>
            <a:r>
              <a:rPr lang="en-IN" sz="1800" dirty="0">
                <a:latin typeface="Times New Roman" panose="02020603050405020304" pitchFamily="18" charset="0"/>
                <a:cs typeface="Times New Roman" panose="02020603050405020304" pitchFamily="18" charset="0"/>
              </a:rPr>
              <a:t>Conduct external validation using STURM-Flood and </a:t>
            </a:r>
            <a:r>
              <a:rPr lang="en-IN" sz="1800" dirty="0" err="1">
                <a:latin typeface="Times New Roman" panose="02020603050405020304" pitchFamily="18" charset="0"/>
                <a:cs typeface="Times New Roman" panose="02020603050405020304" pitchFamily="18" charset="0"/>
              </a:rPr>
              <a:t>FloodNet</a:t>
            </a:r>
            <a:r>
              <a:rPr lang="en-IN" sz="1800" dirty="0">
                <a:latin typeface="Times New Roman" panose="02020603050405020304" pitchFamily="18" charset="0"/>
                <a:cs typeface="Times New Roman" panose="02020603050405020304" pitchFamily="18" charset="0"/>
              </a:rPr>
              <a:t> datasets.</a:t>
            </a:r>
          </a:p>
        </p:txBody>
      </p:sp>
      <p:sp>
        <p:nvSpPr>
          <p:cNvPr id="3" name="Date Placeholder 2"/>
          <p:cNvSpPr>
            <a:spLocks noGrp="1"/>
          </p:cNvSpPr>
          <p:nvPr>
            <p:ph type="dt" sz="half" idx="10"/>
          </p:nvPr>
        </p:nvSpPr>
        <p:spPr/>
        <p:txBody>
          <a:bodyPr/>
          <a:lstStyle/>
          <a:p>
            <a:r>
              <a:rPr lang="en-US" dirty="0"/>
              <a:t>10/11/25</a:t>
            </a:r>
          </a:p>
        </p:txBody>
      </p:sp>
      <p:sp>
        <p:nvSpPr>
          <p:cNvPr id="6" name="Footer Placeholder 5"/>
          <p:cNvSpPr>
            <a:spLocks noGrp="1"/>
          </p:cNvSpPr>
          <p:nvPr>
            <p:ph type="ftr" sz="quarter" idx="11"/>
          </p:nvPr>
        </p:nvSpPr>
        <p:spPr/>
        <p:txBody>
          <a:bodyPr/>
          <a:lstStyle/>
          <a:p>
            <a:r>
              <a:rPr lang="en-US" dirty="0"/>
              <a:t>Review No. 1     Batch No. CG12        Department of CSE</a:t>
            </a:r>
          </a:p>
        </p:txBody>
      </p:sp>
      <p:sp>
        <p:nvSpPr>
          <p:cNvPr id="7" name="Slide Number Placeholder 6"/>
          <p:cNvSpPr>
            <a:spLocks noGrp="1"/>
          </p:cNvSpPr>
          <p:nvPr>
            <p:ph type="sldNum" sz="quarter" idx="12"/>
          </p:nvPr>
        </p:nvSpPr>
        <p:spPr/>
        <p:txBody>
          <a:bodyPr/>
          <a:lstStyle/>
          <a:p>
            <a:fld id="{FFEC67FC-8107-4C00-9415-4D1567E899B9}" type="slidenum">
              <a:rPr lang="en-US" smtClean="0"/>
              <a:t>24</a:t>
            </a:fld>
            <a:endParaRPr lang="en-US"/>
          </a:p>
        </p:txBody>
      </p:sp>
    </p:spTree>
    <p:extLst>
      <p:ext uri="{BB962C8B-B14F-4D97-AF65-F5344CB8AC3E}">
        <p14:creationId xmlns:p14="http://schemas.microsoft.com/office/powerpoint/2010/main" val="38557201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22072"/>
            <a:ext cx="10515600" cy="925974"/>
          </a:xfrm>
        </p:spPr>
        <p:txBody>
          <a:bodyPr>
            <a:normAutofit/>
          </a:bodyPr>
          <a:lstStyle/>
          <a:p>
            <a:pPr algn="ctr"/>
            <a:r>
              <a:rPr lang="en-US" sz="2800" b="1">
                <a:latin typeface="Times New Roman" panose="02020603050405020304" pitchFamily="18" charset="0"/>
                <a:cs typeface="Times New Roman" panose="02020603050405020304" pitchFamily="18" charset="0"/>
              </a:rPr>
              <a:t>References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sp>
        <p:nvSpPr>
          <p:cNvPr id="5" name="Content Placeholder 4"/>
          <p:cNvSpPr>
            <a:spLocks noGrp="1"/>
          </p:cNvSpPr>
          <p:nvPr>
            <p:ph idx="1"/>
          </p:nvPr>
        </p:nvSpPr>
        <p:spPr>
          <a:xfrm>
            <a:off x="920620" y="1550296"/>
            <a:ext cx="10433180" cy="4564770"/>
          </a:xfrm>
        </p:spPr>
        <p:txBody>
          <a:bodyPr>
            <a:noAutofit/>
          </a:bodyPr>
          <a:lstStyle/>
          <a:p>
            <a:r>
              <a:rPr lang="en-US" sz="1600">
                <a:latin typeface="Times New Roman" panose="02020603050405020304" pitchFamily="18" charset="0"/>
                <a:cs typeface="Times New Roman" panose="02020603050405020304" pitchFamily="18" charset="0"/>
              </a:rPr>
              <a:t>Jia, W., Liang, B., Lu, Y., Khan, M. A., &amp; Zheng, L. (2025). A</a:t>
            </a:r>
            <a:endParaRPr lang="en-IN" sz="1600">
              <a:latin typeface="Times New Roman" panose="02020603050405020304" pitchFamily="18" charset="0"/>
              <a:cs typeface="Times New Roman" panose="02020603050405020304" pitchFamily="18" charset="0"/>
            </a:endParaRPr>
          </a:p>
          <a:p>
            <a:r>
              <a:rPr lang="en-US" sz="1600">
                <a:latin typeface="Times New Roman" panose="02020603050405020304" pitchFamily="18" charset="0"/>
                <a:cs typeface="Times New Roman" panose="02020603050405020304" pitchFamily="18" charset="0"/>
              </a:rPr>
              <a:t>Comprehensive Survey on Deep Learning Solutions for 3D Flood Mapping. In Pacific-Asia Conference on Knowledge Discovery and Data Mining (pp. 21-38). Springer, Singapore.</a:t>
            </a:r>
            <a:endParaRPr lang="en-IN" sz="1600">
              <a:latin typeface="Times New Roman" panose="02020603050405020304" pitchFamily="18" charset="0"/>
              <a:cs typeface="Times New Roman" panose="02020603050405020304" pitchFamily="18" charset="0"/>
            </a:endParaRPr>
          </a:p>
          <a:p>
            <a:r>
              <a:rPr lang="en-US" sz="1600">
                <a:latin typeface="Times New Roman" panose="02020603050405020304" pitchFamily="18" charset="0"/>
                <a:cs typeface="Times New Roman" panose="02020603050405020304" pitchFamily="18" charset="0"/>
              </a:rPr>
              <a:t>Atashi, V., &amp; Gorji, H. T. (2025). Enhanced flood prediction using LSTM and climate parameters: multi-station analysis of snowmelt- induced flooding in the Red River of the North. Journal of </a:t>
            </a:r>
            <a:r>
              <a:rPr lang="en-US" sz="1600" err="1">
                <a:latin typeface="Times New Roman" panose="02020603050405020304" pitchFamily="18" charset="0"/>
                <a:cs typeface="Times New Roman" panose="02020603050405020304" pitchFamily="18" charset="0"/>
              </a:rPr>
              <a:t>Hydroin</a:t>
            </a:r>
            <a:r>
              <a:rPr lang="en-US" sz="1600">
                <a:latin typeface="Times New Roman" panose="02020603050405020304" pitchFamily="18" charset="0"/>
                <a:cs typeface="Times New Roman" panose="02020603050405020304" pitchFamily="18" charset="0"/>
              </a:rPr>
              <a:t>- </a:t>
            </a:r>
            <a:r>
              <a:rPr lang="en-US" sz="1600" err="1">
                <a:latin typeface="Times New Roman" panose="02020603050405020304" pitchFamily="18" charset="0"/>
                <a:cs typeface="Times New Roman" panose="02020603050405020304" pitchFamily="18" charset="0"/>
              </a:rPr>
              <a:t>formatics</a:t>
            </a:r>
            <a:r>
              <a:rPr lang="en-US" sz="1600">
                <a:latin typeface="Times New Roman" panose="02020603050405020304" pitchFamily="18" charset="0"/>
                <a:cs typeface="Times New Roman" panose="02020603050405020304" pitchFamily="18" charset="0"/>
              </a:rPr>
              <a:t>, 27(2), 245-260.</a:t>
            </a:r>
            <a:endParaRPr lang="en-IN" sz="1600">
              <a:latin typeface="Times New Roman" panose="02020603050405020304" pitchFamily="18" charset="0"/>
              <a:cs typeface="Times New Roman" panose="02020603050405020304" pitchFamily="18" charset="0"/>
            </a:endParaRPr>
          </a:p>
          <a:p>
            <a:r>
              <a:rPr lang="en-US" sz="1600">
                <a:latin typeface="Times New Roman" panose="02020603050405020304" pitchFamily="18" charset="0"/>
                <a:cs typeface="Times New Roman" panose="02020603050405020304" pitchFamily="18" charset="0"/>
              </a:rPr>
              <a:t>Yang, P., Xu, X., Shao, M., &amp; Liu, Y. (2025). Intelligent Prediction of Flood Disaster Risk Levels Based on Knowledge Graph and Graph Neural Networks. IEEE Access.</a:t>
            </a:r>
            <a:endParaRPr lang="en-IN" sz="1600">
              <a:latin typeface="Times New Roman" panose="02020603050405020304" pitchFamily="18" charset="0"/>
              <a:cs typeface="Times New Roman" panose="02020603050405020304" pitchFamily="18" charset="0"/>
            </a:endParaRPr>
          </a:p>
          <a:p>
            <a:r>
              <a:rPr lang="en-US" sz="1600" err="1">
                <a:latin typeface="Times New Roman" panose="02020603050405020304" pitchFamily="18" charset="0"/>
                <a:cs typeface="Times New Roman" panose="02020603050405020304" pitchFamily="18" charset="0"/>
              </a:rPr>
              <a:t>Prihatmanto</a:t>
            </a:r>
            <a:r>
              <a:rPr lang="en-US" sz="1600">
                <a:latin typeface="Times New Roman" panose="02020603050405020304" pitchFamily="18" charset="0"/>
                <a:cs typeface="Times New Roman" panose="02020603050405020304" pitchFamily="18" charset="0"/>
              </a:rPr>
              <a:t>, A. S., </a:t>
            </a:r>
            <a:r>
              <a:rPr lang="en-US" sz="1600" err="1">
                <a:latin typeface="Times New Roman" panose="02020603050405020304" pitchFamily="18" charset="0"/>
                <a:cs typeface="Times New Roman" panose="02020603050405020304" pitchFamily="18" charset="0"/>
              </a:rPr>
              <a:t>Prasetyadi</a:t>
            </a:r>
            <a:r>
              <a:rPr lang="en-US" sz="1600">
                <a:latin typeface="Times New Roman" panose="02020603050405020304" pitchFamily="18" charset="0"/>
                <a:cs typeface="Times New Roman" panose="02020603050405020304" pitchFamily="18" charset="0"/>
              </a:rPr>
              <a:t>, A., </a:t>
            </a:r>
            <a:r>
              <a:rPr lang="en-US" sz="1600" err="1">
                <a:latin typeface="Times New Roman" panose="02020603050405020304" pitchFamily="18" charset="0"/>
                <a:cs typeface="Times New Roman" panose="02020603050405020304" pitchFamily="18" charset="0"/>
              </a:rPr>
              <a:t>Yoganingrum</a:t>
            </a:r>
            <a:r>
              <a:rPr lang="en-US" sz="1600">
                <a:latin typeface="Times New Roman" panose="02020603050405020304" pitchFamily="18" charset="0"/>
                <a:cs typeface="Times New Roman" panose="02020603050405020304" pitchFamily="18" charset="0"/>
              </a:rPr>
              <a:t>, A., </a:t>
            </a:r>
            <a:r>
              <a:rPr lang="en-US" sz="1600" err="1">
                <a:latin typeface="Times New Roman" panose="02020603050405020304" pitchFamily="18" charset="0"/>
                <a:cs typeface="Times New Roman" panose="02020603050405020304" pitchFamily="18" charset="0"/>
              </a:rPr>
              <a:t>Sutriadi</a:t>
            </a:r>
            <a:r>
              <a:rPr lang="en-US" sz="1600">
                <a:latin typeface="Times New Roman" panose="02020603050405020304" pitchFamily="18" charset="0"/>
                <a:cs typeface="Times New Roman" panose="02020603050405020304" pitchFamily="18" charset="0"/>
              </a:rPr>
              <a:t>, R., &amp; </a:t>
            </a:r>
            <a:r>
              <a:rPr lang="en-US" sz="1600" err="1">
                <a:latin typeface="Times New Roman" panose="02020603050405020304" pitchFamily="18" charset="0"/>
                <a:cs typeface="Times New Roman" panose="02020603050405020304" pitchFamily="18" charset="0"/>
              </a:rPr>
              <a:t>Hadiana</a:t>
            </a:r>
            <a:r>
              <a:rPr lang="en-US" sz="1600">
                <a:latin typeface="Times New Roman" panose="02020603050405020304" pitchFamily="18" charset="0"/>
                <a:cs typeface="Times New Roman" panose="02020603050405020304" pitchFamily="18" charset="0"/>
              </a:rPr>
              <a:t>, A. (2025). The Digital Twin City in Enhancing Flood Evacuation Systems: Future Opportunities and Challenges. IEEE Access.</a:t>
            </a:r>
            <a:endParaRPr lang="en-IN" sz="1600">
              <a:latin typeface="Times New Roman" panose="02020603050405020304" pitchFamily="18" charset="0"/>
              <a:cs typeface="Times New Roman" panose="02020603050405020304" pitchFamily="18" charset="0"/>
            </a:endParaRPr>
          </a:p>
          <a:p>
            <a:r>
              <a:rPr lang="en-US" sz="1600">
                <a:latin typeface="Times New Roman" panose="02020603050405020304" pitchFamily="18" charset="0"/>
                <a:cs typeface="Times New Roman" panose="02020603050405020304" pitchFamily="18" charset="0"/>
              </a:rPr>
              <a:t>Lim, S. J., Sankaran, K. S., &amp; </a:t>
            </a:r>
            <a:r>
              <a:rPr lang="en-US" sz="1600" err="1">
                <a:latin typeface="Times New Roman" panose="02020603050405020304" pitchFamily="18" charset="0"/>
                <a:cs typeface="Times New Roman" panose="02020603050405020304" pitchFamily="18" charset="0"/>
              </a:rPr>
              <a:t>Haldorai</a:t>
            </a:r>
            <a:r>
              <a:rPr lang="en-US" sz="1600">
                <a:latin typeface="Times New Roman" panose="02020603050405020304" pitchFamily="18" charset="0"/>
                <a:cs typeface="Times New Roman" panose="02020603050405020304" pitchFamily="18" charset="0"/>
              </a:rPr>
              <a:t>, A. (2025). A Framework for Flood Disaster Detection from Remote Sensing Images Using Spatiotemporal Fusion with Digital Twin Technology. IEEE Journal of Selected Topics in Applied Earth Observations and Remote Sensing, 18, 11547-11560.</a:t>
            </a:r>
            <a:endParaRPr lang="en-IN" sz="1600">
              <a:latin typeface="Times New Roman" panose="02020603050405020304" pitchFamily="18" charset="0"/>
              <a:cs typeface="Times New Roman" panose="02020603050405020304" pitchFamily="18" charset="0"/>
            </a:endParaRPr>
          </a:p>
          <a:p>
            <a:r>
              <a:rPr lang="en-US" sz="1600">
                <a:latin typeface="Times New Roman" panose="02020603050405020304" pitchFamily="18" charset="0"/>
                <a:cs typeface="Times New Roman" panose="02020603050405020304" pitchFamily="18" charset="0"/>
              </a:rPr>
              <a:t>Saleem, M. A., Javeed, A., </a:t>
            </a:r>
            <a:r>
              <a:rPr lang="en-US" sz="1600" err="1">
                <a:latin typeface="Times New Roman" panose="02020603050405020304" pitchFamily="18" charset="0"/>
                <a:cs typeface="Times New Roman" panose="02020603050405020304" pitchFamily="18" charset="0"/>
              </a:rPr>
              <a:t>Benjapolakul</a:t>
            </a:r>
            <a:r>
              <a:rPr lang="en-US" sz="1600">
                <a:latin typeface="Times New Roman" panose="02020603050405020304" pitchFamily="18" charset="0"/>
                <a:cs typeface="Times New Roman" panose="02020603050405020304" pitchFamily="18" charset="0"/>
              </a:rPr>
              <a:t>, W., Srisiri, W., </a:t>
            </a:r>
            <a:r>
              <a:rPr lang="en-US" sz="1600" err="1">
                <a:latin typeface="Times New Roman" panose="02020603050405020304" pitchFamily="18" charset="0"/>
                <a:cs typeface="Times New Roman" panose="02020603050405020304" pitchFamily="18" charset="0"/>
              </a:rPr>
              <a:t>Chaitusaney</a:t>
            </a:r>
            <a:r>
              <a:rPr lang="en-US" sz="1600">
                <a:latin typeface="Times New Roman" panose="02020603050405020304" pitchFamily="18" charset="0"/>
                <a:cs typeface="Times New Roman" panose="02020603050405020304" pitchFamily="18" charset="0"/>
              </a:rPr>
              <a:t>, S., &amp; </a:t>
            </a:r>
            <a:r>
              <a:rPr lang="en-US" sz="1600" err="1">
                <a:latin typeface="Times New Roman" panose="02020603050405020304" pitchFamily="18" charset="0"/>
                <a:cs typeface="Times New Roman" panose="02020603050405020304" pitchFamily="18" charset="0"/>
              </a:rPr>
              <a:t>Kaewplung</a:t>
            </a:r>
            <a:r>
              <a:rPr lang="en-US" sz="1600">
                <a:latin typeface="Times New Roman" panose="02020603050405020304" pitchFamily="18" charset="0"/>
                <a:cs typeface="Times New Roman" panose="02020603050405020304" pitchFamily="18" charset="0"/>
              </a:rPr>
              <a:t>, P. (2025). Neural-</a:t>
            </a:r>
            <a:r>
              <a:rPr lang="en-US" sz="1600" err="1">
                <a:latin typeface="Times New Roman" panose="02020603050405020304" pitchFamily="18" charset="0"/>
                <a:cs typeface="Times New Roman" panose="02020603050405020304" pitchFamily="18" charset="0"/>
              </a:rPr>
              <a:t>XGBoost</a:t>
            </a:r>
            <a:r>
              <a:rPr lang="en-US" sz="1600">
                <a:latin typeface="Times New Roman" panose="02020603050405020304" pitchFamily="18" charset="0"/>
                <a:cs typeface="Times New Roman" panose="02020603050405020304" pitchFamily="18" charset="0"/>
              </a:rPr>
              <a:t>: A Hybrid Approach for Disaster Prediction and Management Using Machine Learning. IEEE Access.</a:t>
            </a:r>
            <a:endParaRPr lang="en-IN" sz="1600">
              <a:latin typeface="Times New Roman" panose="02020603050405020304" pitchFamily="18" charset="0"/>
              <a:cs typeface="Times New Roman" panose="02020603050405020304" pitchFamily="18" charset="0"/>
            </a:endParaRPr>
          </a:p>
          <a:p>
            <a:r>
              <a:rPr lang="en-US" sz="1600">
                <a:latin typeface="Times New Roman" panose="02020603050405020304" pitchFamily="18" charset="0"/>
                <a:cs typeface="Times New Roman" panose="02020603050405020304" pitchFamily="18" charset="0"/>
              </a:rPr>
              <a:t>Wang, S., &amp; Xu, O. (2025). High perplexity mountain flood level forecasting in small watersheds based on compound Long Short-Term Memory model and multimodal short disaster-causing factors. IEEE Access.</a:t>
            </a:r>
            <a:endParaRPr lang="en-IN" sz="1600">
              <a:latin typeface="Times New Roman" panose="02020603050405020304" pitchFamily="18" charset="0"/>
              <a:cs typeface="Times New Roman" panose="02020603050405020304" pitchFamily="18" charset="0"/>
            </a:endParaRPr>
          </a:p>
          <a:p>
            <a:pPr marL="342900" lvl="0" indent="-342900" fontAlgn="base">
              <a:buFont typeface="+mj-lt"/>
              <a:buAutoNum type="arabicPeriod"/>
            </a:pPr>
            <a:endParaRPr lang="en-US" sz="1400"/>
          </a:p>
        </p:txBody>
      </p:sp>
      <p:sp>
        <p:nvSpPr>
          <p:cNvPr id="3" name="Date Placeholder 2"/>
          <p:cNvSpPr>
            <a:spLocks noGrp="1"/>
          </p:cNvSpPr>
          <p:nvPr>
            <p:ph type="dt" sz="half" idx="10"/>
          </p:nvPr>
        </p:nvSpPr>
        <p:spPr/>
        <p:txBody>
          <a:bodyPr/>
          <a:lstStyle/>
          <a:p>
            <a:r>
              <a:rPr lang="en-US" dirty="0"/>
              <a:t>10/11/25</a:t>
            </a:r>
          </a:p>
        </p:txBody>
      </p:sp>
      <p:sp>
        <p:nvSpPr>
          <p:cNvPr id="6" name="Footer Placeholder 5"/>
          <p:cNvSpPr>
            <a:spLocks noGrp="1"/>
          </p:cNvSpPr>
          <p:nvPr>
            <p:ph type="ftr" sz="quarter" idx="11"/>
          </p:nvPr>
        </p:nvSpPr>
        <p:spPr/>
        <p:txBody>
          <a:bodyPr/>
          <a:lstStyle/>
          <a:p>
            <a:r>
              <a:rPr lang="en-US" dirty="0"/>
              <a:t>Review No. 1     Batch No.  CG12       Department of CSE</a:t>
            </a:r>
          </a:p>
        </p:txBody>
      </p:sp>
      <p:sp>
        <p:nvSpPr>
          <p:cNvPr id="7" name="Slide Number Placeholder 6"/>
          <p:cNvSpPr>
            <a:spLocks noGrp="1"/>
          </p:cNvSpPr>
          <p:nvPr>
            <p:ph type="sldNum" sz="quarter" idx="12"/>
          </p:nvPr>
        </p:nvSpPr>
        <p:spPr/>
        <p:txBody>
          <a:bodyPr/>
          <a:lstStyle/>
          <a:p>
            <a:fld id="{FFEC67FC-8107-4C00-9415-4D1567E899B9}" type="slidenum">
              <a:rPr lang="en-US" smtClean="0"/>
              <a:t>25</a:t>
            </a:fld>
            <a:endParaRPr lang="en-US"/>
          </a:p>
        </p:txBody>
      </p:sp>
    </p:spTree>
    <p:extLst>
      <p:ext uri="{BB962C8B-B14F-4D97-AF65-F5344CB8AC3E}">
        <p14:creationId xmlns:p14="http://schemas.microsoft.com/office/powerpoint/2010/main" val="15878266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22072"/>
            <a:ext cx="10515600" cy="925974"/>
          </a:xfrm>
        </p:spPr>
        <p:txBody>
          <a:bodyPr>
            <a:normAutofit/>
          </a:bodyPr>
          <a:lstStyle/>
          <a:p>
            <a:pPr algn="ctr"/>
            <a:r>
              <a:rPr lang="en-US" sz="2800" b="1">
                <a:latin typeface="Times New Roman" panose="02020603050405020304" pitchFamily="18" charset="0"/>
                <a:cs typeface="Times New Roman" panose="02020603050405020304" pitchFamily="18" charset="0"/>
              </a:rPr>
              <a:t>References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sp>
        <p:nvSpPr>
          <p:cNvPr id="5" name="Content Placeholder 4"/>
          <p:cNvSpPr>
            <a:spLocks noGrp="1"/>
          </p:cNvSpPr>
          <p:nvPr>
            <p:ph idx="1"/>
          </p:nvPr>
        </p:nvSpPr>
        <p:spPr>
          <a:xfrm>
            <a:off x="838200" y="1444144"/>
            <a:ext cx="10515600" cy="4351338"/>
          </a:xfrm>
        </p:spPr>
        <p:txBody>
          <a:bodyPr>
            <a:noAutofit/>
          </a:bodyPr>
          <a:lstStyle/>
          <a:p>
            <a:r>
              <a:rPr lang="en-US" sz="1400">
                <a:latin typeface="Times New Roman" panose="02020603050405020304" pitchFamily="18" charset="0"/>
                <a:cs typeface="Times New Roman" panose="02020603050405020304" pitchFamily="18" charset="0"/>
              </a:rPr>
              <a:t>Noh, G. H., &amp; Ahn, K. H. (2025). Enhancing multiple precipitation data integration across a large-scale area: a deep learning </a:t>
            </a:r>
            <a:r>
              <a:rPr lang="en-US" sz="1400" err="1">
                <a:latin typeface="Times New Roman" panose="02020603050405020304" pitchFamily="18" charset="0"/>
                <a:cs typeface="Times New Roman" panose="02020603050405020304" pitchFamily="18" charset="0"/>
              </a:rPr>
              <a:t>ResU</a:t>
            </a:r>
            <a:r>
              <a:rPr lang="en-US" sz="1400">
                <a:latin typeface="Times New Roman" panose="02020603050405020304" pitchFamily="18" charset="0"/>
                <a:cs typeface="Times New Roman" panose="02020603050405020304" pitchFamily="18" charset="0"/>
              </a:rPr>
              <a:t>-Net framework without interpolation. IEEE Transactions on Geoscience and Remote Sensing. </a:t>
            </a:r>
          </a:p>
          <a:p>
            <a:r>
              <a:rPr lang="en-US" sz="1400">
                <a:latin typeface="Times New Roman" panose="02020603050405020304" pitchFamily="18" charset="0"/>
                <a:cs typeface="Times New Roman" panose="02020603050405020304" pitchFamily="18" charset="0"/>
              </a:rPr>
              <a:t>Notarangelo, N., </a:t>
            </a:r>
            <a:r>
              <a:rPr lang="en-US" sz="1400" err="1">
                <a:latin typeface="Times New Roman" panose="02020603050405020304" pitchFamily="18" charset="0"/>
                <a:cs typeface="Times New Roman" panose="02020603050405020304" pitchFamily="18" charset="0"/>
              </a:rPr>
              <a:t>Wirion</a:t>
            </a:r>
            <a:r>
              <a:rPr lang="en-US" sz="1400">
                <a:latin typeface="Times New Roman" panose="02020603050405020304" pitchFamily="18" charset="0"/>
                <a:cs typeface="Times New Roman" panose="02020603050405020304" pitchFamily="18" charset="0"/>
              </a:rPr>
              <a:t>, C., &amp; van </a:t>
            </a:r>
            <a:r>
              <a:rPr lang="en-US" sz="1400" err="1">
                <a:latin typeface="Times New Roman" panose="02020603050405020304" pitchFamily="18" charset="0"/>
                <a:cs typeface="Times New Roman" panose="02020603050405020304" pitchFamily="18" charset="0"/>
              </a:rPr>
              <a:t>Winsen</a:t>
            </a:r>
            <a:r>
              <a:rPr lang="en-US" sz="1400">
                <a:latin typeface="Times New Roman" panose="02020603050405020304" pitchFamily="18" charset="0"/>
                <a:cs typeface="Times New Roman" panose="02020603050405020304" pitchFamily="18" charset="0"/>
              </a:rPr>
              <a:t>, F. (2025). STURM- Flood: a curated dataset for deep learning-based flood extent mapping leveraging Sentinel-1 and Sentinel-2 imagery. Big Earth Data, 1-27.</a:t>
            </a:r>
            <a:endParaRPr lang="en-IN" sz="1400">
              <a:latin typeface="Times New Roman" panose="02020603050405020304" pitchFamily="18" charset="0"/>
              <a:cs typeface="Times New Roman" panose="02020603050405020304" pitchFamily="18" charset="0"/>
            </a:endParaRPr>
          </a:p>
          <a:p>
            <a:r>
              <a:rPr lang="en-US" sz="1400">
                <a:latin typeface="Times New Roman" panose="02020603050405020304" pitchFamily="18" charset="0"/>
                <a:cs typeface="Times New Roman" panose="02020603050405020304" pitchFamily="18" charset="0"/>
              </a:rPr>
              <a:t>Alkaabi, K., Sarfraz, U., &amp; Al </a:t>
            </a:r>
            <a:r>
              <a:rPr lang="en-US" sz="1400" err="1">
                <a:latin typeface="Times New Roman" panose="02020603050405020304" pitchFamily="18" charset="0"/>
                <a:cs typeface="Times New Roman" panose="02020603050405020304" pitchFamily="18" charset="0"/>
              </a:rPr>
              <a:t>Darmaki</a:t>
            </a:r>
            <a:r>
              <a:rPr lang="en-US" sz="1400">
                <a:latin typeface="Times New Roman" panose="02020603050405020304" pitchFamily="18" charset="0"/>
                <a:cs typeface="Times New Roman" panose="02020603050405020304" pitchFamily="18" charset="0"/>
              </a:rPr>
              <a:t>, S. (2025). A Deep Learning Framework for Flash-Flood-Runoff Prediction: Integrating CNN-RNN with Neural Ordinary Differential Equations (ODEs). Water, 17(9), 1283.</a:t>
            </a:r>
            <a:endParaRPr lang="en-IN" sz="1400">
              <a:latin typeface="Times New Roman" panose="02020603050405020304" pitchFamily="18" charset="0"/>
              <a:cs typeface="Times New Roman" panose="02020603050405020304" pitchFamily="18" charset="0"/>
            </a:endParaRPr>
          </a:p>
          <a:p>
            <a:r>
              <a:rPr lang="en-US" sz="1400">
                <a:latin typeface="Times New Roman" panose="02020603050405020304" pitchFamily="18" charset="0"/>
                <a:cs typeface="Times New Roman" panose="02020603050405020304" pitchFamily="18" charset="0"/>
              </a:rPr>
              <a:t>Farooq, M. S., </a:t>
            </a:r>
            <a:r>
              <a:rPr lang="en-US" sz="1400" err="1">
                <a:latin typeface="Times New Roman" panose="02020603050405020304" pitchFamily="18" charset="0"/>
                <a:cs typeface="Times New Roman" panose="02020603050405020304" pitchFamily="18" charset="0"/>
              </a:rPr>
              <a:t>Tehseen</a:t>
            </a:r>
            <a:r>
              <a:rPr lang="en-US" sz="1400">
                <a:latin typeface="Times New Roman" panose="02020603050405020304" pitchFamily="18" charset="0"/>
                <a:cs typeface="Times New Roman" panose="02020603050405020304" pitchFamily="18" charset="0"/>
              </a:rPr>
              <a:t>, R., Qureshi, J. N., Omer, U., Yaqoob, R., Tanweer, H. A., &amp; Atal, Z. (2023). FFM: Flood forecasting model using federated learning. IEEE Access, 11, 24472-24483.</a:t>
            </a:r>
            <a:endParaRPr lang="en-IN" sz="1400">
              <a:latin typeface="Times New Roman" panose="02020603050405020304" pitchFamily="18" charset="0"/>
              <a:cs typeface="Times New Roman" panose="02020603050405020304" pitchFamily="18" charset="0"/>
            </a:endParaRPr>
          </a:p>
          <a:p>
            <a:r>
              <a:rPr lang="en-US" sz="1400" err="1">
                <a:latin typeface="Times New Roman" panose="02020603050405020304" pitchFamily="18" charset="0"/>
                <a:cs typeface="Times New Roman" panose="02020603050405020304" pitchFamily="18" charset="0"/>
              </a:rPr>
              <a:t>Puttinaovarat</a:t>
            </a:r>
            <a:r>
              <a:rPr lang="en-US" sz="1400">
                <a:latin typeface="Times New Roman" panose="02020603050405020304" pitchFamily="18" charset="0"/>
                <a:cs typeface="Times New Roman" panose="02020603050405020304" pitchFamily="18" charset="0"/>
              </a:rPr>
              <a:t>, S., &amp; </a:t>
            </a:r>
            <a:r>
              <a:rPr lang="en-US" sz="1400" err="1">
                <a:latin typeface="Times New Roman" panose="02020603050405020304" pitchFamily="18" charset="0"/>
                <a:cs typeface="Times New Roman" panose="02020603050405020304" pitchFamily="18" charset="0"/>
              </a:rPr>
              <a:t>Horkaew</a:t>
            </a:r>
            <a:r>
              <a:rPr lang="en-US" sz="1400">
                <a:latin typeface="Times New Roman" panose="02020603050405020304" pitchFamily="18" charset="0"/>
                <a:cs typeface="Times New Roman" panose="02020603050405020304" pitchFamily="18" charset="0"/>
              </a:rPr>
              <a:t>, P. (2020). Flood forecasting system based on integrated big and crowdsource data by using machine learning techniques. IEEE Access, 8, 5885-5905.</a:t>
            </a:r>
            <a:endParaRPr lang="en-IN" sz="1400">
              <a:latin typeface="Times New Roman" panose="02020603050405020304" pitchFamily="18" charset="0"/>
              <a:cs typeface="Times New Roman" panose="02020603050405020304" pitchFamily="18" charset="0"/>
            </a:endParaRPr>
          </a:p>
          <a:p>
            <a:r>
              <a:rPr lang="en-US" sz="1400">
                <a:latin typeface="Times New Roman" panose="02020603050405020304" pitchFamily="18" charset="0"/>
                <a:cs typeface="Times New Roman" panose="02020603050405020304" pitchFamily="18" charset="0"/>
              </a:rPr>
              <a:t>Wu, Z., Zhou, Y., &amp; Wang, H. (2020). Real-time prediction of the water accumulation process of urban stormy accumulation points based on deep learning. IEEE access, 8, 151938-151951.</a:t>
            </a:r>
            <a:endParaRPr lang="en-IN" sz="1400">
              <a:latin typeface="Times New Roman" panose="02020603050405020304" pitchFamily="18" charset="0"/>
              <a:cs typeface="Times New Roman" panose="02020603050405020304" pitchFamily="18" charset="0"/>
            </a:endParaRPr>
          </a:p>
          <a:p>
            <a:r>
              <a:rPr lang="en-US" sz="1400">
                <a:latin typeface="Times New Roman" panose="02020603050405020304" pitchFamily="18" charset="0"/>
                <a:cs typeface="Times New Roman" panose="02020603050405020304" pitchFamily="18" charset="0"/>
              </a:rPr>
              <a:t>Liu, Y., Wang, L., Du, S., Zhao, L., &amp; Liu, X. (2022). Flood forecasting method based on improved VMD-FOS-QR-RBL. IEEE Access, 11, 4207-4218.</a:t>
            </a:r>
          </a:p>
          <a:p>
            <a:pPr lvl="0"/>
            <a:r>
              <a:rPr lang="en-US" sz="1400">
                <a:latin typeface="Times New Roman" panose="02020603050405020304" pitchFamily="18" charset="0"/>
                <a:cs typeface="Times New Roman" panose="02020603050405020304" pitchFamily="18" charset="0"/>
              </a:rPr>
              <a:t>Khan, T. A., Alam, M. M., Shahid, Z., &amp; </a:t>
            </a:r>
            <a:r>
              <a:rPr lang="en-US" sz="1400" err="1">
                <a:latin typeface="Times New Roman" panose="02020603050405020304" pitchFamily="18" charset="0"/>
                <a:cs typeface="Times New Roman" panose="02020603050405020304" pitchFamily="18" charset="0"/>
              </a:rPr>
              <a:t>Su’Ud</a:t>
            </a:r>
            <a:r>
              <a:rPr lang="en-US" sz="1400">
                <a:latin typeface="Times New Roman" panose="02020603050405020304" pitchFamily="18" charset="0"/>
                <a:cs typeface="Times New Roman" panose="02020603050405020304" pitchFamily="18" charset="0"/>
              </a:rPr>
              <a:t>, M. M. (2020).</a:t>
            </a:r>
            <a:endParaRPr lang="en-IN" sz="1400">
              <a:latin typeface="Times New Roman" panose="02020603050405020304" pitchFamily="18" charset="0"/>
              <a:cs typeface="Times New Roman" panose="02020603050405020304" pitchFamily="18" charset="0"/>
            </a:endParaRPr>
          </a:p>
          <a:p>
            <a:r>
              <a:rPr lang="en-US" sz="1400">
                <a:latin typeface="Times New Roman" panose="02020603050405020304" pitchFamily="18" charset="0"/>
                <a:cs typeface="Times New Roman" panose="02020603050405020304" pitchFamily="18" charset="0"/>
              </a:rPr>
              <a:t>Investigation of flash floods on early basis: A factual comprehensive review. IEEE Access, 8, 19364-19380.</a:t>
            </a:r>
            <a:endParaRPr lang="en-IN" sz="1400">
              <a:latin typeface="Times New Roman" panose="02020603050405020304" pitchFamily="18" charset="0"/>
              <a:cs typeface="Times New Roman" panose="02020603050405020304" pitchFamily="18" charset="0"/>
            </a:endParaRPr>
          </a:p>
          <a:p>
            <a:endParaRPr lang="en-IN" sz="1400">
              <a:latin typeface="Times New Roman" panose="02020603050405020304" pitchFamily="18" charset="0"/>
              <a:cs typeface="Times New Roman" panose="02020603050405020304" pitchFamily="18" charset="0"/>
            </a:endParaRPr>
          </a:p>
        </p:txBody>
      </p:sp>
      <p:sp>
        <p:nvSpPr>
          <p:cNvPr id="3" name="Date Placeholder 2"/>
          <p:cNvSpPr>
            <a:spLocks noGrp="1"/>
          </p:cNvSpPr>
          <p:nvPr>
            <p:ph type="dt" sz="half" idx="10"/>
          </p:nvPr>
        </p:nvSpPr>
        <p:spPr/>
        <p:txBody>
          <a:bodyPr/>
          <a:lstStyle/>
          <a:p>
            <a:r>
              <a:rPr lang="en-US" dirty="0"/>
              <a:t>10/11/25</a:t>
            </a:r>
          </a:p>
        </p:txBody>
      </p:sp>
      <p:sp>
        <p:nvSpPr>
          <p:cNvPr id="6" name="Footer Placeholder 5"/>
          <p:cNvSpPr>
            <a:spLocks noGrp="1"/>
          </p:cNvSpPr>
          <p:nvPr>
            <p:ph type="ftr" sz="quarter" idx="11"/>
          </p:nvPr>
        </p:nvSpPr>
        <p:spPr/>
        <p:txBody>
          <a:bodyPr/>
          <a:lstStyle/>
          <a:p>
            <a:r>
              <a:rPr lang="en-US" dirty="0"/>
              <a:t>Review No. 1     Batch No.   CG12      Department of CSE</a:t>
            </a:r>
          </a:p>
        </p:txBody>
      </p:sp>
      <p:sp>
        <p:nvSpPr>
          <p:cNvPr id="7" name="Slide Number Placeholder 6"/>
          <p:cNvSpPr>
            <a:spLocks noGrp="1"/>
          </p:cNvSpPr>
          <p:nvPr>
            <p:ph type="sldNum" sz="quarter" idx="12"/>
          </p:nvPr>
        </p:nvSpPr>
        <p:spPr/>
        <p:txBody>
          <a:bodyPr/>
          <a:lstStyle/>
          <a:p>
            <a:fld id="{FFEC67FC-8107-4C00-9415-4D1567E899B9}" type="slidenum">
              <a:rPr lang="en-US" smtClean="0"/>
              <a:t>26</a:t>
            </a:fld>
            <a:endParaRPr lang="en-US"/>
          </a:p>
        </p:txBody>
      </p:sp>
    </p:spTree>
    <p:extLst>
      <p:ext uri="{BB962C8B-B14F-4D97-AF65-F5344CB8AC3E}">
        <p14:creationId xmlns:p14="http://schemas.microsoft.com/office/powerpoint/2010/main" val="21037132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22072"/>
            <a:ext cx="10515600" cy="925974"/>
          </a:xfrm>
        </p:spPr>
        <p:txBody>
          <a:bodyPr>
            <a:normAutofit/>
          </a:bodyPr>
          <a:lstStyle/>
          <a:p>
            <a:pPr algn="ctr"/>
            <a:r>
              <a:rPr lang="en-US" sz="2800" b="1">
                <a:latin typeface="Times New Roman" panose="02020603050405020304" pitchFamily="18" charset="0"/>
                <a:cs typeface="Times New Roman" panose="02020603050405020304" pitchFamily="18" charset="0"/>
              </a:rPr>
              <a:t>Questions and Answers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sp>
        <p:nvSpPr>
          <p:cNvPr id="3" name="Rectangle 1"/>
          <p:cNvSpPr>
            <a:spLocks noGrp="1" noChangeArrowheads="1"/>
          </p:cNvSpPr>
          <p:nvPr>
            <p:ph idx="1"/>
          </p:nvPr>
        </p:nvSpPr>
        <p:spPr bwMode="auto">
          <a:xfrm>
            <a:off x="838200" y="3158629"/>
            <a:ext cx="609955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Thank you for your attention!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We’d now like to open the floor for any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questions or feedback</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r>
              <a:rPr lang="en-US" dirty="0"/>
              <a:t>10/11/25</a:t>
            </a:r>
          </a:p>
        </p:txBody>
      </p:sp>
      <p:sp>
        <p:nvSpPr>
          <p:cNvPr id="7" name="Footer Placeholder 6"/>
          <p:cNvSpPr>
            <a:spLocks noGrp="1"/>
          </p:cNvSpPr>
          <p:nvPr>
            <p:ph type="ftr" sz="quarter" idx="11"/>
          </p:nvPr>
        </p:nvSpPr>
        <p:spPr/>
        <p:txBody>
          <a:bodyPr/>
          <a:lstStyle/>
          <a:p>
            <a:r>
              <a:rPr lang="en-US" dirty="0"/>
              <a:t>Review No. 1     Batch No.  CG12       Department of CSE</a:t>
            </a:r>
          </a:p>
        </p:txBody>
      </p:sp>
      <p:sp>
        <p:nvSpPr>
          <p:cNvPr id="8" name="Slide Number Placeholder 7"/>
          <p:cNvSpPr>
            <a:spLocks noGrp="1"/>
          </p:cNvSpPr>
          <p:nvPr>
            <p:ph type="sldNum" sz="quarter" idx="12"/>
          </p:nvPr>
        </p:nvSpPr>
        <p:spPr/>
        <p:txBody>
          <a:bodyPr/>
          <a:lstStyle/>
          <a:p>
            <a:fld id="{FFEC67FC-8107-4C00-9415-4D1567E899B9}" type="slidenum">
              <a:rPr lang="en-US" smtClean="0"/>
              <a:t>27</a:t>
            </a:fld>
            <a:endParaRPr lang="en-US"/>
          </a:p>
        </p:txBody>
      </p:sp>
    </p:spTree>
    <p:extLst>
      <p:ext uri="{BB962C8B-B14F-4D97-AF65-F5344CB8AC3E}">
        <p14:creationId xmlns:p14="http://schemas.microsoft.com/office/powerpoint/2010/main" val="38558438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22072"/>
            <a:ext cx="10515600" cy="925974"/>
          </a:xfrm>
        </p:spPr>
        <p:txBody>
          <a:bodyPr>
            <a:normAutofit/>
          </a:bodyPr>
          <a:lstStyle/>
          <a:p>
            <a:pPr algn="ctr"/>
            <a:r>
              <a:rPr lang="en-US" sz="2800" b="1">
                <a:latin typeface="Times New Roman" panose="02020603050405020304" pitchFamily="18" charset="0"/>
                <a:cs typeface="Times New Roman" panose="02020603050405020304" pitchFamily="18" charset="0"/>
              </a:rPr>
              <a:t>Acknowledgements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677428" cy="722072"/>
          </a:xfrm>
          <a:prstGeom prst="rect">
            <a:avLst/>
          </a:prstGeom>
        </p:spPr>
      </p:pic>
      <p:sp>
        <p:nvSpPr>
          <p:cNvPr id="3" name="Rectangle 1"/>
          <p:cNvSpPr>
            <a:spLocks noGrp="1" noChangeArrowheads="1"/>
          </p:cNvSpPr>
          <p:nvPr>
            <p:ph idx="1"/>
          </p:nvPr>
        </p:nvSpPr>
        <p:spPr bwMode="auto">
          <a:xfrm>
            <a:off x="669947" y="2906704"/>
            <a:ext cx="987364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sz="1800" dirty="0"/>
              <a:t>🙏 </a:t>
            </a:r>
            <a:r>
              <a:rPr lang="en-US" sz="1800" b="1" dirty="0"/>
              <a:t>Thank You for the Opportunity!</a:t>
            </a:r>
            <a:br>
              <a:rPr lang="en-US" sz="1800" dirty="0"/>
            </a:br>
            <a:r>
              <a:rPr lang="en-US" sz="1800" dirty="0"/>
              <a:t>We sincerely express our gratitude to our </a:t>
            </a:r>
            <a:r>
              <a:rPr lang="en-US" sz="1800" b="1" dirty="0"/>
              <a:t>faculty, mentors, and organizers</a:t>
            </a:r>
            <a:r>
              <a:rPr lang="en-US" sz="1800" dirty="0"/>
              <a:t> for their continuous support and guidance throughout this project.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r>
              <a:rPr lang="en-US" dirty="0"/>
              <a:t>10/11/25</a:t>
            </a:r>
          </a:p>
        </p:txBody>
      </p:sp>
      <p:sp>
        <p:nvSpPr>
          <p:cNvPr id="6" name="Footer Placeholder 5"/>
          <p:cNvSpPr>
            <a:spLocks noGrp="1"/>
          </p:cNvSpPr>
          <p:nvPr>
            <p:ph type="ftr" sz="quarter" idx="11"/>
          </p:nvPr>
        </p:nvSpPr>
        <p:spPr/>
        <p:txBody>
          <a:bodyPr/>
          <a:lstStyle/>
          <a:p>
            <a:r>
              <a:rPr lang="en-US" dirty="0"/>
              <a:t>Review No. 1     Batch No. CG12        Department of CSE</a:t>
            </a:r>
          </a:p>
        </p:txBody>
      </p:sp>
      <p:sp>
        <p:nvSpPr>
          <p:cNvPr id="7" name="Slide Number Placeholder 6"/>
          <p:cNvSpPr>
            <a:spLocks noGrp="1"/>
          </p:cNvSpPr>
          <p:nvPr>
            <p:ph type="sldNum" sz="quarter" idx="12"/>
          </p:nvPr>
        </p:nvSpPr>
        <p:spPr/>
        <p:txBody>
          <a:bodyPr/>
          <a:lstStyle/>
          <a:p>
            <a:fld id="{FFEC67FC-8107-4C00-9415-4D1567E899B9}" type="slidenum">
              <a:rPr lang="en-US" smtClean="0"/>
              <a:t>28</a:t>
            </a:fld>
            <a:endParaRPr lang="en-US"/>
          </a:p>
        </p:txBody>
      </p:sp>
    </p:spTree>
    <p:extLst>
      <p:ext uri="{BB962C8B-B14F-4D97-AF65-F5344CB8AC3E}">
        <p14:creationId xmlns:p14="http://schemas.microsoft.com/office/powerpoint/2010/main" val="32577998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458</TotalTime>
  <Words>3018</Words>
  <Application>Microsoft Office PowerPoint</Application>
  <PresentationFormat>Widescreen</PresentationFormat>
  <Paragraphs>427</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Calibri Light</vt:lpstr>
      <vt:lpstr>Cambria Math</vt:lpstr>
      <vt:lpstr>Times New Roman</vt:lpstr>
      <vt:lpstr>Office Theme</vt:lpstr>
      <vt:lpstr>Department of Computer Science Engineering</vt:lpstr>
      <vt:lpstr>OUTLINE</vt:lpstr>
      <vt:lpstr>Abstract</vt:lpstr>
      <vt:lpstr>Introduction</vt:lpstr>
      <vt:lpstr>Literature Survey</vt:lpstr>
      <vt:lpstr>                                                    Literature Survey</vt:lpstr>
      <vt:lpstr>                                                       Literature Survey</vt:lpstr>
      <vt:lpstr>Research Gaps</vt:lpstr>
      <vt:lpstr>Problem Statements</vt:lpstr>
      <vt:lpstr>Objectives</vt:lpstr>
      <vt:lpstr>                                                              Flow Chart </vt:lpstr>
      <vt:lpstr>                                                    Table 1:Dataset Description</vt:lpstr>
      <vt:lpstr>Methodology</vt:lpstr>
      <vt:lpstr>Implementation</vt:lpstr>
      <vt:lpstr>System Requirements</vt:lpstr>
      <vt:lpstr>                             Performance Metrics</vt:lpstr>
      <vt:lpstr>Results &amp; Analysis</vt:lpstr>
      <vt:lpstr>                                      Results &amp; Analysis</vt:lpstr>
      <vt:lpstr>                                 Results &amp; Analysis</vt:lpstr>
      <vt:lpstr>                      Results &amp; Analysis</vt:lpstr>
      <vt:lpstr>                              Results &amp; Analysis</vt:lpstr>
      <vt:lpstr>                                Results &amp; Analysis</vt:lpstr>
      <vt:lpstr>                               Results &amp; Analysis</vt:lpstr>
      <vt:lpstr>Conclusion &amp; Future Scope</vt:lpstr>
      <vt:lpstr>References</vt:lpstr>
      <vt:lpstr>References</vt:lpstr>
      <vt:lpstr>Questions and Answers</vt:lpstr>
      <vt:lpstr>Acknowledgements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MyLaptop HP</dc:creator>
  <cp:lastModifiedBy>NAVYA AMIREDDY</cp:lastModifiedBy>
  <cp:revision>17</cp:revision>
  <dcterms:created xsi:type="dcterms:W3CDTF">2025-11-08T07:07:45Z</dcterms:created>
  <dcterms:modified xsi:type="dcterms:W3CDTF">2025-12-05T08:47:21Z</dcterms:modified>
</cp:coreProperties>
</file>